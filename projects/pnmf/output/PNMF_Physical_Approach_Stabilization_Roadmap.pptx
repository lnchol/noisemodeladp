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Scope and wording: projects/pnmf/README.md; projects/pnmf/docs/PROJECT_UNDERSTANDING.md.</a:t>
            </a:r>
          </a:p>
          <a:p>
            <a:r>
              <a:t>No external assets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Priority framing: projects/pnmf/docs/PHYSICAL_MODEL_IMPROVEMENT_RESEARCH.md.</a:t>
            </a:r>
          </a:p>
          <a:p>
            <a:r>
              <a:t>Research boundary: no physics behavior or calibration change is proposed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Implementation: projects/pnmf/pnmf/physics.py; projects/pnmf/pnmf/api.py.</a:t>
            </a:r>
          </a:p>
          <a:p>
            <a:r>
              <a:t>Architecture: projects/pnmf/docs/NPD_SYSTEM_DESIGN.md, sections 6.3-6.5.</a:t>
            </a:r>
          </a:p>
          <a:p>
            <a:r>
              <a:t>The arrows are an editable schematic of the documented source-to-receiver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Formulas and event definition: projects/pnmf/docs/NPD_SYSTEM_DESIGN.md, sections 6.3-6.5.</a:t>
            </a:r>
          </a:p>
          <a:p>
            <a:r>
              <a:t>Implementation: projects/pnmf/pnmf/physics.py.</a:t>
            </a:r>
          </a:p>
          <a:p>
            <a:r>
              <a:t>Scope: SEL/LAmax only; EPNL/PNLTM tone corrections are not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Limitations: projects/pnmf/docs/NPD_SYSTEM_DESIGN.md, sections 6.3-6.6; projects/pnmf/docs/PHYSICS_PRESETS.md.</a:t>
            </a:r>
          </a:p>
          <a:p>
            <a:r>
              <a:t>Validation boundary: projects/pnmf/docs/PROJECT_UNDERSTANDING.md; projects/pnmf/pnmf/validation.py.</a:t>
            </a:r>
          </a:p>
          <a:p>
            <a:r>
              <a:t>Uncertainty wording is intentionally non-certification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Policy language: projects/pnmf/docs/NPD_SYSTEM_DESIGN.md, section 6.6.</a:t>
            </a:r>
          </a:p>
          <a:p>
            <a:r>
              <a:t>Runtime behavior: projects/pnmf/pnmf/api.py, NoisePredictor._calibrated_physics().</a:t>
            </a:r>
          </a:p>
          <a:p>
            <a:r>
              <a:t>CLI calibration path: projects/pnmf/pnmf_cli.py, cmd_physics().</a:t>
            </a:r>
          </a:p>
          <a:p>
            <a:r>
              <a:t>This slide describes the implementation gap to be stabilized; it does not change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Included and excluded effects: projects/pnmf/pnmf/physics.py EventDiagnostics; projects/pnmf/docs/NPD_SYSTEM_DESIGN.md, sections 6.5-6.6.</a:t>
            </a:r>
          </a:p>
          <a:p>
            <a:r>
              <a:t>Future mechanism priorities: projects/pnmf/docs/PHYSICAL_MODEL_IMPROVEMENT_RESEARCH.md.</a:t>
            </a:r>
          </a:p>
          <a:p>
            <a:r>
              <a:t>Supersonic NASA/SERDP09 material is outside this subsonic stabilization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Calibration contract: projects/pnmf/docs/NPD_SYSTEM_DESIGN.md, section 6.6.</a:t>
            </a:r>
          </a:p>
          <a:p>
            <a:r>
              <a:t>Runtime gap: projects/pnmf/pnmf/api.py and projects/pnmf/pnmf_cli.py.</a:t>
            </a:r>
          </a:p>
          <a:p>
            <a:r>
              <a:t>This is a proposed stabilization deliverable, not a claim that the artifact already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Input provenance contracts: projects/pnmf/pnmf/physics.py (PhysicalInput, InputStatus, EnginePhysicalInputs, AirframePhysicalInputs, AtmosphericPhysicalInputs, FlightTrajectoryInputs).</a:t>
            </a:r>
          </a:p>
          <a:p>
            <a:r>
              <a:t>Preset assumptions: projects/pnmf/docs/PHYSICS_PRESETS.md.</a:t>
            </a:r>
          </a:p>
          <a:p>
            <a:r>
              <a:t>The matrix is a proposed reporting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Validation ladder and uncertainty rationale: projects/pnmf/docs/PHYSICAL_MODEL_IMPROVEMENT_RESEARCH.md.</a:t>
            </a:r>
          </a:p>
          <a:p>
            <a:r>
              <a:t>Current tests: projects/pnmf/tests/test_physics.py.</a:t>
            </a:r>
          </a:p>
          <a:p>
            <a:r>
              <a:t>Current uncertainty boundary: projects/pnmf/pnmf/validation.py and projects/pnmf/docs/PROJECT_UNDERSTANDING.md.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Closing boundary: projects/pnmf/docs/PHYSICAL_MODEL_IMPROVEMENT_RESEARCH.md; projects/pnmf/docs/NPD_SYSTEM_DESIGN.md.</a:t>
            </a:r>
          </a:p>
          <a:p>
            <a:r>
              <a:t>No new numerical result or certification claim is made.</a:t>
            </a:r>
          </a:p>
          <a:p>
            <a:r>
              <a:t>Future priorities are evidence-gated and separate from the two-month stabilization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-blue-bar">
            <a:extLst>
              <a:ext uri="{FF2B5EF4-FFF2-40B4-BE49-F238E27FC236}">
                <a16:creationId xmlns:a16="http://schemas.microsoft.com/office/drawing/2014/main" id="{F2A086F5-5B4D-4FB5-9D7C-4C5B44654879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4300" cy="560070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cover-kicker">
            <a:extLst>
              <a:ext uri="{FF2B5EF4-FFF2-40B4-BE49-F238E27FC236}">
                <a16:creationId xmlns:a16="http://schemas.microsoft.com/office/drawing/2014/main" id="{F835999A-6FC6-4F5F-AA70-814572307D9F}"/>
              </a:ext>
            </a:extLst>
          </p:cNvPr>
          <p:cNvSpPr>
            <a:spLocks noGrp="1"/>
          </p:cNvSpPr>
          <p:nvPr/>
        </p:nvSpPr>
        <p:spPr>
          <a:xfrm>
            <a:off x="990600" y="8382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PNMF  /  CONCEPTUAL NOISE MODELING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657C73E6-6480-4469-9BD3-8356E5054380}"/>
              </a:ext>
            </a:extLst>
          </p:cNvPr>
          <p:cNvSpPr>
            <a:spLocks noGrp="1"/>
          </p:cNvSpPr>
          <p:nvPr/>
        </p:nvSpPr>
        <p:spPr>
          <a:xfrm>
            <a:off x="990600" y="1657350"/>
            <a:ext cx="7239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125" b="1" i="0" dirty="0">
                <a:solidFill>
                  <a:srgbClr val="111111"/>
                </a:solidFill>
                <a:latin typeface="Aptos" panose="020B0004020202020204" pitchFamily="34" charset="0"/>
                <a:ea typeface="Arial"/>
                <a:cs typeface="Arial"/>
              </a:rPr>
              <a:t>Stabilizing Physical Noise Approach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E6C171BA-6DAE-4ABF-AF67-5A170751362E}"/>
              </a:ext>
            </a:extLst>
          </p:cNvPr>
          <p:cNvSpPr>
            <a:spLocks noGrp="1"/>
          </p:cNvSpPr>
          <p:nvPr/>
        </p:nvSpPr>
        <p:spPr>
          <a:xfrm>
            <a:off x="990600" y="3818603"/>
            <a:ext cx="695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75" b="0" i="0" dirty="0">
                <a:solidFill>
                  <a:srgbClr val="5F6670"/>
                </a:solidFill>
                <a:latin typeface="Aptos" panose="020B0004020202020204" pitchFamily="34" charset="0"/>
                <a:ea typeface="Arial"/>
                <a:cs typeface="Arial"/>
              </a:rPr>
              <a:t>Current setup, evidence limits, and an eight-week control plan.</a:t>
            </a:r>
          </a:p>
        </p:txBody>
      </p:sp>
      <p:sp>
        <p:nvSpPr>
          <p:cNvPr id="5" name="cover-rule">
            <a:extLst>
              <a:ext uri="{FF2B5EF4-FFF2-40B4-BE49-F238E27FC236}">
                <a16:creationId xmlns:a16="http://schemas.microsoft.com/office/drawing/2014/main" id="{ED885EB8-5073-46EF-AE2A-45BEB8B49391}"/>
              </a:ext>
            </a:extLst>
          </p:cNvPr>
          <p:cNvSpPr>
            <a:spLocks noGrp="1"/>
          </p:cNvSpPr>
          <p:nvPr/>
        </p:nvSpPr>
        <p:spPr>
          <a:xfrm>
            <a:off x="1009650" y="4895850"/>
            <a:ext cx="49530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ver-date">
            <a:extLst>
              <a:ext uri="{FF2B5EF4-FFF2-40B4-BE49-F238E27FC236}">
                <a16:creationId xmlns:a16="http://schemas.microsoft.com/office/drawing/2014/main" id="{972C40CF-2BE2-471A-B7F5-BE4A51B5176B}"/>
              </a:ext>
            </a:extLst>
          </p:cNvPr>
          <p:cNvSpPr>
            <a:spLocks noGrp="1"/>
          </p:cNvSpPr>
          <p:nvPr/>
        </p:nvSpPr>
        <p:spPr>
          <a:xfrm>
            <a:off x="1009650" y="51054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Advisor review  |  03 August 2026</a:t>
            </a:r>
          </a:p>
        </p:txBody>
      </p:sp>
    </p:spTree>
    <p:extLst>
      <p:ext uri="{BB962C8B-B14F-4D97-AF65-F5344CB8AC3E}">
        <p14:creationId xmlns:p14="http://schemas.microsoft.com/office/powerpoint/2010/main" val="142589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-2">
            <a:extLst>
              <a:ext uri="{FF2B5EF4-FFF2-40B4-BE49-F238E27FC236}">
                <a16:creationId xmlns:a16="http://schemas.microsoft.com/office/drawing/2014/main" id="{2605CD06-6EFF-4946-AFDC-854325638F9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  /  PRIORITY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A871D52F-CC3A-416E-8875-9DFD948977BE}"/>
              </a:ext>
            </a:extLst>
          </p:cNvPr>
          <p:cNvSpPr>
            <a:spLocks noGrp="1"/>
          </p:cNvSpPr>
          <p:nvPr/>
        </p:nvSpPr>
        <p:spPr>
          <a:xfrm>
            <a:off x="552450" y="6191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 dirty="0">
                <a:solidFill>
                  <a:srgbClr val="111111"/>
                </a:solidFill>
                <a:latin typeface="Aptos" panose="020B0004020202020204" pitchFamily="34" charset="0"/>
                <a:ea typeface="Arial"/>
                <a:cs typeface="Arial"/>
              </a:rPr>
              <a:t>The next two months are about control, not novelty</a:t>
            </a:r>
          </a:p>
        </p:txBody>
      </p:sp>
      <p:sp>
        <p:nvSpPr>
          <p:cNvPr id="3" name="rule-2">
            <a:extLst>
              <a:ext uri="{FF2B5EF4-FFF2-40B4-BE49-F238E27FC236}">
                <a16:creationId xmlns:a16="http://schemas.microsoft.com/office/drawing/2014/main" id="{7EA175D7-A652-4166-8841-B6B3976422EA}"/>
              </a:ext>
            </a:extLst>
          </p:cNvPr>
          <p:cNvSpPr>
            <a:spLocks noGrp="1"/>
          </p:cNvSpPr>
          <p:nvPr/>
        </p:nvSpPr>
        <p:spPr>
          <a:xfrm>
            <a:off x="552450" y="1304925"/>
            <a:ext cx="110871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2">
            <a:extLst>
              <a:ext uri="{FF2B5EF4-FFF2-40B4-BE49-F238E27FC236}">
                <a16:creationId xmlns:a16="http://schemas.microsoft.com/office/drawing/2014/main" id="{27CFE387-84E9-43B4-BA83-06ED063CBADA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 approach stabilization  |  2</a:t>
            </a:r>
          </a:p>
        </p:txBody>
      </p:sp>
      <p:sp>
        <p:nvSpPr>
          <p:cNvPr id="5" name="&quot;auto-text-0&quot;">
            <a:extLst>
              <a:ext uri="{FF2B5EF4-FFF2-40B4-BE49-F238E27FC236}">
                <a16:creationId xmlns:a16="http://schemas.microsoft.com/office/drawing/2014/main" id="{4C11E14E-B860-44E5-8144-FA1EE1F83807}"/>
              </a:ext>
            </a:extLst>
          </p:cNvPr>
          <p:cNvSpPr>
            <a:spLocks noGrp="1"/>
          </p:cNvSpPr>
          <p:nvPr/>
        </p:nvSpPr>
        <p:spPr>
          <a:xfrm>
            <a:off x="552450" y="194310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8094" lnSpcReduction="20000"/>
          </a:bodyPr>
          <a:lstStyle/>
          <a:p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111111"/>
                </a:solidFill>
                <a:latin typeface="Aptos" panose="020B0004020202020204" pitchFamily="34" charset="0"/>
                <a:ea typeface="Arial"/>
                <a:cs typeface="Arial"/>
              </a:rPr>
              <a:t>PNMF already has</a:t>
            </a:r>
            <a:r>
              <a:rPr lang="en-US" sz="3150" b="1" dirty="0">
                <a:solidFill>
                  <a:srgbClr val="111111"/>
                </a:solidFill>
                <a:latin typeface="Aptos" panose="020B0004020202020204" pitchFamily="34" charset="0"/>
                <a:ea typeface="Arial"/>
                <a:cs typeface="Arial"/>
              </a:rPr>
              <a:t> prototype</a:t>
            </a:r>
            <a:r>
              <a:rPr sz="3150" b="1" i="0" dirty="0">
                <a:solidFill>
                  <a:srgbClr val="111111"/>
                </a:solidFill>
                <a:latin typeface="Aptos" panose="020B0004020202020204" pitchFamily="34" charset="0"/>
                <a:ea typeface="Arial"/>
                <a:cs typeface="Arial"/>
              </a:rPr>
              <a:t> physical route.</a:t>
            </a:r>
            <a:endParaRPr lang="en-US" sz="3150" b="1" i="0" dirty="0">
              <a:solidFill>
                <a:srgbClr val="111111"/>
              </a:solidFill>
              <a:latin typeface="Aptos" panose="020B0004020202020204" pitchFamily="34" charset="0"/>
              <a:ea typeface="Arial"/>
              <a:cs typeface="Arial"/>
            </a:endParaRPr>
          </a:p>
          <a:p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n-US" sz="3150" b="1" i="0" dirty="0">
              <a:solidFill>
                <a:srgbClr val="111111"/>
              </a:solidFill>
              <a:latin typeface="Aptos" panose="020B0004020202020204" pitchFamily="34" charset="0"/>
              <a:ea typeface="Arial"/>
              <a:cs typeface="Arial"/>
            </a:endParaRPr>
          </a:p>
          <a:p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3150" b="1" i="0" dirty="0">
              <a:solidFill>
                <a:srgbClr val="111111"/>
              </a:solidFill>
              <a:latin typeface="Aptos" panose="020B0004020202020204" pitchFamily="34" charset="0"/>
              <a:ea typeface="Arial"/>
              <a:cs typeface="Arial"/>
            </a:endParaRPr>
          </a:p>
          <a:p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111111"/>
                </a:solidFill>
                <a:latin typeface="Aptos" panose="020B0004020202020204" pitchFamily="34" charset="0"/>
                <a:ea typeface="Arial"/>
                <a:cs typeface="Arial"/>
              </a:rPr>
              <a:t>The credibility work is to make its limits and repeatability impossible to miss.</a:t>
            </a:r>
          </a:p>
        </p:txBody>
      </p:sp>
      <p:sp>
        <p:nvSpPr>
          <p:cNvPr id="6" name="priority-rail">
            <a:extLst>
              <a:ext uri="{FF2B5EF4-FFF2-40B4-BE49-F238E27FC236}">
                <a16:creationId xmlns:a16="http://schemas.microsoft.com/office/drawing/2014/main" id="{3D6836F7-812E-4617-A9BF-40856D543C80}"/>
              </a:ext>
            </a:extLst>
          </p:cNvPr>
          <p:cNvSpPr>
            <a:spLocks noGrp="1"/>
          </p:cNvSpPr>
          <p:nvPr/>
        </p:nvSpPr>
        <p:spPr>
          <a:xfrm>
            <a:off x="8572500" y="1952625"/>
            <a:ext cx="3067050" cy="2438400"/>
          </a:xfrm>
          <a:prstGeom prst="roundRect">
            <a:avLst>
              <a:gd name="adj" fmla="val 4688"/>
            </a:avLst>
          </a:prstGeom>
          <a:solidFill>
            <a:srgbClr val="D8F1FF"/>
          </a:solidFill>
          <a:ln w="9525">
            <a:solidFill>
              <a:srgbClr val="D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riority-rail-label">
            <a:extLst>
              <a:ext uri="{FF2B5EF4-FFF2-40B4-BE49-F238E27FC236}">
                <a16:creationId xmlns:a16="http://schemas.microsoft.com/office/drawing/2014/main" id="{255ED08D-548B-48C8-940A-EE86ABE7B52E}"/>
              </a:ext>
            </a:extLst>
          </p:cNvPr>
          <p:cNvSpPr>
            <a:spLocks noGrp="1"/>
          </p:cNvSpPr>
          <p:nvPr/>
        </p:nvSpPr>
        <p:spPr>
          <a:xfrm>
            <a:off x="8877300" y="22669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Decision rule</a:t>
            </a:r>
          </a:p>
        </p:txBody>
      </p:sp>
      <p:sp>
        <p:nvSpPr>
          <p:cNvPr id="8" name="priority-rail-body">
            <a:extLst>
              <a:ext uri="{FF2B5EF4-FFF2-40B4-BE49-F238E27FC236}">
                <a16:creationId xmlns:a16="http://schemas.microsoft.com/office/drawing/2014/main" id="{AF6F7414-2FFD-400B-A4A6-39BF46B99EE2}"/>
              </a:ext>
            </a:extLst>
          </p:cNvPr>
          <p:cNvSpPr>
            <a:spLocks noGrp="1"/>
          </p:cNvSpPr>
          <p:nvPr/>
        </p:nvSpPr>
        <p:spPr>
          <a:xfrm>
            <a:off x="8877300" y="2762250"/>
            <a:ext cx="23431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042"/>
          </a:bodyPr>
          <a:lstStyle/>
          <a:p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Freeze the baseline.</a:t>
            </a:r>
          </a:p>
          <a:p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Make applicability explicit.</a:t>
            </a:r>
          </a:p>
          <a:p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 evidence in layers.</a:t>
            </a:r>
          </a:p>
          <a:p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Only then add mechanisms.</a:t>
            </a:r>
          </a:p>
        </p:txBody>
      </p:sp>
      <p:sp>
        <p:nvSpPr>
          <p:cNvPr id="9" name="&quot;auto-text-1&quot;">
            <a:extLst>
              <a:ext uri="{FF2B5EF4-FFF2-40B4-BE49-F238E27FC236}">
                <a16:creationId xmlns:a16="http://schemas.microsoft.com/office/drawing/2014/main" id="{0CCA42B0-A96B-46A1-8DC9-FA1201A929F1}"/>
              </a:ext>
            </a:extLst>
          </p:cNvPr>
          <p:cNvSpPr>
            <a:spLocks noGrp="1"/>
          </p:cNvSpPr>
          <p:nvPr/>
        </p:nvSpPr>
        <p:spPr>
          <a:xfrm>
            <a:off x="552450" y="4743450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lang="en-US" sz="1650" b="0" i="0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We are trying to build upon this framework not try to begin with new. This version already comply our request in certain margin we are going to narrow those margins.</a:t>
            </a:r>
            <a:endParaRPr sz="1650" b="0" i="0" dirty="0">
              <a:solidFill>
                <a:srgbClr val="5F667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576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kicker-3">
            <a:extLst>
              <a:ext uri="{FF2B5EF4-FFF2-40B4-BE49-F238E27FC236}">
                <a16:creationId xmlns:a16="http://schemas.microsoft.com/office/drawing/2014/main" id="{DEEDE0D5-7ADB-4DEC-AAF3-CD614C27D6B0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  /  CURRENT SETUP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D5579050-80A0-43A0-846E-56CC84D76D10}"/>
              </a:ext>
            </a:extLst>
          </p:cNvPr>
          <p:cNvSpPr>
            <a:spLocks noGrp="1"/>
          </p:cNvSpPr>
          <p:nvPr/>
        </p:nvSpPr>
        <p:spPr>
          <a:xfrm>
            <a:off x="552450" y="6191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calculation chain is already inspectable</a:t>
            </a:r>
          </a:p>
        </p:txBody>
      </p:sp>
      <p:sp>
        <p:nvSpPr>
          <p:cNvPr id="3" name="rule-3">
            <a:extLst>
              <a:ext uri="{FF2B5EF4-FFF2-40B4-BE49-F238E27FC236}">
                <a16:creationId xmlns:a16="http://schemas.microsoft.com/office/drawing/2014/main" id="{ED69700F-1E2D-4A85-BFCB-5EBF53F7DF5A}"/>
              </a:ext>
            </a:extLst>
          </p:cNvPr>
          <p:cNvSpPr>
            <a:spLocks noGrp="1"/>
          </p:cNvSpPr>
          <p:nvPr/>
        </p:nvSpPr>
        <p:spPr>
          <a:xfrm>
            <a:off x="552450" y="1304925"/>
            <a:ext cx="110871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3">
            <a:extLst>
              <a:ext uri="{FF2B5EF4-FFF2-40B4-BE49-F238E27FC236}">
                <a16:creationId xmlns:a16="http://schemas.microsoft.com/office/drawing/2014/main" id="{3397A729-118F-4262-9864-9FF4DB8AE60F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 approach stabilization  |  3</a:t>
            </a:r>
          </a:p>
        </p:txBody>
      </p:sp>
      <p:sp>
        <p:nvSpPr>
          <p:cNvPr id="5" name="chain-box-0">
            <a:extLst>
              <a:ext uri="{FF2B5EF4-FFF2-40B4-BE49-F238E27FC236}">
                <a16:creationId xmlns:a16="http://schemas.microsoft.com/office/drawing/2014/main" id="{9F4841AC-001C-4067-B95D-D7D6F514852D}"/>
              </a:ext>
            </a:extLst>
          </p:cNvPr>
          <p:cNvSpPr>
            <a:spLocks noGrp="1"/>
          </p:cNvSpPr>
          <p:nvPr/>
        </p:nvSpPr>
        <p:spPr>
          <a:xfrm>
            <a:off x="552450" y="2609850"/>
            <a:ext cx="1524000" cy="1200150"/>
          </a:xfrm>
          <a:prstGeom prst="roundRect">
            <a:avLst>
              <a:gd name="adj" fmla="val 6349"/>
            </a:avLst>
          </a:prstGeom>
          <a:solidFill>
            <a:srgbClr val="D8F1FF"/>
          </a:solidFill>
          <a:ln w="9525">
            <a:solidFill>
              <a:srgbClr val="D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hain-label-0">
            <a:extLst>
              <a:ext uri="{FF2B5EF4-FFF2-40B4-BE49-F238E27FC236}">
                <a16:creationId xmlns:a16="http://schemas.microsoft.com/office/drawing/2014/main" id="{0BE309CE-E822-4359-AA3C-3E5D7B1192C3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7" name="chain-detail-0">
            <a:extLst>
              <a:ext uri="{FF2B5EF4-FFF2-40B4-BE49-F238E27FC236}">
                <a16:creationId xmlns:a16="http://schemas.microsoft.com/office/drawing/2014/main" id="{0387C18B-19C3-4D54-8192-DC36B7373332}"/>
              </a:ext>
            </a:extLst>
          </p:cNvPr>
          <p:cNvSpPr>
            <a:spLocks noGrp="1"/>
          </p:cNvSpPr>
          <p:nvPr/>
        </p:nvSpPr>
        <p:spPr>
          <a:xfrm>
            <a:off x="704850" y="323850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typed </a:t>
            </a:r>
            <a:r>
              <a:rPr lang="en-US" sz="1275" b="0" i="0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technical</a:t>
            </a:r>
            <a:endParaRPr sz="1275" b="0" i="0" dirty="0">
              <a:solidFill>
                <a:srgbClr val="5F6670"/>
              </a:solidFill>
              <a:latin typeface="Arial"/>
              <a:ea typeface="Arial"/>
              <a:cs typeface="Arial"/>
            </a:endParaRPr>
          </a:p>
          <a:p>
            <a:pPr algn="ctr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75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values</a:t>
            </a:r>
            <a:endParaRPr sz="1275" b="0" i="0" dirty="0">
              <a:solidFill>
                <a:srgbClr val="5F66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hain-box-1">
            <a:extLst>
              <a:ext uri="{FF2B5EF4-FFF2-40B4-BE49-F238E27FC236}">
                <a16:creationId xmlns:a16="http://schemas.microsoft.com/office/drawing/2014/main" id="{ED657E9B-7A46-4B80-852E-6BB40064018A}"/>
              </a:ext>
            </a:extLst>
          </p:cNvPr>
          <p:cNvSpPr>
            <a:spLocks noGrp="1"/>
          </p:cNvSpPr>
          <p:nvPr/>
        </p:nvSpPr>
        <p:spPr>
          <a:xfrm>
            <a:off x="2419350" y="2609850"/>
            <a:ext cx="1524000" cy="1200150"/>
          </a:xfrm>
          <a:prstGeom prst="roundRect">
            <a:avLst>
              <a:gd name="adj" fmla="val 6349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hain-label-1">
            <a:extLst>
              <a:ext uri="{FF2B5EF4-FFF2-40B4-BE49-F238E27FC236}">
                <a16:creationId xmlns:a16="http://schemas.microsoft.com/office/drawing/2014/main" id="{4FBD386F-5B65-4FAB-80E6-76651A6649A2}"/>
              </a:ext>
            </a:extLst>
          </p:cNvPr>
          <p:cNvSpPr>
            <a:spLocks noGrp="1"/>
          </p:cNvSpPr>
          <p:nvPr/>
        </p:nvSpPr>
        <p:spPr>
          <a:xfrm>
            <a:off x="2571750" y="285750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10" name="chain-detail-1">
            <a:extLst>
              <a:ext uri="{FF2B5EF4-FFF2-40B4-BE49-F238E27FC236}">
                <a16:creationId xmlns:a16="http://schemas.microsoft.com/office/drawing/2014/main" id="{A7DD2E2F-F693-4F01-89EA-78CE28DE866A}"/>
              </a:ext>
            </a:extLst>
          </p:cNvPr>
          <p:cNvSpPr>
            <a:spLocks noGrp="1"/>
          </p:cNvSpPr>
          <p:nvPr/>
        </p:nvSpPr>
        <p:spPr>
          <a:xfrm>
            <a:off x="2571750" y="323850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jet | fan</a:t>
            </a:r>
          </a:p>
          <a:p>
            <a:pPr algn="ctr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airframe</a:t>
            </a:r>
          </a:p>
        </p:txBody>
      </p:sp>
      <p:sp>
        <p:nvSpPr>
          <p:cNvPr id="11" name="chain-box-2">
            <a:extLst>
              <a:ext uri="{FF2B5EF4-FFF2-40B4-BE49-F238E27FC236}">
                <a16:creationId xmlns:a16="http://schemas.microsoft.com/office/drawing/2014/main" id="{EA22C4F5-25DA-48C5-ADCF-CAF64EBC4CEB}"/>
              </a:ext>
            </a:extLst>
          </p:cNvPr>
          <p:cNvSpPr>
            <a:spLocks noGrp="1"/>
          </p:cNvSpPr>
          <p:nvPr/>
        </p:nvSpPr>
        <p:spPr>
          <a:xfrm>
            <a:off x="4286250" y="2609850"/>
            <a:ext cx="1524000" cy="1200150"/>
          </a:xfrm>
          <a:prstGeom prst="roundRect">
            <a:avLst>
              <a:gd name="adj" fmla="val 6349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hain-label-2">
            <a:extLst>
              <a:ext uri="{FF2B5EF4-FFF2-40B4-BE49-F238E27FC236}">
                <a16:creationId xmlns:a16="http://schemas.microsoft.com/office/drawing/2014/main" id="{DA80695E-0C9A-49D8-83BA-2584F314EA82}"/>
              </a:ext>
            </a:extLst>
          </p:cNvPr>
          <p:cNvSpPr>
            <a:spLocks noGrp="1"/>
          </p:cNvSpPr>
          <p:nvPr/>
        </p:nvSpPr>
        <p:spPr>
          <a:xfrm>
            <a:off x="4438650" y="285750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843"/>
          </a:bodyPr>
          <a:lstStyle/>
          <a:p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Propagation</a:t>
            </a:r>
          </a:p>
        </p:txBody>
      </p:sp>
      <p:sp>
        <p:nvSpPr>
          <p:cNvPr id="13" name="chain-detail-2">
            <a:extLst>
              <a:ext uri="{FF2B5EF4-FFF2-40B4-BE49-F238E27FC236}">
                <a16:creationId xmlns:a16="http://schemas.microsoft.com/office/drawing/2014/main" id="{655875FD-1A63-465F-8F03-699A0AA04CC3}"/>
              </a:ext>
            </a:extLst>
          </p:cNvPr>
          <p:cNvSpPr>
            <a:spLocks noGrp="1"/>
          </p:cNvSpPr>
          <p:nvPr/>
        </p:nvSpPr>
        <p:spPr>
          <a:xfrm>
            <a:off x="4438650" y="323850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spreading</a:t>
            </a:r>
          </a:p>
          <a:p>
            <a:pPr algn="ctr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absorption</a:t>
            </a:r>
          </a:p>
        </p:txBody>
      </p:sp>
      <p:sp>
        <p:nvSpPr>
          <p:cNvPr id="14" name="chain-box-3">
            <a:extLst>
              <a:ext uri="{FF2B5EF4-FFF2-40B4-BE49-F238E27FC236}">
                <a16:creationId xmlns:a16="http://schemas.microsoft.com/office/drawing/2014/main" id="{4A75A539-AD50-4F67-BF43-899A784E17B7}"/>
              </a:ext>
            </a:extLst>
          </p:cNvPr>
          <p:cNvSpPr>
            <a:spLocks noGrp="1"/>
          </p:cNvSpPr>
          <p:nvPr/>
        </p:nvSpPr>
        <p:spPr>
          <a:xfrm>
            <a:off x="6153150" y="2609850"/>
            <a:ext cx="1524000" cy="1200150"/>
          </a:xfrm>
          <a:prstGeom prst="roundRect">
            <a:avLst>
              <a:gd name="adj" fmla="val 6349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hain-label-3">
            <a:extLst>
              <a:ext uri="{FF2B5EF4-FFF2-40B4-BE49-F238E27FC236}">
                <a16:creationId xmlns:a16="http://schemas.microsoft.com/office/drawing/2014/main" id="{CDE7CD69-3D7F-42E6-917A-910C517F48DC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Receiver</a:t>
            </a:r>
          </a:p>
        </p:txBody>
      </p:sp>
      <p:sp>
        <p:nvSpPr>
          <p:cNvPr id="16" name="chain-detail-3">
            <a:extLst>
              <a:ext uri="{FF2B5EF4-FFF2-40B4-BE49-F238E27FC236}">
                <a16:creationId xmlns:a16="http://schemas.microsoft.com/office/drawing/2014/main" id="{DD9B5F04-6896-4A69-9750-1D5F6AA587CC}"/>
              </a:ext>
            </a:extLst>
          </p:cNvPr>
          <p:cNvSpPr>
            <a:spLocks noGrp="1"/>
          </p:cNvSpPr>
          <p:nvPr/>
        </p:nvSpPr>
        <p:spPr>
          <a:xfrm>
            <a:off x="6305550" y="323850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time history</a:t>
            </a:r>
          </a:p>
          <a:p>
            <a:pPr algn="ctr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energy sum</a:t>
            </a:r>
          </a:p>
        </p:txBody>
      </p:sp>
      <p:sp>
        <p:nvSpPr>
          <p:cNvPr id="17" name="chain-box-4">
            <a:extLst>
              <a:ext uri="{FF2B5EF4-FFF2-40B4-BE49-F238E27FC236}">
                <a16:creationId xmlns:a16="http://schemas.microsoft.com/office/drawing/2014/main" id="{376D4C32-87F1-4D75-BCD9-6112BCE1A8E5}"/>
              </a:ext>
            </a:extLst>
          </p:cNvPr>
          <p:cNvSpPr>
            <a:spLocks noGrp="1"/>
          </p:cNvSpPr>
          <p:nvPr/>
        </p:nvSpPr>
        <p:spPr>
          <a:xfrm>
            <a:off x="8020050" y="2609850"/>
            <a:ext cx="1524000" cy="1200150"/>
          </a:xfrm>
          <a:prstGeom prst="roundRect">
            <a:avLst>
              <a:gd name="adj" fmla="val 6349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hain-label-4">
            <a:extLst>
              <a:ext uri="{FF2B5EF4-FFF2-40B4-BE49-F238E27FC236}">
                <a16:creationId xmlns:a16="http://schemas.microsoft.com/office/drawing/2014/main" id="{D8154B71-3D7F-44F6-89D6-68F07DFFA3B2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19" name="chain-detail-4">
            <a:extLst>
              <a:ext uri="{FF2B5EF4-FFF2-40B4-BE49-F238E27FC236}">
                <a16:creationId xmlns:a16="http://schemas.microsoft.com/office/drawing/2014/main" id="{4FA95FFE-31AA-4D3C-AE6F-925390DAEE77}"/>
              </a:ext>
            </a:extLst>
          </p:cNvPr>
          <p:cNvSpPr>
            <a:spLocks noGrp="1"/>
          </p:cNvSpPr>
          <p:nvPr/>
        </p:nvSpPr>
        <p:spPr>
          <a:xfrm>
            <a:off x="8172450" y="323850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SEL</a:t>
            </a:r>
          </a:p>
          <a:p>
            <a:pPr algn="ctr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LAmax</a:t>
            </a:r>
          </a:p>
        </p:txBody>
      </p:sp>
      <p:sp>
        <p:nvSpPr>
          <p:cNvPr id="20" name="chain-box-5">
            <a:extLst>
              <a:ext uri="{FF2B5EF4-FFF2-40B4-BE49-F238E27FC236}">
                <a16:creationId xmlns:a16="http://schemas.microsoft.com/office/drawing/2014/main" id="{DC1F5B4F-C0DD-45E2-B50D-E2745280D233}"/>
              </a:ext>
            </a:extLst>
          </p:cNvPr>
          <p:cNvSpPr>
            <a:spLocks noGrp="1"/>
          </p:cNvSpPr>
          <p:nvPr/>
        </p:nvSpPr>
        <p:spPr>
          <a:xfrm>
            <a:off x="9886950" y="2609850"/>
            <a:ext cx="1524000" cy="1200150"/>
          </a:xfrm>
          <a:prstGeom prst="roundRect">
            <a:avLst>
              <a:gd name="adj" fmla="val 6349"/>
            </a:avLst>
          </a:prstGeom>
          <a:solidFill>
            <a:srgbClr val="D8F1FF"/>
          </a:solidFill>
          <a:ln w="9525">
            <a:solidFill>
              <a:srgbClr val="D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hain-label-5">
            <a:extLst>
              <a:ext uri="{FF2B5EF4-FFF2-40B4-BE49-F238E27FC236}">
                <a16:creationId xmlns:a16="http://schemas.microsoft.com/office/drawing/2014/main" id="{683B1F39-E7DA-449B-8BD6-85339AC105A1}"/>
              </a:ext>
            </a:extLst>
          </p:cNvPr>
          <p:cNvSpPr>
            <a:spLocks noGrp="1"/>
          </p:cNvSpPr>
          <p:nvPr/>
        </p:nvSpPr>
        <p:spPr>
          <a:xfrm>
            <a:off x="10039350" y="285750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2" name="chain-detail-5">
            <a:extLst>
              <a:ext uri="{FF2B5EF4-FFF2-40B4-BE49-F238E27FC236}">
                <a16:creationId xmlns:a16="http://schemas.microsoft.com/office/drawing/2014/main" id="{B3D08ACB-8F4D-4410-9629-954E2963E1B5}"/>
              </a:ext>
            </a:extLst>
          </p:cNvPr>
          <p:cNvSpPr>
            <a:spLocks noGrp="1"/>
          </p:cNvSpPr>
          <p:nvPr/>
        </p:nvSpPr>
        <p:spPr>
          <a:xfrm>
            <a:off x="10039350" y="323850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NPD table</a:t>
            </a:r>
          </a:p>
          <a:p>
            <a:pPr algn="ctr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10 distances</a:t>
            </a:r>
          </a:p>
        </p:txBody>
      </p:sp>
      <p:cxnSp>
        <p:nvCxnSpPr>
          <p:cNvPr id="51" name="Straight Arrow Connector 50"/>
          <p:cNvCxnSpPr>
            <a:stCxn id="5" idx="3"/>
            <a:endCxn id="8" idx="1"/>
          </p:cNvCxnSpPr>
          <p:nvPr/>
        </p:nvCxnSpPr>
        <p:spPr>
          <a:xfrm>
            <a:off x="2076450" y="3209925"/>
            <a:ext cx="3429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52" name="Straight Arrow Connector 51"/>
          <p:cNvCxnSpPr>
            <a:stCxn id="8" idx="3"/>
            <a:endCxn id="11" idx="1"/>
          </p:cNvCxnSpPr>
          <p:nvPr/>
        </p:nvCxnSpPr>
        <p:spPr>
          <a:xfrm>
            <a:off x="3943350" y="3209925"/>
            <a:ext cx="3429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53" name="Straight Arrow Connector 52"/>
          <p:cNvCxnSpPr>
            <a:stCxn id="11" idx="3"/>
            <a:endCxn id="14" idx="1"/>
          </p:cNvCxnSpPr>
          <p:nvPr/>
        </p:nvCxnSpPr>
        <p:spPr>
          <a:xfrm>
            <a:off x="5810250" y="3209925"/>
            <a:ext cx="3429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54" name="Straight Arrow Connector 53"/>
          <p:cNvCxnSpPr>
            <a:stCxn id="14" idx="3"/>
            <a:endCxn id="17" idx="1"/>
          </p:cNvCxnSpPr>
          <p:nvPr/>
        </p:nvCxnSpPr>
        <p:spPr>
          <a:xfrm>
            <a:off x="7677150" y="3209925"/>
            <a:ext cx="3429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55" name="Straight Arrow Connector 54"/>
          <p:cNvCxnSpPr>
            <a:stCxn id="17" idx="3"/>
            <a:endCxn id="20" idx="1"/>
          </p:cNvCxnSpPr>
          <p:nvPr/>
        </p:nvCxnSpPr>
        <p:spPr>
          <a:xfrm>
            <a:off x="9544050" y="3209925"/>
            <a:ext cx="3429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28" name="chain-note">
            <a:extLst>
              <a:ext uri="{FF2B5EF4-FFF2-40B4-BE49-F238E27FC236}">
                <a16:creationId xmlns:a16="http://schemas.microsoft.com/office/drawing/2014/main" id="{602A1088-4524-44A1-A367-B3B489D8EF16}"/>
              </a:ext>
            </a:extLst>
          </p:cNvPr>
          <p:cNvSpPr>
            <a:spLocks noGrp="1"/>
          </p:cNvSpPr>
          <p:nvPr/>
        </p:nvSpPr>
        <p:spPr>
          <a:xfrm>
            <a:off x="1524000" y="4591050"/>
            <a:ext cx="914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The learned ET/RF route and component-physics route remain independent; comparison is downstream evidence, never shared fitting.</a:t>
            </a:r>
          </a:p>
        </p:txBody>
      </p:sp>
    </p:spTree>
    <p:extLst>
      <p:ext uri="{BB962C8B-B14F-4D97-AF65-F5344CB8AC3E}">
        <p14:creationId xmlns:p14="http://schemas.microsoft.com/office/powerpoint/2010/main" val="89361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kicker-5">
            <a:extLst>
              <a:ext uri="{FF2B5EF4-FFF2-40B4-BE49-F238E27FC236}">
                <a16:creationId xmlns:a16="http://schemas.microsoft.com/office/drawing/2014/main" id="{CE177523-0DF3-4A08-BC82-BEA25C11ABBA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  /  CURRENT SETUP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18594351-4493-460F-AB4E-0F9AC1FE198F}"/>
              </a:ext>
            </a:extLst>
          </p:cNvPr>
          <p:cNvSpPr>
            <a:spLocks noGrp="1"/>
          </p:cNvSpPr>
          <p:nvPr/>
        </p:nvSpPr>
        <p:spPr>
          <a:xfrm>
            <a:off x="552450" y="6191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physical route is a component-to-event model</a:t>
            </a:r>
          </a:p>
        </p:txBody>
      </p:sp>
      <p:sp>
        <p:nvSpPr>
          <p:cNvPr id="3" name="rule-5">
            <a:extLst>
              <a:ext uri="{FF2B5EF4-FFF2-40B4-BE49-F238E27FC236}">
                <a16:creationId xmlns:a16="http://schemas.microsoft.com/office/drawing/2014/main" id="{265AFD05-54F8-484E-BE3A-87CE719A4E79}"/>
              </a:ext>
            </a:extLst>
          </p:cNvPr>
          <p:cNvSpPr>
            <a:spLocks noGrp="1"/>
          </p:cNvSpPr>
          <p:nvPr/>
        </p:nvSpPr>
        <p:spPr>
          <a:xfrm>
            <a:off x="552450" y="1304925"/>
            <a:ext cx="110871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5">
            <a:extLst>
              <a:ext uri="{FF2B5EF4-FFF2-40B4-BE49-F238E27FC236}">
                <a16:creationId xmlns:a16="http://schemas.microsoft.com/office/drawing/2014/main" id="{FFF06A96-4BA2-4C01-99BA-50E59EE73932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 approach stabilization  |  5</a:t>
            </a:r>
          </a:p>
        </p:txBody>
      </p:sp>
      <p:sp>
        <p:nvSpPr>
          <p:cNvPr id="5" name="&quot;auto-text-3&quot;">
            <a:extLst>
              <a:ext uri="{FF2B5EF4-FFF2-40B4-BE49-F238E27FC236}">
                <a16:creationId xmlns:a16="http://schemas.microsoft.com/office/drawing/2014/main" id="{40F2C95F-BE32-4654-B6E1-2DEA1796623E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mechanisms</a:t>
            </a:r>
          </a:p>
        </p:txBody>
      </p:sp>
      <p:sp>
        <p:nvSpPr>
          <p:cNvPr id="6" name="source-tag-0">
            <a:extLst>
              <a:ext uri="{FF2B5EF4-FFF2-40B4-BE49-F238E27FC236}">
                <a16:creationId xmlns:a16="http://schemas.microsoft.com/office/drawing/2014/main" id="{CA48292A-4EEA-4C2D-9D1F-9AACB7ACA127}"/>
              </a:ext>
            </a:extLst>
          </p:cNvPr>
          <p:cNvSpPr>
            <a:spLocks noGrp="1"/>
          </p:cNvSpPr>
          <p:nvPr/>
        </p:nvSpPr>
        <p:spPr>
          <a:xfrm>
            <a:off x="552450" y="2314575"/>
            <a:ext cx="1143000" cy="323850"/>
          </a:xfrm>
          <a:prstGeom prst="roundRect">
            <a:avLst>
              <a:gd name="adj" fmla="val 17647"/>
            </a:avLst>
          </a:prstGeom>
          <a:solidFill>
            <a:srgbClr val="D8F1FF"/>
          </a:solidFill>
          <a:ln w="9525">
            <a:solidFill>
              <a:srgbClr val="D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ource-tag-0-text">
            <a:extLst>
              <a:ext uri="{FF2B5EF4-FFF2-40B4-BE49-F238E27FC236}">
                <a16:creationId xmlns:a16="http://schemas.microsoft.com/office/drawing/2014/main" id="{5C899122-044B-4278-9772-C1971A1A6F69}"/>
              </a:ext>
            </a:extLst>
          </p:cNvPr>
          <p:cNvSpPr>
            <a:spLocks noGrp="1"/>
          </p:cNvSpPr>
          <p:nvPr/>
        </p:nvSpPr>
        <p:spPr>
          <a:xfrm>
            <a:off x="647700" y="23812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JET</a:t>
            </a:r>
          </a:p>
        </p:txBody>
      </p:sp>
      <p:sp>
        <p:nvSpPr>
          <p:cNvPr id="8" name="source-row-0">
            <a:extLst>
              <a:ext uri="{FF2B5EF4-FFF2-40B4-BE49-F238E27FC236}">
                <a16:creationId xmlns:a16="http://schemas.microsoft.com/office/drawing/2014/main" id="{745B2F5B-6E84-450C-9205-B0FF7AE64AC4}"/>
              </a:ext>
            </a:extLst>
          </p:cNvPr>
          <p:cNvSpPr>
            <a:spLocks noGrp="1"/>
          </p:cNvSpPr>
          <p:nvPr/>
        </p:nvSpPr>
        <p:spPr>
          <a:xfrm>
            <a:off x="1905000" y="2343150"/>
            <a:ext cx="4524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Stone-style multi-stream path; simplified mixed-jet fallback</a:t>
            </a:r>
          </a:p>
        </p:txBody>
      </p:sp>
      <p:sp>
        <p:nvSpPr>
          <p:cNvPr id="9" name="source-rule-0">
            <a:extLst>
              <a:ext uri="{FF2B5EF4-FFF2-40B4-BE49-F238E27FC236}">
                <a16:creationId xmlns:a16="http://schemas.microsoft.com/office/drawing/2014/main" id="{0E8DC99A-E67D-4F6D-AB35-FC9DDB320DFD}"/>
              </a:ext>
            </a:extLst>
          </p:cNvPr>
          <p:cNvSpPr>
            <a:spLocks noGrp="1"/>
          </p:cNvSpPr>
          <p:nvPr/>
        </p:nvSpPr>
        <p:spPr>
          <a:xfrm>
            <a:off x="1905000" y="2800350"/>
            <a:ext cx="4476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ource-tag-1">
            <a:extLst>
              <a:ext uri="{FF2B5EF4-FFF2-40B4-BE49-F238E27FC236}">
                <a16:creationId xmlns:a16="http://schemas.microsoft.com/office/drawing/2014/main" id="{4988F893-79FB-4DA0-9FE0-AD21ABA46A1D}"/>
              </a:ext>
            </a:extLst>
          </p:cNvPr>
          <p:cNvSpPr>
            <a:spLocks noGrp="1"/>
          </p:cNvSpPr>
          <p:nvPr/>
        </p:nvSpPr>
        <p:spPr>
          <a:xfrm>
            <a:off x="552450" y="2962275"/>
            <a:ext cx="1143000" cy="323850"/>
          </a:xfrm>
          <a:prstGeom prst="roundRect">
            <a:avLst>
              <a:gd name="adj" fmla="val 17647"/>
            </a:avLst>
          </a:prstGeom>
          <a:solidFill>
            <a:srgbClr val="D8F1FF"/>
          </a:solidFill>
          <a:ln w="9525">
            <a:solidFill>
              <a:srgbClr val="D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ource-tag-1-text">
            <a:extLst>
              <a:ext uri="{FF2B5EF4-FFF2-40B4-BE49-F238E27FC236}">
                <a16:creationId xmlns:a16="http://schemas.microsoft.com/office/drawing/2014/main" id="{E0470ACE-538F-46D8-93E9-020CB2B63462}"/>
              </a:ext>
            </a:extLst>
          </p:cNvPr>
          <p:cNvSpPr>
            <a:spLocks noGrp="1"/>
          </p:cNvSpPr>
          <p:nvPr/>
        </p:nvSpPr>
        <p:spPr>
          <a:xfrm>
            <a:off x="647700" y="30289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FAN</a:t>
            </a:r>
          </a:p>
        </p:txBody>
      </p:sp>
      <p:sp>
        <p:nvSpPr>
          <p:cNvPr id="12" name="source-row-1">
            <a:extLst>
              <a:ext uri="{FF2B5EF4-FFF2-40B4-BE49-F238E27FC236}">
                <a16:creationId xmlns:a16="http://schemas.microsoft.com/office/drawing/2014/main" id="{3FFCDDF1-202A-4489-B693-5B6C0D6AA365}"/>
              </a:ext>
            </a:extLst>
          </p:cNvPr>
          <p:cNvSpPr>
            <a:spLocks noGrp="1"/>
          </p:cNvSpPr>
          <p:nvPr/>
        </p:nvSpPr>
        <p:spPr>
          <a:xfrm>
            <a:off x="1905000" y="2990850"/>
            <a:ext cx="4524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Heidmann-style engine-deck path; estimated fan fallback</a:t>
            </a:r>
          </a:p>
        </p:txBody>
      </p:sp>
      <p:sp>
        <p:nvSpPr>
          <p:cNvPr id="13" name="source-rule-1">
            <a:extLst>
              <a:ext uri="{FF2B5EF4-FFF2-40B4-BE49-F238E27FC236}">
                <a16:creationId xmlns:a16="http://schemas.microsoft.com/office/drawing/2014/main" id="{A3F4A359-D574-41EB-996E-BA320AC14E6A}"/>
              </a:ext>
            </a:extLst>
          </p:cNvPr>
          <p:cNvSpPr>
            <a:spLocks noGrp="1"/>
          </p:cNvSpPr>
          <p:nvPr/>
        </p:nvSpPr>
        <p:spPr>
          <a:xfrm>
            <a:off x="1905000" y="3448050"/>
            <a:ext cx="4476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ource-tag-2">
            <a:extLst>
              <a:ext uri="{FF2B5EF4-FFF2-40B4-BE49-F238E27FC236}">
                <a16:creationId xmlns:a16="http://schemas.microsoft.com/office/drawing/2014/main" id="{16089983-CB51-4301-A9D7-12AC80F3C4FD}"/>
              </a:ext>
            </a:extLst>
          </p:cNvPr>
          <p:cNvSpPr>
            <a:spLocks noGrp="1"/>
          </p:cNvSpPr>
          <p:nvPr/>
        </p:nvSpPr>
        <p:spPr>
          <a:xfrm>
            <a:off x="552450" y="3609975"/>
            <a:ext cx="1143000" cy="323850"/>
          </a:xfrm>
          <a:prstGeom prst="roundRect">
            <a:avLst>
              <a:gd name="adj" fmla="val 17647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ource-tag-2-text">
            <a:extLst>
              <a:ext uri="{FF2B5EF4-FFF2-40B4-BE49-F238E27FC236}">
                <a16:creationId xmlns:a16="http://schemas.microsoft.com/office/drawing/2014/main" id="{F5C0F267-C6C5-4C67-986C-F1276B145E29}"/>
              </a:ext>
            </a:extLst>
          </p:cNvPr>
          <p:cNvSpPr>
            <a:spLocks noGrp="1"/>
          </p:cNvSpPr>
          <p:nvPr/>
        </p:nvSpPr>
        <p:spPr>
          <a:xfrm>
            <a:off x="647700" y="36766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16" name="source-row-2">
            <a:extLst>
              <a:ext uri="{FF2B5EF4-FFF2-40B4-BE49-F238E27FC236}">
                <a16:creationId xmlns:a16="http://schemas.microsoft.com/office/drawing/2014/main" id="{A58DD6E3-3163-40DD-A09F-DB3224F4D39B}"/>
              </a:ext>
            </a:extLst>
          </p:cNvPr>
          <p:cNvSpPr>
            <a:spLocks noGrp="1"/>
          </p:cNvSpPr>
          <p:nvPr/>
        </p:nvSpPr>
        <p:spPr>
          <a:xfrm>
            <a:off x="1905000" y="3638550"/>
            <a:ext cx="4524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Optional combustor branch; disabled until complete inputs exist</a:t>
            </a:r>
          </a:p>
        </p:txBody>
      </p:sp>
      <p:sp>
        <p:nvSpPr>
          <p:cNvPr id="17" name="source-rule-2">
            <a:extLst>
              <a:ext uri="{FF2B5EF4-FFF2-40B4-BE49-F238E27FC236}">
                <a16:creationId xmlns:a16="http://schemas.microsoft.com/office/drawing/2014/main" id="{93486F58-5038-4305-951F-2562B1E086E7}"/>
              </a:ext>
            </a:extLst>
          </p:cNvPr>
          <p:cNvSpPr>
            <a:spLocks noGrp="1"/>
          </p:cNvSpPr>
          <p:nvPr/>
        </p:nvSpPr>
        <p:spPr>
          <a:xfrm>
            <a:off x="1905000" y="4095750"/>
            <a:ext cx="4476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ource-tag-3">
            <a:extLst>
              <a:ext uri="{FF2B5EF4-FFF2-40B4-BE49-F238E27FC236}">
                <a16:creationId xmlns:a16="http://schemas.microsoft.com/office/drawing/2014/main" id="{2CD80AFC-EA39-4CE6-8DD0-345FC0F251FC}"/>
              </a:ext>
            </a:extLst>
          </p:cNvPr>
          <p:cNvSpPr>
            <a:spLocks noGrp="1"/>
          </p:cNvSpPr>
          <p:nvPr/>
        </p:nvSpPr>
        <p:spPr>
          <a:xfrm>
            <a:off x="552450" y="4257675"/>
            <a:ext cx="1143000" cy="323850"/>
          </a:xfrm>
          <a:prstGeom prst="roundRect">
            <a:avLst>
              <a:gd name="adj" fmla="val 17647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ource-tag-3-text">
            <a:extLst>
              <a:ext uri="{FF2B5EF4-FFF2-40B4-BE49-F238E27FC236}">
                <a16:creationId xmlns:a16="http://schemas.microsoft.com/office/drawing/2014/main" id="{9DAA95CF-3BC3-4F8E-8DFE-131B9873FFB3}"/>
              </a:ext>
            </a:extLst>
          </p:cNvPr>
          <p:cNvSpPr>
            <a:spLocks noGrp="1"/>
          </p:cNvSpPr>
          <p:nvPr/>
        </p:nvSpPr>
        <p:spPr>
          <a:xfrm>
            <a:off x="647700" y="43243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AIRFRAME</a:t>
            </a:r>
          </a:p>
        </p:txBody>
      </p:sp>
      <p:sp>
        <p:nvSpPr>
          <p:cNvPr id="20" name="source-row-3">
            <a:extLst>
              <a:ext uri="{FF2B5EF4-FFF2-40B4-BE49-F238E27FC236}">
                <a16:creationId xmlns:a16="http://schemas.microsoft.com/office/drawing/2014/main" id="{271E7015-4BB7-4804-8C7A-26A8BF7D60AF}"/>
              </a:ext>
            </a:extLst>
          </p:cNvPr>
          <p:cNvSpPr>
            <a:spLocks noGrp="1"/>
          </p:cNvSpPr>
          <p:nvPr/>
        </p:nvSpPr>
        <p:spPr>
          <a:xfrm>
            <a:off x="1905000" y="4286250"/>
            <a:ext cx="4524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Six Fink-style components: wing, slat, flap edges, nose/main gear</a:t>
            </a:r>
          </a:p>
        </p:txBody>
      </p:sp>
      <p:sp>
        <p:nvSpPr>
          <p:cNvPr id="21" name="source-rule-3">
            <a:extLst>
              <a:ext uri="{FF2B5EF4-FFF2-40B4-BE49-F238E27FC236}">
                <a16:creationId xmlns:a16="http://schemas.microsoft.com/office/drawing/2014/main" id="{C4499A2F-D325-4E41-A31C-035521508A9F}"/>
              </a:ext>
            </a:extLst>
          </p:cNvPr>
          <p:cNvSpPr>
            <a:spLocks noGrp="1"/>
          </p:cNvSpPr>
          <p:nvPr/>
        </p:nvSpPr>
        <p:spPr>
          <a:xfrm>
            <a:off x="1905000" y="4743450"/>
            <a:ext cx="4476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ource-tag-4">
            <a:extLst>
              <a:ext uri="{FF2B5EF4-FFF2-40B4-BE49-F238E27FC236}">
                <a16:creationId xmlns:a16="http://schemas.microsoft.com/office/drawing/2014/main" id="{8D7A2D2D-112D-44ED-8185-5DC8FF66F0FD}"/>
              </a:ext>
            </a:extLst>
          </p:cNvPr>
          <p:cNvSpPr>
            <a:spLocks noGrp="1"/>
          </p:cNvSpPr>
          <p:nvPr/>
        </p:nvSpPr>
        <p:spPr>
          <a:xfrm>
            <a:off x="552450" y="4905375"/>
            <a:ext cx="1143000" cy="323850"/>
          </a:xfrm>
          <a:prstGeom prst="roundRect">
            <a:avLst>
              <a:gd name="adj" fmla="val 17647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ource-tag-4-text">
            <a:extLst>
              <a:ext uri="{FF2B5EF4-FFF2-40B4-BE49-F238E27FC236}">
                <a16:creationId xmlns:a16="http://schemas.microsoft.com/office/drawing/2014/main" id="{DA07CE93-E989-44FB-BB9C-9D3145C21018}"/>
              </a:ext>
            </a:extLst>
          </p:cNvPr>
          <p:cNvSpPr>
            <a:spLocks noGrp="1"/>
          </p:cNvSpPr>
          <p:nvPr/>
        </p:nvSpPr>
        <p:spPr>
          <a:xfrm>
            <a:off x="647700" y="49720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24" name="source-row-4">
            <a:extLst>
              <a:ext uri="{FF2B5EF4-FFF2-40B4-BE49-F238E27FC236}">
                <a16:creationId xmlns:a16="http://schemas.microsoft.com/office/drawing/2014/main" id="{82F21EF7-3C39-4413-9C48-1486F78FB625}"/>
              </a:ext>
            </a:extLst>
          </p:cNvPr>
          <p:cNvSpPr>
            <a:spLocks noGrp="1"/>
          </p:cNvSpPr>
          <p:nvPr/>
        </p:nvSpPr>
        <p:spPr>
          <a:xfrm>
            <a:off x="1905000" y="4933950"/>
            <a:ext cx="4524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160 kt straight level reference path; 69 emission angles</a:t>
            </a:r>
          </a:p>
        </p:txBody>
      </p:sp>
      <p:sp>
        <p:nvSpPr>
          <p:cNvPr id="25" name="source-rule-4">
            <a:extLst>
              <a:ext uri="{FF2B5EF4-FFF2-40B4-BE49-F238E27FC236}">
                <a16:creationId xmlns:a16="http://schemas.microsoft.com/office/drawing/2014/main" id="{4CDBFFCF-5E8F-4D41-AA96-9A6B72744073}"/>
              </a:ext>
            </a:extLst>
          </p:cNvPr>
          <p:cNvSpPr>
            <a:spLocks noGrp="1"/>
          </p:cNvSpPr>
          <p:nvPr/>
        </p:nvSpPr>
        <p:spPr>
          <a:xfrm>
            <a:off x="1905000" y="5391150"/>
            <a:ext cx="4476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formula-panel">
            <a:extLst>
              <a:ext uri="{FF2B5EF4-FFF2-40B4-BE49-F238E27FC236}">
                <a16:creationId xmlns:a16="http://schemas.microsoft.com/office/drawing/2014/main" id="{BE3ED479-1272-473B-957C-4B2BBFDB07C9}"/>
              </a:ext>
            </a:extLst>
          </p:cNvPr>
          <p:cNvSpPr>
            <a:spLocks noGrp="1"/>
          </p:cNvSpPr>
          <p:nvPr/>
        </p:nvSpPr>
        <p:spPr>
          <a:xfrm>
            <a:off x="7191375" y="1885950"/>
            <a:ext cx="4352925" cy="3352800"/>
          </a:xfrm>
          <a:prstGeom prst="roundRect">
            <a:avLst>
              <a:gd name="adj" fmla="val 3409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formula-title">
            <a:extLst>
              <a:ext uri="{FF2B5EF4-FFF2-40B4-BE49-F238E27FC236}">
                <a16:creationId xmlns:a16="http://schemas.microsoft.com/office/drawing/2014/main" id="{F96F6574-C378-405F-B539-0E56FA595314}"/>
              </a:ext>
            </a:extLst>
          </p:cNvPr>
          <p:cNvSpPr>
            <a:spLocks noGrp="1"/>
          </p:cNvSpPr>
          <p:nvPr/>
        </p:nvSpPr>
        <p:spPr>
          <a:xfrm>
            <a:off x="7524750" y="220980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877"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the event actually produces</a:t>
            </a:r>
          </a:p>
        </p:txBody>
      </p:sp>
      <p:sp>
        <p:nvSpPr>
          <p:cNvPr id="28" name="formula-list">
            <a:extLst>
              <a:ext uri="{FF2B5EF4-FFF2-40B4-BE49-F238E27FC236}">
                <a16:creationId xmlns:a16="http://schemas.microsoft.com/office/drawing/2014/main" id="{20CDDD4C-2E56-4651-A637-0ADB11A3FE6B}"/>
              </a:ext>
            </a:extLst>
          </p:cNvPr>
          <p:cNvSpPr>
            <a:spLocks noGrp="1"/>
          </p:cNvSpPr>
          <p:nvPr/>
        </p:nvSpPr>
        <p:spPr>
          <a:xfrm>
            <a:off x="7524750" y="2781300"/>
            <a:ext cx="338137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one-third-octave spectra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frequency-dependent absorption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receiver level history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energetic component sum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SEL and LAmax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ANP-shaped NPD rows</a:t>
            </a:r>
          </a:p>
        </p:txBody>
      </p:sp>
      <p:sp>
        <p:nvSpPr>
          <p:cNvPr id="29" name="&quot;auto-text-4&quot;">
            <a:extLst>
              <a:ext uri="{FF2B5EF4-FFF2-40B4-BE49-F238E27FC236}">
                <a16:creationId xmlns:a16="http://schemas.microsoft.com/office/drawing/2014/main" id="{E0F44A1A-167B-4EC4-8F5F-A5CE61AC6EAC}"/>
              </a:ext>
            </a:extLst>
          </p:cNvPr>
          <p:cNvSpPr>
            <a:spLocks noGrp="1"/>
          </p:cNvSpPr>
          <p:nvPr/>
        </p:nvSpPr>
        <p:spPr>
          <a:xfrm>
            <a:off x="7524750" y="48577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This is an auditable screening route, not a certification engine.</a:t>
            </a:r>
          </a:p>
        </p:txBody>
      </p:sp>
    </p:spTree>
    <p:extLst>
      <p:ext uri="{BB962C8B-B14F-4D97-AF65-F5344CB8AC3E}">
        <p14:creationId xmlns:p14="http://schemas.microsoft.com/office/powerpoint/2010/main" val="1380345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kicker-6">
            <a:extLst>
              <a:ext uri="{FF2B5EF4-FFF2-40B4-BE49-F238E27FC236}">
                <a16:creationId xmlns:a16="http://schemas.microsoft.com/office/drawing/2014/main" id="{2591306F-91E2-4A7F-B6C4-8F99A3129BD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  /  CURRENT BOUNDARY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5EA7D3B4-4648-48F1-8FA3-1A8C4FFFDA76}"/>
              </a:ext>
            </a:extLst>
          </p:cNvPr>
          <p:cNvSpPr>
            <a:spLocks noGrp="1"/>
          </p:cNvSpPr>
          <p:nvPr/>
        </p:nvSpPr>
        <p:spPr>
          <a:xfrm>
            <a:off x="552450" y="6191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main limitations are evidence and applicability limits</a:t>
            </a:r>
          </a:p>
        </p:txBody>
      </p:sp>
      <p:sp>
        <p:nvSpPr>
          <p:cNvPr id="3" name="rule-6">
            <a:extLst>
              <a:ext uri="{FF2B5EF4-FFF2-40B4-BE49-F238E27FC236}">
                <a16:creationId xmlns:a16="http://schemas.microsoft.com/office/drawing/2014/main" id="{60F99683-5AE2-4F7F-A03F-42173A131BC6}"/>
              </a:ext>
            </a:extLst>
          </p:cNvPr>
          <p:cNvSpPr>
            <a:spLocks noGrp="1"/>
          </p:cNvSpPr>
          <p:nvPr/>
        </p:nvSpPr>
        <p:spPr>
          <a:xfrm>
            <a:off x="552450" y="1304925"/>
            <a:ext cx="110871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6">
            <a:extLst>
              <a:ext uri="{FF2B5EF4-FFF2-40B4-BE49-F238E27FC236}">
                <a16:creationId xmlns:a16="http://schemas.microsoft.com/office/drawing/2014/main" id="{98CF9899-9B0D-41EB-826D-3F7B1DD3EBBC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 approach stabilization  |  6</a:t>
            </a:r>
          </a:p>
        </p:txBody>
      </p:sp>
      <p:sp>
        <p:nvSpPr>
          <p:cNvPr id="5" name="&quot;auto-text-5&quot;">
            <a:extLst>
              <a:ext uri="{FF2B5EF4-FFF2-40B4-BE49-F238E27FC236}">
                <a16:creationId xmlns:a16="http://schemas.microsoft.com/office/drawing/2014/main" id="{890BEF2A-6914-474D-BB9D-75B709A7C3AA}"/>
              </a:ext>
            </a:extLst>
          </p:cNvPr>
          <p:cNvSpPr>
            <a:spLocks noGrp="1"/>
          </p:cNvSpPr>
          <p:nvPr/>
        </p:nvSpPr>
        <p:spPr>
          <a:xfrm>
            <a:off x="552450" y="16383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These are not hidden defects; they are the conditions that decide when the output deserves review.</a:t>
            </a:r>
          </a:p>
        </p:txBody>
      </p:sp>
      <p:sp>
        <p:nvSpPr>
          <p:cNvPr id="6" name="lim-head-0-box">
            <a:extLst>
              <a:ext uri="{FF2B5EF4-FFF2-40B4-BE49-F238E27FC236}">
                <a16:creationId xmlns:a16="http://schemas.microsoft.com/office/drawing/2014/main" id="{20816F68-9A52-42B8-AC1B-53AD14394D9C}"/>
              </a:ext>
            </a:extLst>
          </p:cNvPr>
          <p:cNvSpPr>
            <a:spLocks noGrp="1"/>
          </p:cNvSpPr>
          <p:nvPr/>
        </p:nvSpPr>
        <p:spPr>
          <a:xfrm>
            <a:off x="552450" y="2143125"/>
            <a:ext cx="20193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lim-head-0-text">
            <a:extLst>
              <a:ext uri="{FF2B5EF4-FFF2-40B4-BE49-F238E27FC236}">
                <a16:creationId xmlns:a16="http://schemas.microsoft.com/office/drawing/2014/main" id="{32DD342A-D240-4F88-8D94-EEF6D16ECF8C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8" name="lim-head-1-box">
            <a:extLst>
              <a:ext uri="{FF2B5EF4-FFF2-40B4-BE49-F238E27FC236}">
                <a16:creationId xmlns:a16="http://schemas.microsoft.com/office/drawing/2014/main" id="{37D6268F-9AA4-45D9-A6E2-6ED1241A0CA7}"/>
              </a:ext>
            </a:extLst>
          </p:cNvPr>
          <p:cNvSpPr>
            <a:spLocks noGrp="1"/>
          </p:cNvSpPr>
          <p:nvPr/>
        </p:nvSpPr>
        <p:spPr>
          <a:xfrm>
            <a:off x="2571750" y="2143125"/>
            <a:ext cx="40767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lim-head-1-text">
            <a:extLst>
              <a:ext uri="{FF2B5EF4-FFF2-40B4-BE49-F238E27FC236}">
                <a16:creationId xmlns:a16="http://schemas.microsoft.com/office/drawing/2014/main" id="{345B6DF6-EBC3-4CEF-A93A-E10A30D7B932}"/>
              </a:ext>
            </a:extLst>
          </p:cNvPr>
          <p:cNvSpPr>
            <a:spLocks noGrp="1"/>
          </p:cNvSpPr>
          <p:nvPr/>
        </p:nvSpPr>
        <p:spPr>
          <a:xfrm>
            <a:off x="2686050" y="2228850"/>
            <a:ext cx="384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10" name="lim-head-2-box">
            <a:extLst>
              <a:ext uri="{FF2B5EF4-FFF2-40B4-BE49-F238E27FC236}">
                <a16:creationId xmlns:a16="http://schemas.microsoft.com/office/drawing/2014/main" id="{0DCA0A00-CBF4-478F-9A50-63CA62E81CAD}"/>
              </a:ext>
            </a:extLst>
          </p:cNvPr>
          <p:cNvSpPr>
            <a:spLocks noGrp="1"/>
          </p:cNvSpPr>
          <p:nvPr/>
        </p:nvSpPr>
        <p:spPr>
          <a:xfrm>
            <a:off x="6648450" y="2143125"/>
            <a:ext cx="306705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im-head-2-text">
            <a:extLst>
              <a:ext uri="{FF2B5EF4-FFF2-40B4-BE49-F238E27FC236}">
                <a16:creationId xmlns:a16="http://schemas.microsoft.com/office/drawing/2014/main" id="{C2C90E49-8250-4B60-BB54-CC585B2108A7}"/>
              </a:ext>
            </a:extLst>
          </p:cNvPr>
          <p:cNvSpPr>
            <a:spLocks noGrp="1"/>
          </p:cNvSpPr>
          <p:nvPr/>
        </p:nvSpPr>
        <p:spPr>
          <a:xfrm>
            <a:off x="676275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Implication</a:t>
            </a:r>
          </a:p>
        </p:txBody>
      </p:sp>
      <p:sp>
        <p:nvSpPr>
          <p:cNvPr id="12" name="lim-0-0-box">
            <a:extLst>
              <a:ext uri="{FF2B5EF4-FFF2-40B4-BE49-F238E27FC236}">
                <a16:creationId xmlns:a16="http://schemas.microsoft.com/office/drawing/2014/main" id="{F8FFFD9F-0A3D-4A1D-9846-CC7727FCE2FF}"/>
              </a:ext>
            </a:extLst>
          </p:cNvPr>
          <p:cNvSpPr>
            <a:spLocks noGrp="1"/>
          </p:cNvSpPr>
          <p:nvPr/>
        </p:nvSpPr>
        <p:spPr>
          <a:xfrm>
            <a:off x="552450" y="2600325"/>
            <a:ext cx="2019300" cy="6381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im-0-0-text">
            <a:extLst>
              <a:ext uri="{FF2B5EF4-FFF2-40B4-BE49-F238E27FC236}">
                <a16:creationId xmlns:a16="http://schemas.microsoft.com/office/drawing/2014/main" id="{FDDCC978-3ECC-4463-B97F-2A3F73D14E6F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17907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Engine inputs</a:t>
            </a:r>
          </a:p>
        </p:txBody>
      </p:sp>
      <p:sp>
        <p:nvSpPr>
          <p:cNvPr id="14" name="lim-0-1-box">
            <a:extLst>
              <a:ext uri="{FF2B5EF4-FFF2-40B4-BE49-F238E27FC236}">
                <a16:creationId xmlns:a16="http://schemas.microsoft.com/office/drawing/2014/main" id="{7A6A506E-AE68-4BA1-960F-AB359CE5562B}"/>
              </a:ext>
            </a:extLst>
          </p:cNvPr>
          <p:cNvSpPr>
            <a:spLocks noGrp="1"/>
          </p:cNvSpPr>
          <p:nvPr/>
        </p:nvSpPr>
        <p:spPr>
          <a:xfrm>
            <a:off x="2571750" y="2600325"/>
            <a:ext cx="4076700" cy="6381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lim-0-1-text">
            <a:extLst>
              <a:ext uri="{FF2B5EF4-FFF2-40B4-BE49-F238E27FC236}">
                <a16:creationId xmlns:a16="http://schemas.microsoft.com/office/drawing/2014/main" id="{08ADEAE9-2E95-4051-9BB5-947CD940C684}"/>
              </a:ext>
            </a:extLst>
          </p:cNvPr>
          <p:cNvSpPr>
            <a:spLocks noGrp="1"/>
          </p:cNvSpPr>
          <p:nvPr/>
        </p:nvSpPr>
        <p:spPr>
          <a:xfrm>
            <a:off x="2686050" y="2686050"/>
            <a:ext cx="38481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Detailed mass-flow, nozzle, fan-map, and core data are optional.</a:t>
            </a:r>
          </a:p>
        </p:txBody>
      </p:sp>
      <p:sp>
        <p:nvSpPr>
          <p:cNvPr id="16" name="lim-0-2-box">
            <a:extLst>
              <a:ext uri="{FF2B5EF4-FFF2-40B4-BE49-F238E27FC236}">
                <a16:creationId xmlns:a16="http://schemas.microsoft.com/office/drawing/2014/main" id="{75BF77FB-1D64-45E0-AFB1-576FB33F9669}"/>
              </a:ext>
            </a:extLst>
          </p:cNvPr>
          <p:cNvSpPr>
            <a:spLocks noGrp="1"/>
          </p:cNvSpPr>
          <p:nvPr/>
        </p:nvSpPr>
        <p:spPr>
          <a:xfrm>
            <a:off x="6648450" y="2600325"/>
            <a:ext cx="3067050" cy="6381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lim-0-2-text">
            <a:extLst>
              <a:ext uri="{FF2B5EF4-FFF2-40B4-BE49-F238E27FC236}">
                <a16:creationId xmlns:a16="http://schemas.microsoft.com/office/drawing/2014/main" id="{395960BE-009A-41D9-B15C-6336F1E8EB7B}"/>
              </a:ext>
            </a:extLst>
          </p:cNvPr>
          <p:cNvSpPr>
            <a:spLocks noGrp="1"/>
          </p:cNvSpPr>
          <p:nvPr/>
        </p:nvSpPr>
        <p:spPr>
          <a:xfrm>
            <a:off x="6762750" y="2686050"/>
            <a:ext cx="28384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Fallbacks can dominate the result.</a:t>
            </a:r>
          </a:p>
        </p:txBody>
      </p:sp>
      <p:sp>
        <p:nvSpPr>
          <p:cNvPr id="18" name="lim-1-0-box">
            <a:extLst>
              <a:ext uri="{FF2B5EF4-FFF2-40B4-BE49-F238E27FC236}">
                <a16:creationId xmlns:a16="http://schemas.microsoft.com/office/drawing/2014/main" id="{E35F200A-2D56-425F-B571-67B9ECF73B44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2019300" cy="6381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lim-1-0-text">
            <a:extLst>
              <a:ext uri="{FF2B5EF4-FFF2-40B4-BE49-F238E27FC236}">
                <a16:creationId xmlns:a16="http://schemas.microsoft.com/office/drawing/2014/main" id="{A62736C6-43AA-48A1-BAA8-3489774ACE6B}"/>
              </a:ext>
            </a:extLst>
          </p:cNvPr>
          <p:cNvSpPr>
            <a:spLocks noGrp="1"/>
          </p:cNvSpPr>
          <p:nvPr/>
        </p:nvSpPr>
        <p:spPr>
          <a:xfrm>
            <a:off x="666750" y="3324225"/>
            <a:ext cx="17907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Geometry</a:t>
            </a:r>
          </a:p>
        </p:txBody>
      </p:sp>
      <p:sp>
        <p:nvSpPr>
          <p:cNvPr id="20" name="lim-1-1-box">
            <a:extLst>
              <a:ext uri="{FF2B5EF4-FFF2-40B4-BE49-F238E27FC236}">
                <a16:creationId xmlns:a16="http://schemas.microsoft.com/office/drawing/2014/main" id="{00AE35A0-5A0D-4F9C-92BD-ABDDE6FDECE7}"/>
              </a:ext>
            </a:extLst>
          </p:cNvPr>
          <p:cNvSpPr>
            <a:spLocks noGrp="1"/>
          </p:cNvSpPr>
          <p:nvPr/>
        </p:nvSpPr>
        <p:spPr>
          <a:xfrm>
            <a:off x="2571750" y="3238500"/>
            <a:ext cx="4076700" cy="6381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im-1-1-text">
            <a:extLst>
              <a:ext uri="{FF2B5EF4-FFF2-40B4-BE49-F238E27FC236}">
                <a16:creationId xmlns:a16="http://schemas.microsoft.com/office/drawing/2014/main" id="{B3EAD727-CDE9-4957-A7DB-06744AB0C5E1}"/>
              </a:ext>
            </a:extLst>
          </p:cNvPr>
          <p:cNvSpPr>
            <a:spLocks noGrp="1"/>
          </p:cNvSpPr>
          <p:nvPr/>
        </p:nvSpPr>
        <p:spPr>
          <a:xfrm>
            <a:off x="2686050" y="3324225"/>
            <a:ext cx="38481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Presets keep published span/BPR fields but estimate high-lift and strut geometry.</a:t>
            </a:r>
          </a:p>
        </p:txBody>
      </p:sp>
      <p:sp>
        <p:nvSpPr>
          <p:cNvPr id="22" name="lim-1-2-box">
            <a:extLst>
              <a:ext uri="{FF2B5EF4-FFF2-40B4-BE49-F238E27FC236}">
                <a16:creationId xmlns:a16="http://schemas.microsoft.com/office/drawing/2014/main" id="{7E34CD7D-1036-45D2-8F1B-202D690B6C59}"/>
              </a:ext>
            </a:extLst>
          </p:cNvPr>
          <p:cNvSpPr>
            <a:spLocks noGrp="1"/>
          </p:cNvSpPr>
          <p:nvPr/>
        </p:nvSpPr>
        <p:spPr>
          <a:xfrm>
            <a:off x="6648450" y="3238500"/>
            <a:ext cx="3067050" cy="6381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im-1-2-text">
            <a:extLst>
              <a:ext uri="{FF2B5EF4-FFF2-40B4-BE49-F238E27FC236}">
                <a16:creationId xmlns:a16="http://schemas.microsoft.com/office/drawing/2014/main" id="{33EC5D58-4F41-434E-A07B-A228C8D75EE9}"/>
              </a:ext>
            </a:extLst>
          </p:cNvPr>
          <p:cNvSpPr>
            <a:spLocks noGrp="1"/>
          </p:cNvSpPr>
          <p:nvPr/>
        </p:nvSpPr>
        <p:spPr>
          <a:xfrm>
            <a:off x="6762750" y="3324225"/>
            <a:ext cx="28384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Mechanism fidelity is uneven.</a:t>
            </a:r>
          </a:p>
        </p:txBody>
      </p:sp>
      <p:sp>
        <p:nvSpPr>
          <p:cNvPr id="24" name="lim-2-0-box">
            <a:extLst>
              <a:ext uri="{FF2B5EF4-FFF2-40B4-BE49-F238E27FC236}">
                <a16:creationId xmlns:a16="http://schemas.microsoft.com/office/drawing/2014/main" id="{83946F71-2BEA-4377-B116-E6D3C232F4E9}"/>
              </a:ext>
            </a:extLst>
          </p:cNvPr>
          <p:cNvSpPr>
            <a:spLocks noGrp="1"/>
          </p:cNvSpPr>
          <p:nvPr/>
        </p:nvSpPr>
        <p:spPr>
          <a:xfrm>
            <a:off x="552450" y="3876675"/>
            <a:ext cx="2019300" cy="6381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im-2-0-text">
            <a:extLst>
              <a:ext uri="{FF2B5EF4-FFF2-40B4-BE49-F238E27FC236}">
                <a16:creationId xmlns:a16="http://schemas.microsoft.com/office/drawing/2014/main" id="{1CC865A3-378A-4AC4-A46F-1D4DABC20C44}"/>
              </a:ext>
            </a:extLst>
          </p:cNvPr>
          <p:cNvSpPr>
            <a:spLocks noGrp="1"/>
          </p:cNvSpPr>
          <p:nvPr/>
        </p:nvSpPr>
        <p:spPr>
          <a:xfrm>
            <a:off x="666750" y="3962400"/>
            <a:ext cx="17907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Propagation</a:t>
            </a:r>
          </a:p>
        </p:txBody>
      </p:sp>
      <p:sp>
        <p:nvSpPr>
          <p:cNvPr id="26" name="lim-2-1-box">
            <a:extLst>
              <a:ext uri="{FF2B5EF4-FFF2-40B4-BE49-F238E27FC236}">
                <a16:creationId xmlns:a16="http://schemas.microsoft.com/office/drawing/2014/main" id="{1087E70B-BDB3-4F52-B9FB-90A0E306E4CF}"/>
              </a:ext>
            </a:extLst>
          </p:cNvPr>
          <p:cNvSpPr>
            <a:spLocks noGrp="1"/>
          </p:cNvSpPr>
          <p:nvPr/>
        </p:nvSpPr>
        <p:spPr>
          <a:xfrm>
            <a:off x="2571750" y="3876675"/>
            <a:ext cx="4076700" cy="6381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im-2-1-text">
            <a:extLst>
              <a:ext uri="{FF2B5EF4-FFF2-40B4-BE49-F238E27FC236}">
                <a16:creationId xmlns:a16="http://schemas.microsoft.com/office/drawing/2014/main" id="{F9849CF1-F7C2-4A6B-8E14-DD2BBF3C13BC}"/>
              </a:ext>
            </a:extLst>
          </p:cNvPr>
          <p:cNvSpPr>
            <a:spLocks noGrp="1"/>
          </p:cNvSpPr>
          <p:nvPr/>
        </p:nvSpPr>
        <p:spPr>
          <a:xfrm>
            <a:off x="2686050" y="3962400"/>
            <a:ext cx="38481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Free-field spreading plus atmospheric absorption only.</a:t>
            </a:r>
          </a:p>
        </p:txBody>
      </p:sp>
      <p:sp>
        <p:nvSpPr>
          <p:cNvPr id="28" name="lim-2-2-box">
            <a:extLst>
              <a:ext uri="{FF2B5EF4-FFF2-40B4-BE49-F238E27FC236}">
                <a16:creationId xmlns:a16="http://schemas.microsoft.com/office/drawing/2014/main" id="{698CB887-572C-48C0-9CDE-440F66E72FC4}"/>
              </a:ext>
            </a:extLst>
          </p:cNvPr>
          <p:cNvSpPr>
            <a:spLocks noGrp="1"/>
          </p:cNvSpPr>
          <p:nvPr/>
        </p:nvSpPr>
        <p:spPr>
          <a:xfrm>
            <a:off x="6648450" y="3876675"/>
            <a:ext cx="3067050" cy="6381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lim-2-2-text">
            <a:extLst>
              <a:ext uri="{FF2B5EF4-FFF2-40B4-BE49-F238E27FC236}">
                <a16:creationId xmlns:a16="http://schemas.microsoft.com/office/drawing/2014/main" id="{6CB510DD-BB85-4033-8906-ADB23FAD7DE2}"/>
              </a:ext>
            </a:extLst>
          </p:cNvPr>
          <p:cNvSpPr>
            <a:spLocks noGrp="1"/>
          </p:cNvSpPr>
          <p:nvPr/>
        </p:nvSpPr>
        <p:spPr>
          <a:xfrm>
            <a:off x="6762750" y="3962400"/>
            <a:ext cx="28384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Installation and terrain effects stay out.</a:t>
            </a:r>
          </a:p>
        </p:txBody>
      </p:sp>
      <p:sp>
        <p:nvSpPr>
          <p:cNvPr id="30" name="lim-3-0-box">
            <a:extLst>
              <a:ext uri="{FF2B5EF4-FFF2-40B4-BE49-F238E27FC236}">
                <a16:creationId xmlns:a16="http://schemas.microsoft.com/office/drawing/2014/main" id="{2ADDACFB-FB63-45B1-A6E4-7A3B61B2E40A}"/>
              </a:ext>
            </a:extLst>
          </p:cNvPr>
          <p:cNvSpPr>
            <a:spLocks noGrp="1"/>
          </p:cNvSpPr>
          <p:nvPr/>
        </p:nvSpPr>
        <p:spPr>
          <a:xfrm>
            <a:off x="552450" y="4514850"/>
            <a:ext cx="2019300" cy="6381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lim-3-0-text">
            <a:extLst>
              <a:ext uri="{FF2B5EF4-FFF2-40B4-BE49-F238E27FC236}">
                <a16:creationId xmlns:a16="http://schemas.microsoft.com/office/drawing/2014/main" id="{7AD78B2C-1211-4C00-8314-0975D99965B9}"/>
              </a:ext>
            </a:extLst>
          </p:cNvPr>
          <p:cNvSpPr>
            <a:spLocks noGrp="1"/>
          </p:cNvSpPr>
          <p:nvPr/>
        </p:nvSpPr>
        <p:spPr>
          <a:xfrm>
            <a:off x="666750" y="4600575"/>
            <a:ext cx="17907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32" name="lim-3-1-box">
            <a:extLst>
              <a:ext uri="{FF2B5EF4-FFF2-40B4-BE49-F238E27FC236}">
                <a16:creationId xmlns:a16="http://schemas.microsoft.com/office/drawing/2014/main" id="{4600F3A5-3015-4EBD-B7C8-AE22B55F47EE}"/>
              </a:ext>
            </a:extLst>
          </p:cNvPr>
          <p:cNvSpPr>
            <a:spLocks noGrp="1"/>
          </p:cNvSpPr>
          <p:nvPr/>
        </p:nvSpPr>
        <p:spPr>
          <a:xfrm>
            <a:off x="2571750" y="4514850"/>
            <a:ext cx="4076700" cy="6381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lim-3-1-text">
            <a:extLst>
              <a:ext uri="{FF2B5EF4-FFF2-40B4-BE49-F238E27FC236}">
                <a16:creationId xmlns:a16="http://schemas.microsoft.com/office/drawing/2014/main" id="{318B028F-2AB8-49AD-A931-6E8B117F7578}"/>
              </a:ext>
            </a:extLst>
          </p:cNvPr>
          <p:cNvSpPr>
            <a:spLocks noGrp="1"/>
          </p:cNvSpPr>
          <p:nvPr/>
        </p:nvSpPr>
        <p:spPr>
          <a:xfrm>
            <a:off x="2686050" y="4600575"/>
            <a:ext cx="38481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ANP fleet comparisons are system-level; component measurements are not yet a ledger.</a:t>
            </a:r>
          </a:p>
        </p:txBody>
      </p:sp>
      <p:sp>
        <p:nvSpPr>
          <p:cNvPr id="34" name="lim-3-2-box">
            <a:extLst>
              <a:ext uri="{FF2B5EF4-FFF2-40B4-BE49-F238E27FC236}">
                <a16:creationId xmlns:a16="http://schemas.microsoft.com/office/drawing/2014/main" id="{72E23AD5-12D4-4314-9A45-E0EB7281CEF5}"/>
              </a:ext>
            </a:extLst>
          </p:cNvPr>
          <p:cNvSpPr>
            <a:spLocks noGrp="1"/>
          </p:cNvSpPr>
          <p:nvPr/>
        </p:nvSpPr>
        <p:spPr>
          <a:xfrm>
            <a:off x="6648450" y="4514850"/>
            <a:ext cx="3067050" cy="6381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lim-3-2-text">
            <a:extLst>
              <a:ext uri="{FF2B5EF4-FFF2-40B4-BE49-F238E27FC236}">
                <a16:creationId xmlns:a16="http://schemas.microsoft.com/office/drawing/2014/main" id="{581E3079-7D4E-4135-84DC-7D9B01FADCA0}"/>
              </a:ext>
            </a:extLst>
          </p:cNvPr>
          <p:cNvSpPr>
            <a:spLocks noGrp="1"/>
          </p:cNvSpPr>
          <p:nvPr/>
        </p:nvSpPr>
        <p:spPr>
          <a:xfrm>
            <a:off x="6762750" y="4600575"/>
            <a:ext cx="28384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Agreement is not component proof.</a:t>
            </a:r>
          </a:p>
        </p:txBody>
      </p:sp>
      <p:sp>
        <p:nvSpPr>
          <p:cNvPr id="36" name="lim-4-0-box">
            <a:extLst>
              <a:ext uri="{FF2B5EF4-FFF2-40B4-BE49-F238E27FC236}">
                <a16:creationId xmlns:a16="http://schemas.microsoft.com/office/drawing/2014/main" id="{12803B4A-8396-4529-9D3E-C927CAD47C7E}"/>
              </a:ext>
            </a:extLst>
          </p:cNvPr>
          <p:cNvSpPr>
            <a:spLocks noGrp="1"/>
          </p:cNvSpPr>
          <p:nvPr/>
        </p:nvSpPr>
        <p:spPr>
          <a:xfrm>
            <a:off x="552450" y="5153025"/>
            <a:ext cx="2019300" cy="6381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lim-4-0-text">
            <a:extLst>
              <a:ext uri="{FF2B5EF4-FFF2-40B4-BE49-F238E27FC236}">
                <a16:creationId xmlns:a16="http://schemas.microsoft.com/office/drawing/2014/main" id="{B40DC647-5A55-46DC-8B6C-9D68C6BF1AC8}"/>
              </a:ext>
            </a:extLst>
          </p:cNvPr>
          <p:cNvSpPr>
            <a:spLocks noGrp="1"/>
          </p:cNvSpPr>
          <p:nvPr/>
        </p:nvSpPr>
        <p:spPr>
          <a:xfrm>
            <a:off x="666750" y="5238750"/>
            <a:ext cx="17907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38" name="lim-4-1-box">
            <a:extLst>
              <a:ext uri="{FF2B5EF4-FFF2-40B4-BE49-F238E27FC236}">
                <a16:creationId xmlns:a16="http://schemas.microsoft.com/office/drawing/2014/main" id="{71C320D9-A79C-482D-AFA8-666BECA6AD9E}"/>
              </a:ext>
            </a:extLst>
          </p:cNvPr>
          <p:cNvSpPr>
            <a:spLocks noGrp="1"/>
          </p:cNvSpPr>
          <p:nvPr/>
        </p:nvSpPr>
        <p:spPr>
          <a:xfrm>
            <a:off x="2571750" y="5153025"/>
            <a:ext cx="4076700" cy="6381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lim-4-1-text">
            <a:extLst>
              <a:ext uri="{FF2B5EF4-FFF2-40B4-BE49-F238E27FC236}">
                <a16:creationId xmlns:a16="http://schemas.microsoft.com/office/drawing/2014/main" id="{E9F3A7E8-BBF9-4802-9334-5DDDB694B34A}"/>
              </a:ext>
            </a:extLst>
          </p:cNvPr>
          <p:cNvSpPr>
            <a:spLocks noGrp="1"/>
          </p:cNvSpPr>
          <p:nvPr/>
        </p:nvSpPr>
        <p:spPr>
          <a:xfrm>
            <a:off x="2686050" y="5238750"/>
            <a:ext cx="38481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Tree spread and route disagreement are warning signals, not calibrated physics intervals.</a:t>
            </a:r>
          </a:p>
        </p:txBody>
      </p:sp>
      <p:sp>
        <p:nvSpPr>
          <p:cNvPr id="40" name="lim-4-2-box">
            <a:extLst>
              <a:ext uri="{FF2B5EF4-FFF2-40B4-BE49-F238E27FC236}">
                <a16:creationId xmlns:a16="http://schemas.microsoft.com/office/drawing/2014/main" id="{694BAEA4-1AF4-4142-B32C-F24BA263F0EF}"/>
              </a:ext>
            </a:extLst>
          </p:cNvPr>
          <p:cNvSpPr>
            <a:spLocks noGrp="1"/>
          </p:cNvSpPr>
          <p:nvPr/>
        </p:nvSpPr>
        <p:spPr>
          <a:xfrm>
            <a:off x="6648450" y="5153025"/>
            <a:ext cx="3067050" cy="6381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lim-4-2-text">
            <a:extLst>
              <a:ext uri="{FF2B5EF4-FFF2-40B4-BE49-F238E27FC236}">
                <a16:creationId xmlns:a16="http://schemas.microsoft.com/office/drawing/2014/main" id="{A2F71E4B-C6A5-41EA-AE18-0352E8AFD9F2}"/>
              </a:ext>
            </a:extLst>
          </p:cNvPr>
          <p:cNvSpPr>
            <a:spLocks noGrp="1"/>
          </p:cNvSpPr>
          <p:nvPr/>
        </p:nvSpPr>
        <p:spPr>
          <a:xfrm>
            <a:off x="6762750" y="5238750"/>
            <a:ext cx="28384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 not present them as confidence bounds.</a:t>
            </a:r>
          </a:p>
        </p:txBody>
      </p:sp>
    </p:spTree>
    <p:extLst>
      <p:ext uri="{BB962C8B-B14F-4D97-AF65-F5344CB8AC3E}">
        <p14:creationId xmlns:p14="http://schemas.microsoft.com/office/powerpoint/2010/main" val="219089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-7">
            <a:extLst>
              <a:ext uri="{FF2B5EF4-FFF2-40B4-BE49-F238E27FC236}">
                <a16:creationId xmlns:a16="http://schemas.microsoft.com/office/drawing/2014/main" id="{89AF615F-FFE1-42BD-86E7-38CEAD7802E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  /  CONTROL POINT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D6D454E5-4C6F-4490-BD39-5F980CBE916F}"/>
              </a:ext>
            </a:extLst>
          </p:cNvPr>
          <p:cNvSpPr>
            <a:spLocks noGrp="1"/>
          </p:cNvSpPr>
          <p:nvPr/>
        </p:nvSpPr>
        <p:spPr>
          <a:xfrm>
            <a:off x="552450" y="6191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urgent reproducibility gap is the word 'frozen'</a:t>
            </a:r>
          </a:p>
        </p:txBody>
      </p:sp>
      <p:sp>
        <p:nvSpPr>
          <p:cNvPr id="3" name="rule-7">
            <a:extLst>
              <a:ext uri="{FF2B5EF4-FFF2-40B4-BE49-F238E27FC236}">
                <a16:creationId xmlns:a16="http://schemas.microsoft.com/office/drawing/2014/main" id="{9497140E-3FAF-442F-BFF9-ABDD44F5C3FD}"/>
              </a:ext>
            </a:extLst>
          </p:cNvPr>
          <p:cNvSpPr>
            <a:spLocks noGrp="1"/>
          </p:cNvSpPr>
          <p:nvPr/>
        </p:nvSpPr>
        <p:spPr>
          <a:xfrm>
            <a:off x="552450" y="1304925"/>
            <a:ext cx="110871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7">
            <a:extLst>
              <a:ext uri="{FF2B5EF4-FFF2-40B4-BE49-F238E27FC236}">
                <a16:creationId xmlns:a16="http://schemas.microsoft.com/office/drawing/2014/main" id="{23B1ABAE-362B-47CF-9126-71ECD3ED56ED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 approach stabilization  |  7</a:t>
            </a:r>
          </a:p>
        </p:txBody>
      </p:sp>
      <p:sp>
        <p:nvSpPr>
          <p:cNvPr id="5" name="policy-box">
            <a:extLst>
              <a:ext uri="{FF2B5EF4-FFF2-40B4-BE49-F238E27FC236}">
                <a16:creationId xmlns:a16="http://schemas.microsoft.com/office/drawing/2014/main" id="{F518FFD2-33C8-496B-84BB-B35DD7056281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2857500" cy="1752600"/>
          </a:xfrm>
          <a:prstGeom prst="roundRect">
            <a:avLst>
              <a:gd name="adj" fmla="val 6522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olicy-label">
            <a:extLst>
              <a:ext uri="{FF2B5EF4-FFF2-40B4-BE49-F238E27FC236}">
                <a16:creationId xmlns:a16="http://schemas.microsoft.com/office/drawing/2014/main" id="{335A692B-DD7F-41FC-A078-715675E29DDA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7" name="policy-text">
            <a:extLst>
              <a:ext uri="{FF2B5EF4-FFF2-40B4-BE49-F238E27FC236}">
                <a16:creationId xmlns:a16="http://schemas.microsoft.com/office/drawing/2014/main" id="{70611A37-36C4-4BC6-970D-1E36BAC2F6B4}"/>
              </a:ext>
            </a:extLst>
          </p:cNvPr>
          <p:cNvSpPr>
            <a:spLocks noGrp="1"/>
          </p:cNvSpPr>
          <p:nvPr/>
        </p:nvSpPr>
        <p:spPr>
          <a:xfrm>
            <a:off x="1066800" y="2809875"/>
            <a:ext cx="2190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954"/>
          </a:bodyPr>
          <a:lstStyle/>
          <a:p>
            <a:pPr algn="ctr"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Calibrate once</a:t>
            </a:r>
          </a:p>
          <a:p>
            <a:pPr algn="ctr"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 A320-211</a:t>
            </a:r>
          </a:p>
          <a:p>
            <a:pPr algn="ctr"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then freeze</a:t>
            </a:r>
          </a:p>
        </p:txBody>
      </p:sp>
      <p:sp>
        <p:nvSpPr>
          <p:cNvPr id="8" name="runtime-box">
            <a:extLst>
              <a:ext uri="{FF2B5EF4-FFF2-40B4-BE49-F238E27FC236}">
                <a16:creationId xmlns:a16="http://schemas.microsoft.com/office/drawing/2014/main" id="{85DF8284-ADFD-43C8-8B81-CF8178C270B2}"/>
              </a:ext>
            </a:extLst>
          </p:cNvPr>
          <p:cNvSpPr>
            <a:spLocks noGrp="1"/>
          </p:cNvSpPr>
          <p:nvPr/>
        </p:nvSpPr>
        <p:spPr>
          <a:xfrm>
            <a:off x="4552950" y="2095500"/>
            <a:ext cx="3238500" cy="1752600"/>
          </a:xfrm>
          <a:prstGeom prst="roundRect">
            <a:avLst>
              <a:gd name="adj" fmla="val 6522"/>
            </a:avLst>
          </a:prstGeom>
          <a:solidFill>
            <a:srgbClr val="D8F1FF"/>
          </a:solidFill>
          <a:ln w="9525">
            <a:solidFill>
              <a:srgbClr val="D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untime-label">
            <a:extLst>
              <a:ext uri="{FF2B5EF4-FFF2-40B4-BE49-F238E27FC236}">
                <a16:creationId xmlns:a16="http://schemas.microsoft.com/office/drawing/2014/main" id="{1D22F27F-BBDB-4F76-ADED-02AA77DB0D01}"/>
              </a:ext>
            </a:extLst>
          </p:cNvPr>
          <p:cNvSpPr>
            <a:spLocks noGrp="1"/>
          </p:cNvSpPr>
          <p:nvPr/>
        </p:nvSpPr>
        <p:spPr>
          <a:xfrm>
            <a:off x="4876800" y="24003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CURRENT RUNTIME</a:t>
            </a:r>
          </a:p>
        </p:txBody>
      </p:sp>
      <p:sp>
        <p:nvSpPr>
          <p:cNvPr id="10" name="runtime-text">
            <a:extLst>
              <a:ext uri="{FF2B5EF4-FFF2-40B4-BE49-F238E27FC236}">
                <a16:creationId xmlns:a16="http://schemas.microsoft.com/office/drawing/2014/main" id="{4FC7F25A-3305-494E-8606-C6120367325E}"/>
              </a:ext>
            </a:extLst>
          </p:cNvPr>
          <p:cNvSpPr>
            <a:spLocks noGrp="1"/>
          </p:cNvSpPr>
          <p:nvPr/>
        </p:nvSpPr>
        <p:spPr>
          <a:xfrm>
            <a:off x="4876800" y="2809875"/>
            <a:ext cx="2571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954"/>
          </a:bodyPr>
          <a:lstStyle/>
          <a:p>
            <a:pPr algn="ctr"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First cross-check</a:t>
            </a:r>
          </a:p>
          <a:p>
            <a:pPr algn="ctr"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refits from the</a:t>
            </a:r>
          </a:p>
          <a:p>
            <a:pPr algn="ctr"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 database</a:t>
            </a:r>
          </a:p>
        </p:txBody>
      </p:sp>
      <p:cxnSp>
        <p:nvCxnSpPr>
          <p:cNvPr id="26" name="Straight Arrow Connector 25"/>
          <p:cNvCxnSpPr>
            <a:stCxn id="5" idx="3"/>
            <a:endCxn id="8" idx="1"/>
          </p:cNvCxnSpPr>
          <p:nvPr/>
        </p:nvCxnSpPr>
        <p:spPr>
          <a:xfrm>
            <a:off x="3600450" y="2971800"/>
            <a:ext cx="9525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  <a:headEnd type="arrow" w="med" len="med"/>
          </a:ln>
        </p:spPr>
      </p:cxnSp>
      <p:sp>
        <p:nvSpPr>
          <p:cNvPr id="12" name="artifact-box">
            <a:extLst>
              <a:ext uri="{FF2B5EF4-FFF2-40B4-BE49-F238E27FC236}">
                <a16:creationId xmlns:a16="http://schemas.microsoft.com/office/drawing/2014/main" id="{87F75F68-D4C3-48C2-86DC-EAF37CCF1DAD}"/>
              </a:ext>
            </a:extLst>
          </p:cNvPr>
          <p:cNvSpPr>
            <a:spLocks noGrp="1"/>
          </p:cNvSpPr>
          <p:nvPr/>
        </p:nvSpPr>
        <p:spPr>
          <a:xfrm>
            <a:off x="8553450" y="1943100"/>
            <a:ext cx="3048000" cy="24003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rtifact-title">
            <a:extLst>
              <a:ext uri="{FF2B5EF4-FFF2-40B4-BE49-F238E27FC236}">
                <a16:creationId xmlns:a16="http://schemas.microsoft.com/office/drawing/2014/main" id="{3CA108A2-833D-4E54-A949-CFD45AAF65C9}"/>
              </a:ext>
            </a:extLst>
          </p:cNvPr>
          <p:cNvSpPr>
            <a:spLocks noGrp="1"/>
          </p:cNvSpPr>
          <p:nvPr/>
        </p:nvSpPr>
        <p:spPr>
          <a:xfrm>
            <a:off x="8858250" y="22288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Stability artifact</a:t>
            </a:r>
          </a:p>
        </p:txBody>
      </p:sp>
      <p:sp>
        <p:nvSpPr>
          <p:cNvPr id="14" name="artifact-list">
            <a:extLst>
              <a:ext uri="{FF2B5EF4-FFF2-40B4-BE49-F238E27FC236}">
                <a16:creationId xmlns:a16="http://schemas.microsoft.com/office/drawing/2014/main" id="{9927C168-787F-4564-B710-9F595BE77ADE}"/>
              </a:ext>
            </a:extLst>
          </p:cNvPr>
          <p:cNvSpPr>
            <a:spLocks noGrp="1"/>
          </p:cNvSpPr>
          <p:nvPr/>
        </p:nvSpPr>
        <p:spPr>
          <a:xfrm>
            <a:off x="8858250" y="2724150"/>
            <a:ext cx="233362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| five fitted parameters</a:t>
            </a:r>
          </a:p>
          <a:p>
            <a:pPr algn="l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| A320-211 / BPR 6.0</a:t>
            </a:r>
          </a:p>
          <a:p>
            <a:pPr algn="l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| corpus and code fingerprints</a:t>
            </a:r>
          </a:p>
          <a:p>
            <a:pPr algn="l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| runtime + solver metadata</a:t>
            </a:r>
          </a:p>
          <a:p>
            <a:pPr algn="l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| canonical outputs + tolerances</a:t>
            </a:r>
          </a:p>
        </p:txBody>
      </p:sp>
      <p:sp>
        <p:nvSpPr>
          <p:cNvPr id="15" name="&quot;auto-text-6&quot;">
            <a:extLst>
              <a:ext uri="{FF2B5EF4-FFF2-40B4-BE49-F238E27FC236}">
                <a16:creationId xmlns:a16="http://schemas.microsoft.com/office/drawing/2014/main" id="{2DF5782D-4911-4837-9F50-0B5F93A72092}"/>
              </a:ext>
            </a:extLst>
          </p:cNvPr>
          <p:cNvSpPr>
            <a:spLocks noGrp="1"/>
          </p:cNvSpPr>
          <p:nvPr/>
        </p:nvSpPr>
        <p:spPr>
          <a:xfrm>
            <a:off x="1047750" y="4905375"/>
            <a:ext cx="981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two-month fix is provenance and repeatability, not another offset.</a:t>
            </a:r>
          </a:p>
        </p:txBody>
      </p:sp>
    </p:spTree>
    <p:extLst>
      <p:ext uri="{BB962C8B-B14F-4D97-AF65-F5344CB8AC3E}">
        <p14:creationId xmlns:p14="http://schemas.microsoft.com/office/powerpoint/2010/main" val="43639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kicker-8">
            <a:extLst>
              <a:ext uri="{FF2B5EF4-FFF2-40B4-BE49-F238E27FC236}">
                <a16:creationId xmlns:a16="http://schemas.microsoft.com/office/drawing/2014/main" id="{C8B5DFB3-69BB-486F-9BDF-02A7B94BA825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07  /  CONTROL POINT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D3C7404D-464E-4400-B2F8-E2C5EF0BE403}"/>
              </a:ext>
            </a:extLst>
          </p:cNvPr>
          <p:cNvSpPr>
            <a:spLocks noGrp="1"/>
          </p:cNvSpPr>
          <p:nvPr/>
        </p:nvSpPr>
        <p:spPr>
          <a:xfrm>
            <a:off x="552450" y="6191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applicability boundary must stay visible</a:t>
            </a:r>
          </a:p>
        </p:txBody>
      </p:sp>
      <p:sp>
        <p:nvSpPr>
          <p:cNvPr id="3" name="rule-8">
            <a:extLst>
              <a:ext uri="{FF2B5EF4-FFF2-40B4-BE49-F238E27FC236}">
                <a16:creationId xmlns:a16="http://schemas.microsoft.com/office/drawing/2014/main" id="{95992A2D-D681-4D39-A837-B9DFA996017A}"/>
              </a:ext>
            </a:extLst>
          </p:cNvPr>
          <p:cNvSpPr>
            <a:spLocks noGrp="1"/>
          </p:cNvSpPr>
          <p:nvPr/>
        </p:nvSpPr>
        <p:spPr>
          <a:xfrm>
            <a:off x="552450" y="1304925"/>
            <a:ext cx="110871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8">
            <a:extLst>
              <a:ext uri="{FF2B5EF4-FFF2-40B4-BE49-F238E27FC236}">
                <a16:creationId xmlns:a16="http://schemas.microsoft.com/office/drawing/2014/main" id="{F36A18F1-2E6E-4878-95CB-436B1452FCFB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 approach stabilization  |  8</a:t>
            </a:r>
          </a:p>
        </p:txBody>
      </p:sp>
      <p:sp>
        <p:nvSpPr>
          <p:cNvPr id="5" name="included-panel">
            <a:extLst>
              <a:ext uri="{FF2B5EF4-FFF2-40B4-BE49-F238E27FC236}">
                <a16:creationId xmlns:a16="http://schemas.microsoft.com/office/drawing/2014/main" id="{3E9B2B6B-0037-4658-A6B9-61DF6B29D645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4953000" cy="2952750"/>
          </a:xfrm>
          <a:prstGeom prst="roundRect">
            <a:avLst>
              <a:gd name="adj" fmla="val 3871"/>
            </a:avLst>
          </a:prstGeom>
          <a:solidFill>
            <a:srgbClr val="D8F1FF"/>
          </a:solidFill>
          <a:ln w="9525">
            <a:solidFill>
              <a:srgbClr val="D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included-title">
            <a:extLst>
              <a:ext uri="{FF2B5EF4-FFF2-40B4-BE49-F238E27FC236}">
                <a16:creationId xmlns:a16="http://schemas.microsoft.com/office/drawing/2014/main" id="{7A5BCFAE-C67F-47CA-ABAE-C1D81C759ADB}"/>
              </a:ext>
            </a:extLst>
          </p:cNvPr>
          <p:cNvSpPr>
            <a:spLocks noGrp="1"/>
          </p:cNvSpPr>
          <p:nvPr/>
        </p:nvSpPr>
        <p:spPr>
          <a:xfrm>
            <a:off x="895350" y="227647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Included baseline</a:t>
            </a:r>
          </a:p>
        </p:txBody>
      </p:sp>
      <p:sp>
        <p:nvSpPr>
          <p:cNvPr id="7" name="included-list">
            <a:extLst>
              <a:ext uri="{FF2B5EF4-FFF2-40B4-BE49-F238E27FC236}">
                <a16:creationId xmlns:a16="http://schemas.microsoft.com/office/drawing/2014/main" id="{9D5E30DC-CA35-47CF-A29A-34365CC2781D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3810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conventional subsonic conceptual screening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SEL and LAmax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SI-internal component physics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160 kt straight-level reference event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free-field spreading + atmospheric absorption</a:t>
            </a:r>
          </a:p>
        </p:txBody>
      </p:sp>
      <p:sp>
        <p:nvSpPr>
          <p:cNvPr id="8" name="excluded-panel">
            <a:extLst>
              <a:ext uri="{FF2B5EF4-FFF2-40B4-BE49-F238E27FC236}">
                <a16:creationId xmlns:a16="http://schemas.microsoft.com/office/drawing/2014/main" id="{42146A8B-3735-447D-8B28-1F1E1FC97EC0}"/>
              </a:ext>
            </a:extLst>
          </p:cNvPr>
          <p:cNvSpPr>
            <a:spLocks noGrp="1"/>
          </p:cNvSpPr>
          <p:nvPr/>
        </p:nvSpPr>
        <p:spPr>
          <a:xfrm>
            <a:off x="6705600" y="1952625"/>
            <a:ext cx="4953000" cy="2952750"/>
          </a:xfrm>
          <a:prstGeom prst="roundRect">
            <a:avLst>
              <a:gd name="adj" fmla="val 3871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xcluded-title">
            <a:extLst>
              <a:ext uri="{FF2B5EF4-FFF2-40B4-BE49-F238E27FC236}">
                <a16:creationId xmlns:a16="http://schemas.microsoft.com/office/drawing/2014/main" id="{8FF66949-8D98-4FA3-90D9-6BDBB9022E05}"/>
              </a:ext>
            </a:extLst>
          </p:cNvPr>
          <p:cNvSpPr>
            <a:spLocks noGrp="1"/>
          </p:cNvSpPr>
          <p:nvPr/>
        </p:nvSpPr>
        <p:spPr>
          <a:xfrm>
            <a:off x="7067550" y="227647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Explicitly excluded</a:t>
            </a:r>
          </a:p>
        </p:txBody>
      </p:sp>
      <p:sp>
        <p:nvSpPr>
          <p:cNvPr id="10" name="excluded-list">
            <a:extLst>
              <a:ext uri="{FF2B5EF4-FFF2-40B4-BE49-F238E27FC236}">
                <a16:creationId xmlns:a16="http://schemas.microsoft.com/office/drawing/2014/main" id="{7855DBC5-3A46-4F3C-8B5E-5EE412B1A54E}"/>
              </a:ext>
            </a:extLst>
          </p:cNvPr>
          <p:cNvSpPr>
            <a:spLocks noGrp="1"/>
          </p:cNvSpPr>
          <p:nvPr/>
        </p:nvSpPr>
        <p:spPr>
          <a:xfrm>
            <a:off x="7067550" y="2857500"/>
            <a:ext cx="3905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installation and shielding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nacelle treatment and suppression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ground reflection and terrain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lateral attenuation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non-uniform atmosphere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EPNL / PNLTM tone corrections</a:t>
            </a:r>
          </a:p>
        </p:txBody>
      </p:sp>
      <p:sp>
        <p:nvSpPr>
          <p:cNvPr id="11" name="&quot;auto-text-7&quot;">
            <a:extLst>
              <a:ext uri="{FF2B5EF4-FFF2-40B4-BE49-F238E27FC236}">
                <a16:creationId xmlns:a16="http://schemas.microsoft.com/office/drawing/2014/main" id="{61B25204-8FF2-4804-9D06-F9BFCF6333D3}"/>
              </a:ext>
            </a:extLst>
          </p:cNvPr>
          <p:cNvSpPr>
            <a:spLocks noGrp="1"/>
          </p:cNvSpPr>
          <p:nvPr/>
        </p:nvSpPr>
        <p:spPr>
          <a:xfrm>
            <a:off x="1123950" y="551497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 future mechanism earns a module only after it has a bounded input contract and evidence range.</a:t>
            </a:r>
          </a:p>
        </p:txBody>
      </p:sp>
    </p:spTree>
    <p:extLst>
      <p:ext uri="{BB962C8B-B14F-4D97-AF65-F5344CB8AC3E}">
        <p14:creationId xmlns:p14="http://schemas.microsoft.com/office/powerpoint/2010/main" val="738665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kicker-9">
            <a:extLst>
              <a:ext uri="{FF2B5EF4-FFF2-40B4-BE49-F238E27FC236}">
                <a16:creationId xmlns:a16="http://schemas.microsoft.com/office/drawing/2014/main" id="{01D79AEE-80E7-480A-9F52-E8A16E8C242B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08  /  EIGHT-WEEK PLAN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6D6BB79E-A0A2-456A-A531-DB0A27FC13DA}"/>
              </a:ext>
            </a:extLst>
          </p:cNvPr>
          <p:cNvSpPr>
            <a:spLocks noGrp="1"/>
          </p:cNvSpPr>
          <p:nvPr/>
        </p:nvSpPr>
        <p:spPr>
          <a:xfrm>
            <a:off x="552450" y="6191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Weeks 1-2: freeze the baseline before touching the physics</a:t>
            </a:r>
          </a:p>
        </p:txBody>
      </p:sp>
      <p:sp>
        <p:nvSpPr>
          <p:cNvPr id="3" name="rule-9">
            <a:extLst>
              <a:ext uri="{FF2B5EF4-FFF2-40B4-BE49-F238E27FC236}">
                <a16:creationId xmlns:a16="http://schemas.microsoft.com/office/drawing/2014/main" id="{F8DF2346-B71D-46ED-B844-4E6C76928155}"/>
              </a:ext>
            </a:extLst>
          </p:cNvPr>
          <p:cNvSpPr>
            <a:spLocks noGrp="1"/>
          </p:cNvSpPr>
          <p:nvPr/>
        </p:nvSpPr>
        <p:spPr>
          <a:xfrm>
            <a:off x="552450" y="1304925"/>
            <a:ext cx="110871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9">
            <a:extLst>
              <a:ext uri="{FF2B5EF4-FFF2-40B4-BE49-F238E27FC236}">
                <a16:creationId xmlns:a16="http://schemas.microsoft.com/office/drawing/2014/main" id="{3AD86767-31C1-475F-9A6C-163D15984C3C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 approach stabilization  |  9</a:t>
            </a:r>
          </a:p>
        </p:txBody>
      </p:sp>
      <p:sp>
        <p:nvSpPr>
          <p:cNvPr id="5" name="timeline-0">
            <a:extLst>
              <a:ext uri="{FF2B5EF4-FFF2-40B4-BE49-F238E27FC236}">
                <a16:creationId xmlns:a16="http://schemas.microsoft.com/office/drawing/2014/main" id="{01BCD68D-4CCD-434B-BD60-186914685B2E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1219200" cy="514350"/>
          </a:xfrm>
          <a:prstGeom prst="roundRect">
            <a:avLst>
              <a:gd name="adj" fmla="val 11111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imeline-label-0">
            <a:extLst>
              <a:ext uri="{FF2B5EF4-FFF2-40B4-BE49-F238E27FC236}">
                <a16:creationId xmlns:a16="http://schemas.microsoft.com/office/drawing/2014/main" id="{54DCEBC7-AA79-4AAB-9235-F3DADFC5145F}"/>
              </a:ext>
            </a:extLst>
          </p:cNvPr>
          <p:cNvSpPr>
            <a:spLocks noGrp="1"/>
          </p:cNvSpPr>
          <p:nvPr/>
        </p:nvSpPr>
        <p:spPr>
          <a:xfrm>
            <a:off x="838200" y="1743075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W1-2</a:t>
            </a:r>
          </a:p>
        </p:txBody>
      </p:sp>
      <p:sp>
        <p:nvSpPr>
          <p:cNvPr id="7" name="timeline-rule-0">
            <a:extLst>
              <a:ext uri="{FF2B5EF4-FFF2-40B4-BE49-F238E27FC236}">
                <a16:creationId xmlns:a16="http://schemas.microsoft.com/office/drawing/2014/main" id="{6CEF7CD3-0E14-42FD-BE3F-B0723FE15BC7}"/>
              </a:ext>
            </a:extLst>
          </p:cNvPr>
          <p:cNvSpPr>
            <a:spLocks noGrp="1"/>
          </p:cNvSpPr>
          <p:nvPr/>
        </p:nvSpPr>
        <p:spPr>
          <a:xfrm>
            <a:off x="1962150" y="1847850"/>
            <a:ext cx="9525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imeline-1">
            <a:extLst>
              <a:ext uri="{FF2B5EF4-FFF2-40B4-BE49-F238E27FC236}">
                <a16:creationId xmlns:a16="http://schemas.microsoft.com/office/drawing/2014/main" id="{01602DA9-67A5-4865-96EE-974339480E1F}"/>
              </a:ext>
            </a:extLst>
          </p:cNvPr>
          <p:cNvSpPr>
            <a:spLocks noGrp="1"/>
          </p:cNvSpPr>
          <p:nvPr/>
        </p:nvSpPr>
        <p:spPr>
          <a:xfrm>
            <a:off x="2057400" y="1600200"/>
            <a:ext cx="1219200" cy="514350"/>
          </a:xfrm>
          <a:prstGeom prst="roundRect">
            <a:avLst>
              <a:gd name="adj" fmla="val 11111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imeline-label-1">
            <a:extLst>
              <a:ext uri="{FF2B5EF4-FFF2-40B4-BE49-F238E27FC236}">
                <a16:creationId xmlns:a16="http://schemas.microsoft.com/office/drawing/2014/main" id="{A07A19F0-67F7-4118-AF4C-58ACAA7A6B0E}"/>
              </a:ext>
            </a:extLst>
          </p:cNvPr>
          <p:cNvSpPr>
            <a:spLocks noGrp="1"/>
          </p:cNvSpPr>
          <p:nvPr/>
        </p:nvSpPr>
        <p:spPr>
          <a:xfrm>
            <a:off x="2152650" y="1743075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W3-4</a:t>
            </a:r>
          </a:p>
        </p:txBody>
      </p:sp>
      <p:sp>
        <p:nvSpPr>
          <p:cNvPr id="10" name="timeline-rule-1">
            <a:extLst>
              <a:ext uri="{FF2B5EF4-FFF2-40B4-BE49-F238E27FC236}">
                <a16:creationId xmlns:a16="http://schemas.microsoft.com/office/drawing/2014/main" id="{E56FB5F7-691B-4DD6-A056-CDA52BCF2E7A}"/>
              </a:ext>
            </a:extLst>
          </p:cNvPr>
          <p:cNvSpPr>
            <a:spLocks noGrp="1"/>
          </p:cNvSpPr>
          <p:nvPr/>
        </p:nvSpPr>
        <p:spPr>
          <a:xfrm>
            <a:off x="3276600" y="1847850"/>
            <a:ext cx="9525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meline-2">
            <a:extLst>
              <a:ext uri="{FF2B5EF4-FFF2-40B4-BE49-F238E27FC236}">
                <a16:creationId xmlns:a16="http://schemas.microsoft.com/office/drawing/2014/main" id="{0B98DE62-9679-4A55-89DD-868A6705B490}"/>
              </a:ext>
            </a:extLst>
          </p:cNvPr>
          <p:cNvSpPr>
            <a:spLocks noGrp="1"/>
          </p:cNvSpPr>
          <p:nvPr/>
        </p:nvSpPr>
        <p:spPr>
          <a:xfrm>
            <a:off x="3371850" y="1600200"/>
            <a:ext cx="1219200" cy="514350"/>
          </a:xfrm>
          <a:prstGeom prst="roundRect">
            <a:avLst>
              <a:gd name="adj" fmla="val 11111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imeline-label-2">
            <a:extLst>
              <a:ext uri="{FF2B5EF4-FFF2-40B4-BE49-F238E27FC236}">
                <a16:creationId xmlns:a16="http://schemas.microsoft.com/office/drawing/2014/main" id="{F3AAFE83-6D99-4D10-BFFF-4372C9109DC0}"/>
              </a:ext>
            </a:extLst>
          </p:cNvPr>
          <p:cNvSpPr>
            <a:spLocks noGrp="1"/>
          </p:cNvSpPr>
          <p:nvPr/>
        </p:nvSpPr>
        <p:spPr>
          <a:xfrm>
            <a:off x="3467100" y="1743075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W5-6</a:t>
            </a:r>
          </a:p>
        </p:txBody>
      </p:sp>
      <p:sp>
        <p:nvSpPr>
          <p:cNvPr id="13" name="timeline-rule-2">
            <a:extLst>
              <a:ext uri="{FF2B5EF4-FFF2-40B4-BE49-F238E27FC236}">
                <a16:creationId xmlns:a16="http://schemas.microsoft.com/office/drawing/2014/main" id="{75D5B5C3-0A44-4F59-96EC-B1452413DF1F}"/>
              </a:ext>
            </a:extLst>
          </p:cNvPr>
          <p:cNvSpPr>
            <a:spLocks noGrp="1"/>
          </p:cNvSpPr>
          <p:nvPr/>
        </p:nvSpPr>
        <p:spPr>
          <a:xfrm>
            <a:off x="4591050" y="1847850"/>
            <a:ext cx="9525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imeline-3">
            <a:extLst>
              <a:ext uri="{FF2B5EF4-FFF2-40B4-BE49-F238E27FC236}">
                <a16:creationId xmlns:a16="http://schemas.microsoft.com/office/drawing/2014/main" id="{3C5245EF-6954-4B9C-ABC6-6CE80791EF3F}"/>
              </a:ext>
            </a:extLst>
          </p:cNvPr>
          <p:cNvSpPr>
            <a:spLocks noGrp="1"/>
          </p:cNvSpPr>
          <p:nvPr/>
        </p:nvSpPr>
        <p:spPr>
          <a:xfrm>
            <a:off x="4686300" y="1600200"/>
            <a:ext cx="1219200" cy="514350"/>
          </a:xfrm>
          <a:prstGeom prst="roundRect">
            <a:avLst>
              <a:gd name="adj" fmla="val 11111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imeline-label-3">
            <a:extLst>
              <a:ext uri="{FF2B5EF4-FFF2-40B4-BE49-F238E27FC236}">
                <a16:creationId xmlns:a16="http://schemas.microsoft.com/office/drawing/2014/main" id="{AEDD9685-F53F-4504-BB8B-A029E87466D1}"/>
              </a:ext>
            </a:extLst>
          </p:cNvPr>
          <p:cNvSpPr>
            <a:spLocks noGrp="1"/>
          </p:cNvSpPr>
          <p:nvPr/>
        </p:nvSpPr>
        <p:spPr>
          <a:xfrm>
            <a:off x="4781550" y="1743075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W7-8</a:t>
            </a:r>
          </a:p>
        </p:txBody>
      </p:sp>
      <p:sp>
        <p:nvSpPr>
          <p:cNvPr id="16" name="&quot;auto-text-8&quot;">
            <a:extLst>
              <a:ext uri="{FF2B5EF4-FFF2-40B4-BE49-F238E27FC236}">
                <a16:creationId xmlns:a16="http://schemas.microsoft.com/office/drawing/2014/main" id="{022F4A3D-B582-4BA9-B056-9DD1EC7005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Deliverable</a:t>
            </a:r>
          </a:p>
        </p:txBody>
      </p:sp>
      <p:sp>
        <p:nvSpPr>
          <p:cNvPr id="17" name="&quot;auto-text-9&quot;">
            <a:extLst>
              <a:ext uri="{FF2B5EF4-FFF2-40B4-BE49-F238E27FC236}">
                <a16:creationId xmlns:a16="http://schemas.microsoft.com/office/drawing/2014/main" id="{A5B62680-9DA3-4742-8D5C-57B382C6029E}"/>
              </a:ext>
            </a:extLst>
          </p:cNvPr>
          <p:cNvSpPr>
            <a:spLocks noGrp="1"/>
          </p:cNvSpPr>
          <p:nvPr/>
        </p:nvSpPr>
        <p:spPr>
          <a:xfrm>
            <a:off x="742950" y="304800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3"/>
          </a:bodyPr>
          <a:lstStyle/>
          <a:p>
            <a:pPr algn="l"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versioned calibration and canonical-output package that can be rerun without refitting.</a:t>
            </a:r>
          </a:p>
        </p:txBody>
      </p:sp>
      <p:sp>
        <p:nvSpPr>
          <p:cNvPr id="18" name="&quot;auto-text-10&quot;">
            <a:extLst>
              <a:ext uri="{FF2B5EF4-FFF2-40B4-BE49-F238E27FC236}">
                <a16:creationId xmlns:a16="http://schemas.microsoft.com/office/drawing/2014/main" id="{2AEE0338-C5BC-4A65-AE29-192B984624AF}"/>
              </a:ext>
            </a:extLst>
          </p:cNvPr>
          <p:cNvSpPr>
            <a:spLocks noGrp="1"/>
          </p:cNvSpPr>
          <p:nvPr/>
        </p:nvSpPr>
        <p:spPr>
          <a:xfrm>
            <a:off x="6667500" y="26670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19" name="w12-list">
            <a:extLst>
              <a:ext uri="{FF2B5EF4-FFF2-40B4-BE49-F238E27FC236}">
                <a16:creationId xmlns:a16="http://schemas.microsoft.com/office/drawing/2014/main" id="{4D7BEE3A-F8AB-4AD1-B749-C6B650E30E4E}"/>
              </a:ext>
            </a:extLst>
          </p:cNvPr>
          <p:cNvSpPr>
            <a:spLocks noGrp="1"/>
          </p:cNvSpPr>
          <p:nvPr/>
        </p:nvSpPr>
        <p:spPr>
          <a:xfrm>
            <a:off x="6667500" y="3067050"/>
            <a:ext cx="428625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C_jet, C_fan, C_wingflap, C_gear, f_scale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A320-211 / BPR 6.0 reference context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corpus, code, runtime, and solver fingerprints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departure + approach canonical cases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declared tolerance-equivalent output checks</a:t>
            </a:r>
          </a:p>
        </p:txBody>
      </p:sp>
      <p:sp>
        <p:nvSpPr>
          <p:cNvPr id="20" name="w12-gate">
            <a:extLst>
              <a:ext uri="{FF2B5EF4-FFF2-40B4-BE49-F238E27FC236}">
                <a16:creationId xmlns:a16="http://schemas.microsoft.com/office/drawing/2014/main" id="{CE546936-D136-46EE-BB6A-28E8120C4FDB}"/>
              </a:ext>
            </a:extLst>
          </p:cNvPr>
          <p:cNvSpPr>
            <a:spLocks noGrp="1"/>
          </p:cNvSpPr>
          <p:nvPr/>
        </p:nvSpPr>
        <p:spPr>
          <a:xfrm>
            <a:off x="742950" y="5143500"/>
            <a:ext cx="10191750" cy="590550"/>
          </a:xfrm>
          <a:prstGeom prst="roundRect">
            <a:avLst>
              <a:gd name="adj" fmla="val 12903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w12-gate-text">
            <a:extLst>
              <a:ext uri="{FF2B5EF4-FFF2-40B4-BE49-F238E27FC236}">
                <a16:creationId xmlns:a16="http://schemas.microsoft.com/office/drawing/2014/main" id="{617495DF-D4C0-4D7B-BB03-A40A8171CE11}"/>
              </a:ext>
            </a:extLst>
          </p:cNvPr>
          <p:cNvSpPr>
            <a:spLocks noGrp="1"/>
          </p:cNvSpPr>
          <p:nvPr/>
        </p:nvSpPr>
        <p:spPr>
          <a:xfrm>
            <a:off x="1009650" y="5305425"/>
            <a:ext cx="963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Gate: the same input and calibration context produce equivalent outputs, with no hidden runtime fit.</a:t>
            </a:r>
          </a:p>
        </p:txBody>
      </p:sp>
    </p:spTree>
    <p:extLst>
      <p:ext uri="{BB962C8B-B14F-4D97-AF65-F5344CB8AC3E}">
        <p14:creationId xmlns:p14="http://schemas.microsoft.com/office/powerpoint/2010/main" val="555832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kicker-10">
            <a:extLst>
              <a:ext uri="{FF2B5EF4-FFF2-40B4-BE49-F238E27FC236}">
                <a16:creationId xmlns:a16="http://schemas.microsoft.com/office/drawing/2014/main" id="{E25A02D8-69DC-4EFA-A7AD-BC67A300A6E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09  /  EIGHT-WEEK PLAN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F3D2BDF9-EA50-4F5B-B54F-B1DA7F8C86CE}"/>
              </a:ext>
            </a:extLst>
          </p:cNvPr>
          <p:cNvSpPr>
            <a:spLocks noGrp="1"/>
          </p:cNvSpPr>
          <p:nvPr/>
        </p:nvSpPr>
        <p:spPr>
          <a:xfrm>
            <a:off x="552450" y="6191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Weeks 3-4: define when the model is usable</a:t>
            </a:r>
          </a:p>
        </p:txBody>
      </p:sp>
      <p:sp>
        <p:nvSpPr>
          <p:cNvPr id="3" name="rule-10">
            <a:extLst>
              <a:ext uri="{FF2B5EF4-FFF2-40B4-BE49-F238E27FC236}">
                <a16:creationId xmlns:a16="http://schemas.microsoft.com/office/drawing/2014/main" id="{71FBB1FE-6151-45DE-B5B4-80D5D3E3BD1D}"/>
              </a:ext>
            </a:extLst>
          </p:cNvPr>
          <p:cNvSpPr>
            <a:spLocks noGrp="1"/>
          </p:cNvSpPr>
          <p:nvPr/>
        </p:nvSpPr>
        <p:spPr>
          <a:xfrm>
            <a:off x="552450" y="1304925"/>
            <a:ext cx="110871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10">
            <a:extLst>
              <a:ext uri="{FF2B5EF4-FFF2-40B4-BE49-F238E27FC236}">
                <a16:creationId xmlns:a16="http://schemas.microsoft.com/office/drawing/2014/main" id="{B9D17E20-A8A8-435A-A675-60351FF73B02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 approach stabilization  |  10</a:t>
            </a:r>
          </a:p>
        </p:txBody>
      </p:sp>
      <p:sp>
        <p:nvSpPr>
          <p:cNvPr id="5" name="timeline-0">
            <a:extLst>
              <a:ext uri="{FF2B5EF4-FFF2-40B4-BE49-F238E27FC236}">
                <a16:creationId xmlns:a16="http://schemas.microsoft.com/office/drawing/2014/main" id="{2B594A7B-535A-48DD-9C58-3FCB2D59888F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1219200" cy="514350"/>
          </a:xfrm>
          <a:prstGeom prst="roundRect">
            <a:avLst>
              <a:gd name="adj" fmla="val 11111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imeline-label-0">
            <a:extLst>
              <a:ext uri="{FF2B5EF4-FFF2-40B4-BE49-F238E27FC236}">
                <a16:creationId xmlns:a16="http://schemas.microsoft.com/office/drawing/2014/main" id="{564BB1F8-2524-432E-B0A9-00627CC999D0}"/>
              </a:ext>
            </a:extLst>
          </p:cNvPr>
          <p:cNvSpPr>
            <a:spLocks noGrp="1"/>
          </p:cNvSpPr>
          <p:nvPr/>
        </p:nvSpPr>
        <p:spPr>
          <a:xfrm>
            <a:off x="838200" y="1743075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W1-2</a:t>
            </a:r>
          </a:p>
        </p:txBody>
      </p:sp>
      <p:sp>
        <p:nvSpPr>
          <p:cNvPr id="7" name="timeline-rule-0">
            <a:extLst>
              <a:ext uri="{FF2B5EF4-FFF2-40B4-BE49-F238E27FC236}">
                <a16:creationId xmlns:a16="http://schemas.microsoft.com/office/drawing/2014/main" id="{54888A43-F3DB-4860-8D89-2C82BBC9351B}"/>
              </a:ext>
            </a:extLst>
          </p:cNvPr>
          <p:cNvSpPr>
            <a:spLocks noGrp="1"/>
          </p:cNvSpPr>
          <p:nvPr/>
        </p:nvSpPr>
        <p:spPr>
          <a:xfrm>
            <a:off x="1962150" y="1847850"/>
            <a:ext cx="9525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imeline-1">
            <a:extLst>
              <a:ext uri="{FF2B5EF4-FFF2-40B4-BE49-F238E27FC236}">
                <a16:creationId xmlns:a16="http://schemas.microsoft.com/office/drawing/2014/main" id="{5EDADB7D-45E2-49EE-ACFA-BA8E1D2735EE}"/>
              </a:ext>
            </a:extLst>
          </p:cNvPr>
          <p:cNvSpPr>
            <a:spLocks noGrp="1"/>
          </p:cNvSpPr>
          <p:nvPr/>
        </p:nvSpPr>
        <p:spPr>
          <a:xfrm>
            <a:off x="2057400" y="1600200"/>
            <a:ext cx="1219200" cy="514350"/>
          </a:xfrm>
          <a:prstGeom prst="roundRect">
            <a:avLst>
              <a:gd name="adj" fmla="val 11111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imeline-label-1">
            <a:extLst>
              <a:ext uri="{FF2B5EF4-FFF2-40B4-BE49-F238E27FC236}">
                <a16:creationId xmlns:a16="http://schemas.microsoft.com/office/drawing/2014/main" id="{4AA1205C-5A85-4CAA-9F69-975EFFD5EDB1}"/>
              </a:ext>
            </a:extLst>
          </p:cNvPr>
          <p:cNvSpPr>
            <a:spLocks noGrp="1"/>
          </p:cNvSpPr>
          <p:nvPr/>
        </p:nvSpPr>
        <p:spPr>
          <a:xfrm>
            <a:off x="2152650" y="1743075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W3-4</a:t>
            </a:r>
          </a:p>
        </p:txBody>
      </p:sp>
      <p:sp>
        <p:nvSpPr>
          <p:cNvPr id="10" name="timeline-rule-1">
            <a:extLst>
              <a:ext uri="{FF2B5EF4-FFF2-40B4-BE49-F238E27FC236}">
                <a16:creationId xmlns:a16="http://schemas.microsoft.com/office/drawing/2014/main" id="{61FC3756-8753-4F34-90EF-7BAAF65C246A}"/>
              </a:ext>
            </a:extLst>
          </p:cNvPr>
          <p:cNvSpPr>
            <a:spLocks noGrp="1"/>
          </p:cNvSpPr>
          <p:nvPr/>
        </p:nvSpPr>
        <p:spPr>
          <a:xfrm>
            <a:off x="3276600" y="1847850"/>
            <a:ext cx="9525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meline-2">
            <a:extLst>
              <a:ext uri="{FF2B5EF4-FFF2-40B4-BE49-F238E27FC236}">
                <a16:creationId xmlns:a16="http://schemas.microsoft.com/office/drawing/2014/main" id="{A0230730-37EE-4218-A915-C7B7EA83D18B}"/>
              </a:ext>
            </a:extLst>
          </p:cNvPr>
          <p:cNvSpPr>
            <a:spLocks noGrp="1"/>
          </p:cNvSpPr>
          <p:nvPr/>
        </p:nvSpPr>
        <p:spPr>
          <a:xfrm>
            <a:off x="3371850" y="1600200"/>
            <a:ext cx="1219200" cy="514350"/>
          </a:xfrm>
          <a:prstGeom prst="roundRect">
            <a:avLst>
              <a:gd name="adj" fmla="val 11111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imeline-label-2">
            <a:extLst>
              <a:ext uri="{FF2B5EF4-FFF2-40B4-BE49-F238E27FC236}">
                <a16:creationId xmlns:a16="http://schemas.microsoft.com/office/drawing/2014/main" id="{C1982809-D754-468A-A170-5DEFF3D0984A}"/>
              </a:ext>
            </a:extLst>
          </p:cNvPr>
          <p:cNvSpPr>
            <a:spLocks noGrp="1"/>
          </p:cNvSpPr>
          <p:nvPr/>
        </p:nvSpPr>
        <p:spPr>
          <a:xfrm>
            <a:off x="3467100" y="1743075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W5-6</a:t>
            </a:r>
          </a:p>
        </p:txBody>
      </p:sp>
      <p:sp>
        <p:nvSpPr>
          <p:cNvPr id="13" name="timeline-rule-2">
            <a:extLst>
              <a:ext uri="{FF2B5EF4-FFF2-40B4-BE49-F238E27FC236}">
                <a16:creationId xmlns:a16="http://schemas.microsoft.com/office/drawing/2014/main" id="{C0806132-A70B-41FD-A747-E98606F16661}"/>
              </a:ext>
            </a:extLst>
          </p:cNvPr>
          <p:cNvSpPr>
            <a:spLocks noGrp="1"/>
          </p:cNvSpPr>
          <p:nvPr/>
        </p:nvSpPr>
        <p:spPr>
          <a:xfrm>
            <a:off x="4591050" y="1847850"/>
            <a:ext cx="9525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imeline-3">
            <a:extLst>
              <a:ext uri="{FF2B5EF4-FFF2-40B4-BE49-F238E27FC236}">
                <a16:creationId xmlns:a16="http://schemas.microsoft.com/office/drawing/2014/main" id="{54587394-0E87-434D-94FA-603FEF82235F}"/>
              </a:ext>
            </a:extLst>
          </p:cNvPr>
          <p:cNvSpPr>
            <a:spLocks noGrp="1"/>
          </p:cNvSpPr>
          <p:nvPr/>
        </p:nvSpPr>
        <p:spPr>
          <a:xfrm>
            <a:off x="4686300" y="1600200"/>
            <a:ext cx="1219200" cy="514350"/>
          </a:xfrm>
          <a:prstGeom prst="roundRect">
            <a:avLst>
              <a:gd name="adj" fmla="val 11111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imeline-label-3">
            <a:extLst>
              <a:ext uri="{FF2B5EF4-FFF2-40B4-BE49-F238E27FC236}">
                <a16:creationId xmlns:a16="http://schemas.microsoft.com/office/drawing/2014/main" id="{4610CA6E-74F5-4D14-8D21-29A197F92E3A}"/>
              </a:ext>
            </a:extLst>
          </p:cNvPr>
          <p:cNvSpPr>
            <a:spLocks noGrp="1"/>
          </p:cNvSpPr>
          <p:nvPr/>
        </p:nvSpPr>
        <p:spPr>
          <a:xfrm>
            <a:off x="4781550" y="1743075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W7-8</a:t>
            </a:r>
          </a:p>
        </p:txBody>
      </p:sp>
      <p:sp>
        <p:nvSpPr>
          <p:cNvPr id="16" name="&quot;auto-text-11&quot;">
            <a:extLst>
              <a:ext uri="{FF2B5EF4-FFF2-40B4-BE49-F238E27FC236}">
                <a16:creationId xmlns:a16="http://schemas.microsoft.com/office/drawing/2014/main" id="{BCFE5C61-8863-4155-A4E2-1393B4FC8C2D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One applicability matrix</a:t>
            </a:r>
          </a:p>
        </p:txBody>
      </p:sp>
      <p:sp>
        <p:nvSpPr>
          <p:cNvPr id="17" name="app-h-0-box">
            <a:extLst>
              <a:ext uri="{FF2B5EF4-FFF2-40B4-BE49-F238E27FC236}">
                <a16:creationId xmlns:a16="http://schemas.microsoft.com/office/drawing/2014/main" id="{1FB46179-D749-49DB-8B73-55A2936C094F}"/>
              </a:ext>
            </a:extLst>
          </p:cNvPr>
          <p:cNvSpPr>
            <a:spLocks noGrp="1"/>
          </p:cNvSpPr>
          <p:nvPr/>
        </p:nvSpPr>
        <p:spPr>
          <a:xfrm>
            <a:off x="742950" y="3124200"/>
            <a:ext cx="2400300" cy="400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pp-h-0-text">
            <a:extLst>
              <a:ext uri="{FF2B5EF4-FFF2-40B4-BE49-F238E27FC236}">
                <a16:creationId xmlns:a16="http://schemas.microsoft.com/office/drawing/2014/main" id="{3B2BE948-A8E7-4560-83FA-DD342731A555}"/>
              </a:ext>
            </a:extLst>
          </p:cNvPr>
          <p:cNvSpPr>
            <a:spLocks noGrp="1"/>
          </p:cNvSpPr>
          <p:nvPr/>
        </p:nvSpPr>
        <p:spPr>
          <a:xfrm>
            <a:off x="857250" y="3209925"/>
            <a:ext cx="2171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/ path</a:t>
            </a:r>
          </a:p>
        </p:txBody>
      </p:sp>
      <p:sp>
        <p:nvSpPr>
          <p:cNvPr id="19" name="app-h-1-box">
            <a:extLst>
              <a:ext uri="{FF2B5EF4-FFF2-40B4-BE49-F238E27FC236}">
                <a16:creationId xmlns:a16="http://schemas.microsoft.com/office/drawing/2014/main" id="{919B686B-3C70-40D3-99FC-4A47831F5628}"/>
              </a:ext>
            </a:extLst>
          </p:cNvPr>
          <p:cNvSpPr>
            <a:spLocks noGrp="1"/>
          </p:cNvSpPr>
          <p:nvPr/>
        </p:nvSpPr>
        <p:spPr>
          <a:xfrm>
            <a:off x="3143250" y="3124200"/>
            <a:ext cx="2247900" cy="400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pp-h-1-text">
            <a:extLst>
              <a:ext uri="{FF2B5EF4-FFF2-40B4-BE49-F238E27FC236}">
                <a16:creationId xmlns:a16="http://schemas.microsoft.com/office/drawing/2014/main" id="{6502FC57-DF87-4C9B-BF36-622B5027FD02}"/>
              </a:ext>
            </a:extLst>
          </p:cNvPr>
          <p:cNvSpPr>
            <a:spLocks noGrp="1"/>
          </p:cNvSpPr>
          <p:nvPr/>
        </p:nvSpPr>
        <p:spPr>
          <a:xfrm>
            <a:off x="3257550" y="3209925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Supplied</a:t>
            </a:r>
          </a:p>
        </p:txBody>
      </p:sp>
      <p:sp>
        <p:nvSpPr>
          <p:cNvPr id="21" name="app-h-2-box">
            <a:extLst>
              <a:ext uri="{FF2B5EF4-FFF2-40B4-BE49-F238E27FC236}">
                <a16:creationId xmlns:a16="http://schemas.microsoft.com/office/drawing/2014/main" id="{F66B1DEE-8E82-4EE0-A1BF-03B098812C41}"/>
              </a:ext>
            </a:extLst>
          </p:cNvPr>
          <p:cNvSpPr>
            <a:spLocks noGrp="1"/>
          </p:cNvSpPr>
          <p:nvPr/>
        </p:nvSpPr>
        <p:spPr>
          <a:xfrm>
            <a:off x="5391150" y="3124200"/>
            <a:ext cx="2247900" cy="400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pp-h-2-text">
            <a:extLst>
              <a:ext uri="{FF2B5EF4-FFF2-40B4-BE49-F238E27FC236}">
                <a16:creationId xmlns:a16="http://schemas.microsoft.com/office/drawing/2014/main" id="{E290C214-1370-4031-A0CC-377DE429F3ED}"/>
              </a:ext>
            </a:extLst>
          </p:cNvPr>
          <p:cNvSpPr>
            <a:spLocks noGrp="1"/>
          </p:cNvSpPr>
          <p:nvPr/>
        </p:nvSpPr>
        <p:spPr>
          <a:xfrm>
            <a:off x="5505450" y="3209925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Estimated</a:t>
            </a:r>
          </a:p>
        </p:txBody>
      </p:sp>
      <p:sp>
        <p:nvSpPr>
          <p:cNvPr id="23" name="app-h-3-box">
            <a:extLst>
              <a:ext uri="{FF2B5EF4-FFF2-40B4-BE49-F238E27FC236}">
                <a16:creationId xmlns:a16="http://schemas.microsoft.com/office/drawing/2014/main" id="{65C44163-8F49-49B7-911F-DCA382F7A943}"/>
              </a:ext>
            </a:extLst>
          </p:cNvPr>
          <p:cNvSpPr>
            <a:spLocks noGrp="1"/>
          </p:cNvSpPr>
          <p:nvPr/>
        </p:nvSpPr>
        <p:spPr>
          <a:xfrm>
            <a:off x="7639050" y="3124200"/>
            <a:ext cx="2266950" cy="400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pp-h-3-text">
            <a:extLst>
              <a:ext uri="{FF2B5EF4-FFF2-40B4-BE49-F238E27FC236}">
                <a16:creationId xmlns:a16="http://schemas.microsoft.com/office/drawing/2014/main" id="{0313A627-57DC-455F-93A9-25623AAF5300}"/>
              </a:ext>
            </a:extLst>
          </p:cNvPr>
          <p:cNvSpPr>
            <a:spLocks noGrp="1"/>
          </p:cNvSpPr>
          <p:nvPr/>
        </p:nvSpPr>
        <p:spPr>
          <a:xfrm>
            <a:off x="7753350" y="320992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Unavailable</a:t>
            </a:r>
          </a:p>
        </p:txBody>
      </p:sp>
      <p:sp>
        <p:nvSpPr>
          <p:cNvPr id="25" name="app-1-0-box">
            <a:extLst>
              <a:ext uri="{FF2B5EF4-FFF2-40B4-BE49-F238E27FC236}">
                <a16:creationId xmlns:a16="http://schemas.microsoft.com/office/drawing/2014/main" id="{1EA4D770-9EBC-4FE6-9F92-EE5E5525DADD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2400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pp-1-0-text">
            <a:extLst>
              <a:ext uri="{FF2B5EF4-FFF2-40B4-BE49-F238E27FC236}">
                <a16:creationId xmlns:a16="http://schemas.microsoft.com/office/drawing/2014/main" id="{D4729302-5A71-4508-BD99-E13714C91BD5}"/>
              </a:ext>
            </a:extLst>
          </p:cNvPr>
          <p:cNvSpPr>
            <a:spLocks noGrp="1"/>
          </p:cNvSpPr>
          <p:nvPr/>
        </p:nvSpPr>
        <p:spPr>
          <a:xfrm>
            <a:off x="857250" y="36099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Jet / fan</a:t>
            </a:r>
          </a:p>
        </p:txBody>
      </p:sp>
      <p:sp>
        <p:nvSpPr>
          <p:cNvPr id="27" name="app-1-1-box">
            <a:extLst>
              <a:ext uri="{FF2B5EF4-FFF2-40B4-BE49-F238E27FC236}">
                <a16:creationId xmlns:a16="http://schemas.microsoft.com/office/drawing/2014/main" id="{23AFDD65-CEF3-449C-BBC7-04B247D4D880}"/>
              </a:ext>
            </a:extLst>
          </p:cNvPr>
          <p:cNvSpPr>
            <a:spLocks noGrp="1"/>
          </p:cNvSpPr>
          <p:nvPr/>
        </p:nvSpPr>
        <p:spPr>
          <a:xfrm>
            <a:off x="3143250" y="3524250"/>
            <a:ext cx="22479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pp-1-1-text">
            <a:extLst>
              <a:ext uri="{FF2B5EF4-FFF2-40B4-BE49-F238E27FC236}">
                <a16:creationId xmlns:a16="http://schemas.microsoft.com/office/drawing/2014/main" id="{724BB409-83AD-4539-992C-660B9F6C3313}"/>
              </a:ext>
            </a:extLst>
          </p:cNvPr>
          <p:cNvSpPr>
            <a:spLocks noGrp="1"/>
          </p:cNvSpPr>
          <p:nvPr/>
        </p:nvSpPr>
        <p:spPr>
          <a:xfrm>
            <a:off x="3257550" y="360997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deck gate passes</a:t>
            </a:r>
          </a:p>
        </p:txBody>
      </p:sp>
      <p:sp>
        <p:nvSpPr>
          <p:cNvPr id="29" name="app-1-2-box">
            <a:extLst>
              <a:ext uri="{FF2B5EF4-FFF2-40B4-BE49-F238E27FC236}">
                <a16:creationId xmlns:a16="http://schemas.microsoft.com/office/drawing/2014/main" id="{1E72694E-8B6F-4BC4-BDDE-73772475BE58}"/>
              </a:ext>
            </a:extLst>
          </p:cNvPr>
          <p:cNvSpPr>
            <a:spLocks noGrp="1"/>
          </p:cNvSpPr>
          <p:nvPr/>
        </p:nvSpPr>
        <p:spPr>
          <a:xfrm>
            <a:off x="5391150" y="3524250"/>
            <a:ext cx="22479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pp-1-2-text">
            <a:extLst>
              <a:ext uri="{FF2B5EF4-FFF2-40B4-BE49-F238E27FC236}">
                <a16:creationId xmlns:a16="http://schemas.microsoft.com/office/drawing/2014/main" id="{7A7F6E20-5C19-402B-AA01-20500895BCE5}"/>
              </a:ext>
            </a:extLst>
          </p:cNvPr>
          <p:cNvSpPr>
            <a:spLocks noGrp="1"/>
          </p:cNvSpPr>
          <p:nvPr/>
        </p:nvSpPr>
        <p:spPr>
          <a:xfrm>
            <a:off x="5505450" y="360997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fallback named</a:t>
            </a:r>
          </a:p>
        </p:txBody>
      </p:sp>
      <p:sp>
        <p:nvSpPr>
          <p:cNvPr id="31" name="app-1-3-box">
            <a:extLst>
              <a:ext uri="{FF2B5EF4-FFF2-40B4-BE49-F238E27FC236}">
                <a16:creationId xmlns:a16="http://schemas.microsoft.com/office/drawing/2014/main" id="{9D52F167-7734-490D-ABB8-65B3CC66E655}"/>
              </a:ext>
            </a:extLst>
          </p:cNvPr>
          <p:cNvSpPr>
            <a:spLocks noGrp="1"/>
          </p:cNvSpPr>
          <p:nvPr/>
        </p:nvSpPr>
        <p:spPr>
          <a:xfrm>
            <a:off x="7639050" y="3524250"/>
            <a:ext cx="22669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pp-1-3-text">
            <a:extLst>
              <a:ext uri="{FF2B5EF4-FFF2-40B4-BE49-F238E27FC236}">
                <a16:creationId xmlns:a16="http://schemas.microsoft.com/office/drawing/2014/main" id="{C6E83338-CD50-41B1-836A-D9043789E6C0}"/>
              </a:ext>
            </a:extLst>
          </p:cNvPr>
          <p:cNvSpPr>
            <a:spLocks noGrp="1"/>
          </p:cNvSpPr>
          <p:nvPr/>
        </p:nvSpPr>
        <p:spPr>
          <a:xfrm>
            <a:off x="7753350" y="360997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source claim</a:t>
            </a:r>
          </a:p>
        </p:txBody>
      </p:sp>
      <p:sp>
        <p:nvSpPr>
          <p:cNvPr id="33" name="app-2-0-box">
            <a:extLst>
              <a:ext uri="{FF2B5EF4-FFF2-40B4-BE49-F238E27FC236}">
                <a16:creationId xmlns:a16="http://schemas.microsoft.com/office/drawing/2014/main" id="{D227385B-3241-498D-B66B-1975124EF534}"/>
              </a:ext>
            </a:extLst>
          </p:cNvPr>
          <p:cNvSpPr>
            <a:spLocks noGrp="1"/>
          </p:cNvSpPr>
          <p:nvPr/>
        </p:nvSpPr>
        <p:spPr>
          <a:xfrm>
            <a:off x="742950" y="3981450"/>
            <a:ext cx="2400300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app-2-0-text">
            <a:extLst>
              <a:ext uri="{FF2B5EF4-FFF2-40B4-BE49-F238E27FC236}">
                <a16:creationId xmlns:a16="http://schemas.microsoft.com/office/drawing/2014/main" id="{17AF5628-F26F-459E-B21D-395A8B1FBEF7}"/>
              </a:ext>
            </a:extLst>
          </p:cNvPr>
          <p:cNvSpPr>
            <a:spLocks noGrp="1"/>
          </p:cNvSpPr>
          <p:nvPr/>
        </p:nvSpPr>
        <p:spPr>
          <a:xfrm>
            <a:off x="857250" y="40671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Airframe</a:t>
            </a:r>
          </a:p>
        </p:txBody>
      </p:sp>
      <p:sp>
        <p:nvSpPr>
          <p:cNvPr id="35" name="app-2-1-box">
            <a:extLst>
              <a:ext uri="{FF2B5EF4-FFF2-40B4-BE49-F238E27FC236}">
                <a16:creationId xmlns:a16="http://schemas.microsoft.com/office/drawing/2014/main" id="{B57187EE-4687-4917-8802-632485A0021B}"/>
              </a:ext>
            </a:extLst>
          </p:cNvPr>
          <p:cNvSpPr>
            <a:spLocks noGrp="1"/>
          </p:cNvSpPr>
          <p:nvPr/>
        </p:nvSpPr>
        <p:spPr>
          <a:xfrm>
            <a:off x="3143250" y="3981450"/>
            <a:ext cx="2247900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app-2-1-text">
            <a:extLst>
              <a:ext uri="{FF2B5EF4-FFF2-40B4-BE49-F238E27FC236}">
                <a16:creationId xmlns:a16="http://schemas.microsoft.com/office/drawing/2014/main" id="{C0BC5F14-4E70-4412-B981-5B87F868E1D1}"/>
              </a:ext>
            </a:extLst>
          </p:cNvPr>
          <p:cNvSpPr>
            <a:spLocks noGrp="1"/>
          </p:cNvSpPr>
          <p:nvPr/>
        </p:nvSpPr>
        <p:spPr>
          <a:xfrm>
            <a:off x="3257550" y="406717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typed geometry</a:t>
            </a:r>
          </a:p>
        </p:txBody>
      </p:sp>
      <p:sp>
        <p:nvSpPr>
          <p:cNvPr id="37" name="app-2-2-box">
            <a:extLst>
              <a:ext uri="{FF2B5EF4-FFF2-40B4-BE49-F238E27FC236}">
                <a16:creationId xmlns:a16="http://schemas.microsoft.com/office/drawing/2014/main" id="{41034B75-AE15-4D1C-9FC3-DCE00178D578}"/>
              </a:ext>
            </a:extLst>
          </p:cNvPr>
          <p:cNvSpPr>
            <a:spLocks noGrp="1"/>
          </p:cNvSpPr>
          <p:nvPr/>
        </p:nvSpPr>
        <p:spPr>
          <a:xfrm>
            <a:off x="5391150" y="3981450"/>
            <a:ext cx="2247900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app-2-2-text">
            <a:extLst>
              <a:ext uri="{FF2B5EF4-FFF2-40B4-BE49-F238E27FC236}">
                <a16:creationId xmlns:a16="http://schemas.microsoft.com/office/drawing/2014/main" id="{0D927AD5-B027-42C9-A0F8-C22BDE32B23C}"/>
              </a:ext>
            </a:extLst>
          </p:cNvPr>
          <p:cNvSpPr>
            <a:spLocks noGrp="1"/>
          </p:cNvSpPr>
          <p:nvPr/>
        </p:nvSpPr>
        <p:spPr>
          <a:xfrm>
            <a:off x="5505450" y="406717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preset estimate</a:t>
            </a:r>
          </a:p>
        </p:txBody>
      </p:sp>
      <p:sp>
        <p:nvSpPr>
          <p:cNvPr id="39" name="app-2-3-box">
            <a:extLst>
              <a:ext uri="{FF2B5EF4-FFF2-40B4-BE49-F238E27FC236}">
                <a16:creationId xmlns:a16="http://schemas.microsoft.com/office/drawing/2014/main" id="{7B6502E0-AEF4-4D12-94D4-8604DBCEFB79}"/>
              </a:ext>
            </a:extLst>
          </p:cNvPr>
          <p:cNvSpPr>
            <a:spLocks noGrp="1"/>
          </p:cNvSpPr>
          <p:nvPr/>
        </p:nvSpPr>
        <p:spPr>
          <a:xfrm>
            <a:off x="7639050" y="3981450"/>
            <a:ext cx="2266950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app-2-3-text">
            <a:extLst>
              <a:ext uri="{FF2B5EF4-FFF2-40B4-BE49-F238E27FC236}">
                <a16:creationId xmlns:a16="http://schemas.microsoft.com/office/drawing/2014/main" id="{85BD02EA-2DF6-4CA3-B32B-C3181CBB1675}"/>
              </a:ext>
            </a:extLst>
          </p:cNvPr>
          <p:cNvSpPr>
            <a:spLocks noGrp="1"/>
          </p:cNvSpPr>
          <p:nvPr/>
        </p:nvSpPr>
        <p:spPr>
          <a:xfrm>
            <a:off x="7753350" y="406717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review required</a:t>
            </a:r>
          </a:p>
        </p:txBody>
      </p:sp>
      <p:sp>
        <p:nvSpPr>
          <p:cNvPr id="41" name="app-3-0-box">
            <a:extLst>
              <a:ext uri="{FF2B5EF4-FFF2-40B4-BE49-F238E27FC236}">
                <a16:creationId xmlns:a16="http://schemas.microsoft.com/office/drawing/2014/main" id="{D09FD798-72B3-41A9-9AF6-02639477A7DD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2400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pp-3-0-text">
            <a:extLst>
              <a:ext uri="{FF2B5EF4-FFF2-40B4-BE49-F238E27FC236}">
                <a16:creationId xmlns:a16="http://schemas.microsoft.com/office/drawing/2014/main" id="{26B4DEAD-42FB-40ED-B762-9C5014A70523}"/>
              </a:ext>
            </a:extLst>
          </p:cNvPr>
          <p:cNvSpPr>
            <a:spLocks noGrp="1"/>
          </p:cNvSpPr>
          <p:nvPr/>
        </p:nvSpPr>
        <p:spPr>
          <a:xfrm>
            <a:off x="857250" y="45243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Atmosphere</a:t>
            </a:r>
          </a:p>
        </p:txBody>
      </p:sp>
      <p:sp>
        <p:nvSpPr>
          <p:cNvPr id="43" name="app-3-1-box">
            <a:extLst>
              <a:ext uri="{FF2B5EF4-FFF2-40B4-BE49-F238E27FC236}">
                <a16:creationId xmlns:a16="http://schemas.microsoft.com/office/drawing/2014/main" id="{9C259C46-EAF4-406F-9297-FCE68C19031D}"/>
              </a:ext>
            </a:extLst>
          </p:cNvPr>
          <p:cNvSpPr>
            <a:spLocks noGrp="1"/>
          </p:cNvSpPr>
          <p:nvPr/>
        </p:nvSpPr>
        <p:spPr>
          <a:xfrm>
            <a:off x="3143250" y="4438650"/>
            <a:ext cx="22479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app-3-1-text">
            <a:extLst>
              <a:ext uri="{FF2B5EF4-FFF2-40B4-BE49-F238E27FC236}">
                <a16:creationId xmlns:a16="http://schemas.microsoft.com/office/drawing/2014/main" id="{02D316CF-A3C8-4D90-9AAB-DDD42EF7DB9D}"/>
              </a:ext>
            </a:extLst>
          </p:cNvPr>
          <p:cNvSpPr>
            <a:spLocks noGrp="1"/>
          </p:cNvSpPr>
          <p:nvPr/>
        </p:nvSpPr>
        <p:spPr>
          <a:xfrm>
            <a:off x="3257550" y="452437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typed state</a:t>
            </a:r>
          </a:p>
        </p:txBody>
      </p:sp>
      <p:sp>
        <p:nvSpPr>
          <p:cNvPr id="45" name="app-3-2-box">
            <a:extLst>
              <a:ext uri="{FF2B5EF4-FFF2-40B4-BE49-F238E27FC236}">
                <a16:creationId xmlns:a16="http://schemas.microsoft.com/office/drawing/2014/main" id="{1E7BBE2A-9A38-4429-9A59-5AAE042C7656}"/>
              </a:ext>
            </a:extLst>
          </p:cNvPr>
          <p:cNvSpPr>
            <a:spLocks noGrp="1"/>
          </p:cNvSpPr>
          <p:nvPr/>
        </p:nvSpPr>
        <p:spPr>
          <a:xfrm>
            <a:off x="5391150" y="4438650"/>
            <a:ext cx="22479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app-3-2-text">
            <a:extLst>
              <a:ext uri="{FF2B5EF4-FFF2-40B4-BE49-F238E27FC236}">
                <a16:creationId xmlns:a16="http://schemas.microsoft.com/office/drawing/2014/main" id="{D5389706-FEDB-40A3-AF6A-E5D2DCB53244}"/>
              </a:ext>
            </a:extLst>
          </p:cNvPr>
          <p:cNvSpPr>
            <a:spLocks noGrp="1"/>
          </p:cNvSpPr>
          <p:nvPr/>
        </p:nvSpPr>
        <p:spPr>
          <a:xfrm>
            <a:off x="5505450" y="452437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standard default</a:t>
            </a:r>
          </a:p>
        </p:txBody>
      </p:sp>
      <p:sp>
        <p:nvSpPr>
          <p:cNvPr id="47" name="app-3-3-box">
            <a:extLst>
              <a:ext uri="{FF2B5EF4-FFF2-40B4-BE49-F238E27FC236}">
                <a16:creationId xmlns:a16="http://schemas.microsoft.com/office/drawing/2014/main" id="{5804634B-2F42-463E-9B10-DAAA34C8409D}"/>
              </a:ext>
            </a:extLst>
          </p:cNvPr>
          <p:cNvSpPr>
            <a:spLocks noGrp="1"/>
          </p:cNvSpPr>
          <p:nvPr/>
        </p:nvSpPr>
        <p:spPr>
          <a:xfrm>
            <a:off x="7639050" y="4438650"/>
            <a:ext cx="22669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app-3-3-text">
            <a:extLst>
              <a:ext uri="{FF2B5EF4-FFF2-40B4-BE49-F238E27FC236}">
                <a16:creationId xmlns:a16="http://schemas.microsoft.com/office/drawing/2014/main" id="{2B2D6291-AABC-47D6-B3B6-842A2167A16D}"/>
              </a:ext>
            </a:extLst>
          </p:cNvPr>
          <p:cNvSpPr>
            <a:spLocks noGrp="1"/>
          </p:cNvSpPr>
          <p:nvPr/>
        </p:nvSpPr>
        <p:spPr>
          <a:xfrm>
            <a:off x="7753350" y="452437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outside validity</a:t>
            </a:r>
          </a:p>
        </p:txBody>
      </p:sp>
      <p:sp>
        <p:nvSpPr>
          <p:cNvPr id="49" name="app-4-0-box">
            <a:extLst>
              <a:ext uri="{FF2B5EF4-FFF2-40B4-BE49-F238E27FC236}">
                <a16:creationId xmlns:a16="http://schemas.microsoft.com/office/drawing/2014/main" id="{864DCAD0-A897-4B89-BF1A-A904419754A0}"/>
              </a:ext>
            </a:extLst>
          </p:cNvPr>
          <p:cNvSpPr>
            <a:spLocks noGrp="1"/>
          </p:cNvSpPr>
          <p:nvPr/>
        </p:nvSpPr>
        <p:spPr>
          <a:xfrm>
            <a:off x="742950" y="4895850"/>
            <a:ext cx="2400300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app-4-0-text">
            <a:extLst>
              <a:ext uri="{FF2B5EF4-FFF2-40B4-BE49-F238E27FC236}">
                <a16:creationId xmlns:a16="http://schemas.microsoft.com/office/drawing/2014/main" id="{E0728967-324F-4643-BFE4-CFACB0FAF587}"/>
              </a:ext>
            </a:extLst>
          </p:cNvPr>
          <p:cNvSpPr>
            <a:spLocks noGrp="1"/>
          </p:cNvSpPr>
          <p:nvPr/>
        </p:nvSpPr>
        <p:spPr>
          <a:xfrm>
            <a:off x="857250" y="49815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Trajectory</a:t>
            </a:r>
          </a:p>
        </p:txBody>
      </p:sp>
      <p:sp>
        <p:nvSpPr>
          <p:cNvPr id="51" name="app-4-1-box">
            <a:extLst>
              <a:ext uri="{FF2B5EF4-FFF2-40B4-BE49-F238E27FC236}">
                <a16:creationId xmlns:a16="http://schemas.microsoft.com/office/drawing/2014/main" id="{DCD1DB6A-AD6C-4B88-859D-01C912DF4168}"/>
              </a:ext>
            </a:extLst>
          </p:cNvPr>
          <p:cNvSpPr>
            <a:spLocks noGrp="1"/>
          </p:cNvSpPr>
          <p:nvPr/>
        </p:nvSpPr>
        <p:spPr>
          <a:xfrm>
            <a:off x="3143250" y="4895850"/>
            <a:ext cx="2247900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app-4-1-text">
            <a:extLst>
              <a:ext uri="{FF2B5EF4-FFF2-40B4-BE49-F238E27FC236}">
                <a16:creationId xmlns:a16="http://schemas.microsoft.com/office/drawing/2014/main" id="{EA4D6AD2-32D8-4581-852B-4C5DA206ED4F}"/>
              </a:ext>
            </a:extLst>
          </p:cNvPr>
          <p:cNvSpPr>
            <a:spLocks noGrp="1"/>
          </p:cNvSpPr>
          <p:nvPr/>
        </p:nvSpPr>
        <p:spPr>
          <a:xfrm>
            <a:off x="3257550" y="498157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segment state</a:t>
            </a:r>
          </a:p>
        </p:txBody>
      </p:sp>
      <p:sp>
        <p:nvSpPr>
          <p:cNvPr id="53" name="app-4-2-box">
            <a:extLst>
              <a:ext uri="{FF2B5EF4-FFF2-40B4-BE49-F238E27FC236}">
                <a16:creationId xmlns:a16="http://schemas.microsoft.com/office/drawing/2014/main" id="{AC8EA9C1-7392-4645-9C2B-E8F17ADA53D6}"/>
              </a:ext>
            </a:extLst>
          </p:cNvPr>
          <p:cNvSpPr>
            <a:spLocks noGrp="1"/>
          </p:cNvSpPr>
          <p:nvPr/>
        </p:nvSpPr>
        <p:spPr>
          <a:xfrm>
            <a:off x="5391150" y="4895850"/>
            <a:ext cx="2247900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app-4-2-text">
            <a:extLst>
              <a:ext uri="{FF2B5EF4-FFF2-40B4-BE49-F238E27FC236}">
                <a16:creationId xmlns:a16="http://schemas.microsoft.com/office/drawing/2014/main" id="{927F6E71-179F-49C8-8DD3-F50F22AE097B}"/>
              </a:ext>
            </a:extLst>
          </p:cNvPr>
          <p:cNvSpPr>
            <a:spLocks noGrp="1"/>
          </p:cNvSpPr>
          <p:nvPr/>
        </p:nvSpPr>
        <p:spPr>
          <a:xfrm>
            <a:off x="5505450" y="498157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reference event</a:t>
            </a:r>
          </a:p>
        </p:txBody>
      </p:sp>
      <p:sp>
        <p:nvSpPr>
          <p:cNvPr id="55" name="app-4-3-box">
            <a:extLst>
              <a:ext uri="{FF2B5EF4-FFF2-40B4-BE49-F238E27FC236}">
                <a16:creationId xmlns:a16="http://schemas.microsoft.com/office/drawing/2014/main" id="{DCB76600-9AFB-46E8-AF36-AAAD94C396BA}"/>
              </a:ext>
            </a:extLst>
          </p:cNvPr>
          <p:cNvSpPr>
            <a:spLocks noGrp="1"/>
          </p:cNvSpPr>
          <p:nvPr/>
        </p:nvSpPr>
        <p:spPr>
          <a:xfrm>
            <a:off x="7639050" y="4895850"/>
            <a:ext cx="2266950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app-4-3-text">
            <a:extLst>
              <a:ext uri="{FF2B5EF4-FFF2-40B4-BE49-F238E27FC236}">
                <a16:creationId xmlns:a16="http://schemas.microsoft.com/office/drawing/2014/main" id="{1CC71AA8-4C53-41A1-8A6A-5E37D75AF66E}"/>
              </a:ext>
            </a:extLst>
          </p:cNvPr>
          <p:cNvSpPr>
            <a:spLocks noGrp="1"/>
          </p:cNvSpPr>
          <p:nvPr/>
        </p:nvSpPr>
        <p:spPr>
          <a:xfrm>
            <a:off x="7753350" y="498157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 not infer</a:t>
            </a:r>
          </a:p>
        </p:txBody>
      </p:sp>
      <p:sp>
        <p:nvSpPr>
          <p:cNvPr id="57" name="&quot;auto-text-12&quot;">
            <a:extLst>
              <a:ext uri="{FF2B5EF4-FFF2-40B4-BE49-F238E27FC236}">
                <a16:creationId xmlns:a16="http://schemas.microsoft.com/office/drawing/2014/main" id="{4ADBF9FE-6F99-4A10-830C-D6901A7A8555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Gate: every result reports what was supplied, estimated, unavailable, or excluded.</a:t>
            </a:r>
          </a:p>
        </p:txBody>
      </p:sp>
    </p:spTree>
    <p:extLst>
      <p:ext uri="{BB962C8B-B14F-4D97-AF65-F5344CB8AC3E}">
        <p14:creationId xmlns:p14="http://schemas.microsoft.com/office/powerpoint/2010/main" val="1470384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-11">
            <a:extLst>
              <a:ext uri="{FF2B5EF4-FFF2-40B4-BE49-F238E27FC236}">
                <a16:creationId xmlns:a16="http://schemas.microsoft.com/office/drawing/2014/main" id="{2041860E-75B6-4C37-9A91-3989BC656DC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10  /  EIGHT-WEEK PLAN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185AC743-8A18-4226-A850-AEB3CA2711DE}"/>
              </a:ext>
            </a:extLst>
          </p:cNvPr>
          <p:cNvSpPr>
            <a:spLocks noGrp="1"/>
          </p:cNvSpPr>
          <p:nvPr/>
        </p:nvSpPr>
        <p:spPr>
          <a:xfrm>
            <a:off x="552450" y="6191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Weeks 5-6: organize validation and uncertainty</a:t>
            </a:r>
          </a:p>
        </p:txBody>
      </p:sp>
      <p:sp>
        <p:nvSpPr>
          <p:cNvPr id="3" name="rule-11">
            <a:extLst>
              <a:ext uri="{FF2B5EF4-FFF2-40B4-BE49-F238E27FC236}">
                <a16:creationId xmlns:a16="http://schemas.microsoft.com/office/drawing/2014/main" id="{7868531C-19E7-47B1-9246-68B0798D12D2}"/>
              </a:ext>
            </a:extLst>
          </p:cNvPr>
          <p:cNvSpPr>
            <a:spLocks noGrp="1"/>
          </p:cNvSpPr>
          <p:nvPr/>
        </p:nvSpPr>
        <p:spPr>
          <a:xfrm>
            <a:off x="552450" y="1304925"/>
            <a:ext cx="110871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11">
            <a:extLst>
              <a:ext uri="{FF2B5EF4-FFF2-40B4-BE49-F238E27FC236}">
                <a16:creationId xmlns:a16="http://schemas.microsoft.com/office/drawing/2014/main" id="{B920BEE9-4DB0-4E6A-A4DF-7010B5029B6E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 approach stabilization  |  11</a:t>
            </a:r>
          </a:p>
        </p:txBody>
      </p:sp>
      <p:sp>
        <p:nvSpPr>
          <p:cNvPr id="5" name="timeline-0">
            <a:extLst>
              <a:ext uri="{FF2B5EF4-FFF2-40B4-BE49-F238E27FC236}">
                <a16:creationId xmlns:a16="http://schemas.microsoft.com/office/drawing/2014/main" id="{992BD313-DDB8-42BC-8D67-468E613737EB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1219200" cy="514350"/>
          </a:xfrm>
          <a:prstGeom prst="roundRect">
            <a:avLst>
              <a:gd name="adj" fmla="val 11111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imeline-label-0">
            <a:extLst>
              <a:ext uri="{FF2B5EF4-FFF2-40B4-BE49-F238E27FC236}">
                <a16:creationId xmlns:a16="http://schemas.microsoft.com/office/drawing/2014/main" id="{EA82C239-7E90-4079-A877-FA33A4C1A9F5}"/>
              </a:ext>
            </a:extLst>
          </p:cNvPr>
          <p:cNvSpPr>
            <a:spLocks noGrp="1"/>
          </p:cNvSpPr>
          <p:nvPr/>
        </p:nvSpPr>
        <p:spPr>
          <a:xfrm>
            <a:off x="838200" y="1743075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W1-2</a:t>
            </a:r>
          </a:p>
        </p:txBody>
      </p:sp>
      <p:sp>
        <p:nvSpPr>
          <p:cNvPr id="7" name="timeline-rule-0">
            <a:extLst>
              <a:ext uri="{FF2B5EF4-FFF2-40B4-BE49-F238E27FC236}">
                <a16:creationId xmlns:a16="http://schemas.microsoft.com/office/drawing/2014/main" id="{0873C64B-760D-4E81-BA70-2274376DFA13}"/>
              </a:ext>
            </a:extLst>
          </p:cNvPr>
          <p:cNvSpPr>
            <a:spLocks noGrp="1"/>
          </p:cNvSpPr>
          <p:nvPr/>
        </p:nvSpPr>
        <p:spPr>
          <a:xfrm>
            <a:off x="1962150" y="1847850"/>
            <a:ext cx="9525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imeline-1">
            <a:extLst>
              <a:ext uri="{FF2B5EF4-FFF2-40B4-BE49-F238E27FC236}">
                <a16:creationId xmlns:a16="http://schemas.microsoft.com/office/drawing/2014/main" id="{A58E2323-341A-4E91-8649-337BE815691B}"/>
              </a:ext>
            </a:extLst>
          </p:cNvPr>
          <p:cNvSpPr>
            <a:spLocks noGrp="1"/>
          </p:cNvSpPr>
          <p:nvPr/>
        </p:nvSpPr>
        <p:spPr>
          <a:xfrm>
            <a:off x="2057400" y="1600200"/>
            <a:ext cx="1219200" cy="514350"/>
          </a:xfrm>
          <a:prstGeom prst="roundRect">
            <a:avLst>
              <a:gd name="adj" fmla="val 11111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imeline-label-1">
            <a:extLst>
              <a:ext uri="{FF2B5EF4-FFF2-40B4-BE49-F238E27FC236}">
                <a16:creationId xmlns:a16="http://schemas.microsoft.com/office/drawing/2014/main" id="{B3FE306B-4E3A-4EF1-AE9A-BE0D39BB4277}"/>
              </a:ext>
            </a:extLst>
          </p:cNvPr>
          <p:cNvSpPr>
            <a:spLocks noGrp="1"/>
          </p:cNvSpPr>
          <p:nvPr/>
        </p:nvSpPr>
        <p:spPr>
          <a:xfrm>
            <a:off x="2152650" y="1743075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W3-4</a:t>
            </a:r>
          </a:p>
        </p:txBody>
      </p:sp>
      <p:sp>
        <p:nvSpPr>
          <p:cNvPr id="10" name="timeline-rule-1">
            <a:extLst>
              <a:ext uri="{FF2B5EF4-FFF2-40B4-BE49-F238E27FC236}">
                <a16:creationId xmlns:a16="http://schemas.microsoft.com/office/drawing/2014/main" id="{6A36512B-F6F9-4767-8097-AE13321C48FB}"/>
              </a:ext>
            </a:extLst>
          </p:cNvPr>
          <p:cNvSpPr>
            <a:spLocks noGrp="1"/>
          </p:cNvSpPr>
          <p:nvPr/>
        </p:nvSpPr>
        <p:spPr>
          <a:xfrm>
            <a:off x="3276600" y="1847850"/>
            <a:ext cx="9525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meline-2">
            <a:extLst>
              <a:ext uri="{FF2B5EF4-FFF2-40B4-BE49-F238E27FC236}">
                <a16:creationId xmlns:a16="http://schemas.microsoft.com/office/drawing/2014/main" id="{7BB911CB-DC7B-4CC5-BD8F-C8E546A5BCAD}"/>
              </a:ext>
            </a:extLst>
          </p:cNvPr>
          <p:cNvSpPr>
            <a:spLocks noGrp="1"/>
          </p:cNvSpPr>
          <p:nvPr/>
        </p:nvSpPr>
        <p:spPr>
          <a:xfrm>
            <a:off x="3371850" y="1600200"/>
            <a:ext cx="1219200" cy="514350"/>
          </a:xfrm>
          <a:prstGeom prst="roundRect">
            <a:avLst>
              <a:gd name="adj" fmla="val 11111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imeline-label-2">
            <a:extLst>
              <a:ext uri="{FF2B5EF4-FFF2-40B4-BE49-F238E27FC236}">
                <a16:creationId xmlns:a16="http://schemas.microsoft.com/office/drawing/2014/main" id="{C208A600-F4F4-46B4-8026-DCF9504178F6}"/>
              </a:ext>
            </a:extLst>
          </p:cNvPr>
          <p:cNvSpPr>
            <a:spLocks noGrp="1"/>
          </p:cNvSpPr>
          <p:nvPr/>
        </p:nvSpPr>
        <p:spPr>
          <a:xfrm>
            <a:off x="3467100" y="1743075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W5-6</a:t>
            </a:r>
          </a:p>
        </p:txBody>
      </p:sp>
      <p:sp>
        <p:nvSpPr>
          <p:cNvPr id="13" name="timeline-rule-2">
            <a:extLst>
              <a:ext uri="{FF2B5EF4-FFF2-40B4-BE49-F238E27FC236}">
                <a16:creationId xmlns:a16="http://schemas.microsoft.com/office/drawing/2014/main" id="{9D9D450D-B25D-4D17-BD4C-53D445206C9A}"/>
              </a:ext>
            </a:extLst>
          </p:cNvPr>
          <p:cNvSpPr>
            <a:spLocks noGrp="1"/>
          </p:cNvSpPr>
          <p:nvPr/>
        </p:nvSpPr>
        <p:spPr>
          <a:xfrm>
            <a:off x="4591050" y="1847850"/>
            <a:ext cx="9525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imeline-3">
            <a:extLst>
              <a:ext uri="{FF2B5EF4-FFF2-40B4-BE49-F238E27FC236}">
                <a16:creationId xmlns:a16="http://schemas.microsoft.com/office/drawing/2014/main" id="{516397E4-93FF-451B-8105-B0334716AF83}"/>
              </a:ext>
            </a:extLst>
          </p:cNvPr>
          <p:cNvSpPr>
            <a:spLocks noGrp="1"/>
          </p:cNvSpPr>
          <p:nvPr/>
        </p:nvSpPr>
        <p:spPr>
          <a:xfrm>
            <a:off x="4686300" y="1600200"/>
            <a:ext cx="1219200" cy="514350"/>
          </a:xfrm>
          <a:prstGeom prst="roundRect">
            <a:avLst>
              <a:gd name="adj" fmla="val 11111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imeline-label-3">
            <a:extLst>
              <a:ext uri="{FF2B5EF4-FFF2-40B4-BE49-F238E27FC236}">
                <a16:creationId xmlns:a16="http://schemas.microsoft.com/office/drawing/2014/main" id="{014C6606-6041-487E-800A-A79BCC30572E}"/>
              </a:ext>
            </a:extLst>
          </p:cNvPr>
          <p:cNvSpPr>
            <a:spLocks noGrp="1"/>
          </p:cNvSpPr>
          <p:nvPr/>
        </p:nvSpPr>
        <p:spPr>
          <a:xfrm>
            <a:off x="4781550" y="1743075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W7-8</a:t>
            </a:r>
          </a:p>
        </p:txBody>
      </p:sp>
      <p:sp>
        <p:nvSpPr>
          <p:cNvPr id="16" name="ledger-box">
            <a:extLst>
              <a:ext uri="{FF2B5EF4-FFF2-40B4-BE49-F238E27FC236}">
                <a16:creationId xmlns:a16="http://schemas.microsoft.com/office/drawing/2014/main" id="{7238A977-31E0-49DE-A25C-8439F73D7FE7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4876800" cy="2571750"/>
          </a:xfrm>
          <a:prstGeom prst="roundRect">
            <a:avLst>
              <a:gd name="adj" fmla="val 4444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ledger-title">
            <a:extLst>
              <a:ext uri="{FF2B5EF4-FFF2-40B4-BE49-F238E27FC236}">
                <a16:creationId xmlns:a16="http://schemas.microsoft.com/office/drawing/2014/main" id="{F68814B2-BDA4-4B01-9A47-5B556869FDFE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765"/>
          </a:bodyPr>
          <a:lstStyle/>
          <a:p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 ledger</a:t>
            </a:r>
          </a:p>
        </p:txBody>
      </p:sp>
      <p:sp>
        <p:nvSpPr>
          <p:cNvPr id="18" name="ledger-list">
            <a:extLst>
              <a:ext uri="{FF2B5EF4-FFF2-40B4-BE49-F238E27FC236}">
                <a16:creationId xmlns:a16="http://schemas.microsoft.com/office/drawing/2014/main" id="{B90FC05E-30C6-494A-A2A8-771A1097F7E6}"/>
              </a:ext>
            </a:extLst>
          </p:cNvPr>
          <p:cNvSpPr>
            <a:spLocks noGrp="1"/>
          </p:cNvSpPr>
          <p:nvPr/>
        </p:nvSpPr>
        <p:spPr>
          <a:xfrm>
            <a:off x="1066800" y="3429000"/>
            <a:ext cx="3810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analytical and contract checks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A320 calibration evidence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fleet-level ANP comparison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component spectra / directivity evidence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measurement and applicability gaps</a:t>
            </a:r>
          </a:p>
        </p:txBody>
      </p:sp>
      <p:sp>
        <p:nvSpPr>
          <p:cNvPr id="19" name="uncertainty-box">
            <a:extLst>
              <a:ext uri="{FF2B5EF4-FFF2-40B4-BE49-F238E27FC236}">
                <a16:creationId xmlns:a16="http://schemas.microsoft.com/office/drawing/2014/main" id="{1FC40550-F651-47B6-AECF-333B73FABB8A}"/>
              </a:ext>
            </a:extLst>
          </p:cNvPr>
          <p:cNvSpPr>
            <a:spLocks noGrp="1"/>
          </p:cNvSpPr>
          <p:nvPr/>
        </p:nvSpPr>
        <p:spPr>
          <a:xfrm>
            <a:off x="6191250" y="2571750"/>
            <a:ext cx="4876800" cy="2571750"/>
          </a:xfrm>
          <a:prstGeom prst="roundRect">
            <a:avLst>
              <a:gd name="adj" fmla="val 4444"/>
            </a:avLst>
          </a:prstGeom>
          <a:solidFill>
            <a:srgbClr val="D8F1FF"/>
          </a:solidFill>
          <a:ln w="9525">
            <a:solidFill>
              <a:srgbClr val="D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uncertainty-title">
            <a:extLst>
              <a:ext uri="{FF2B5EF4-FFF2-40B4-BE49-F238E27FC236}">
                <a16:creationId xmlns:a16="http://schemas.microsoft.com/office/drawing/2014/main" id="{AAB2557B-0273-42D1-9D5E-EEC765A49596}"/>
              </a:ext>
            </a:extLst>
          </p:cNvPr>
          <p:cNvSpPr>
            <a:spLocks noGrp="1"/>
          </p:cNvSpPr>
          <p:nvPr/>
        </p:nvSpPr>
        <p:spPr>
          <a:xfrm>
            <a:off x="6515100" y="28765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765"/>
          </a:bodyPr>
          <a:lstStyle/>
          <a:p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Uncertainty register</a:t>
            </a:r>
          </a:p>
        </p:txBody>
      </p:sp>
      <p:sp>
        <p:nvSpPr>
          <p:cNvPr id="21" name="uncertainty-list">
            <a:extLst>
              <a:ext uri="{FF2B5EF4-FFF2-40B4-BE49-F238E27FC236}">
                <a16:creationId xmlns:a16="http://schemas.microsoft.com/office/drawing/2014/main" id="{8AC37DD3-6F44-42A3-B792-A40764FADAEF}"/>
              </a:ext>
            </a:extLst>
          </p:cNvPr>
          <p:cNvSpPr>
            <a:spLocks noGrp="1"/>
          </p:cNvSpPr>
          <p:nvPr/>
        </p:nvSpPr>
        <p:spPr>
          <a:xfrm>
            <a:off x="6515100" y="3429000"/>
            <a:ext cx="3810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input uncertainty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model-form uncertainty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calibration anchoring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measurement uncertainty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no invented confidence interval</a:t>
            </a:r>
          </a:p>
        </p:txBody>
      </p:sp>
      <p:sp>
        <p:nvSpPr>
          <p:cNvPr id="22" name="&quot;auto-text-13&quot;">
            <a:extLst>
              <a:ext uri="{FF2B5EF4-FFF2-40B4-BE49-F238E27FC236}">
                <a16:creationId xmlns:a16="http://schemas.microsoft.com/office/drawing/2014/main" id="{1353C533-2827-405E-A069-D4C4BBC3C3E1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Gate: claims identify the evidence tier they actually rely on.</a:t>
            </a:r>
          </a:p>
        </p:txBody>
      </p:sp>
    </p:spTree>
    <p:extLst>
      <p:ext uri="{BB962C8B-B14F-4D97-AF65-F5344CB8AC3E}">
        <p14:creationId xmlns:p14="http://schemas.microsoft.com/office/powerpoint/2010/main" val="995699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-12">
            <a:extLst>
              <a:ext uri="{FF2B5EF4-FFF2-40B4-BE49-F238E27FC236}">
                <a16:creationId xmlns:a16="http://schemas.microsoft.com/office/drawing/2014/main" id="{95D96579-9C15-479B-A5BF-B31029EE64F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11  /  DECISION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23C22589-BA2C-4DBA-BE92-FE77D4AEFD26}"/>
              </a:ext>
            </a:extLst>
          </p:cNvPr>
          <p:cNvSpPr>
            <a:spLocks noGrp="1"/>
          </p:cNvSpPr>
          <p:nvPr/>
        </p:nvSpPr>
        <p:spPr>
          <a:xfrm>
            <a:off x="552450" y="619125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Weeks 7-8: close the stability gate</a:t>
            </a:r>
          </a:p>
        </p:txBody>
      </p:sp>
      <p:sp>
        <p:nvSpPr>
          <p:cNvPr id="3" name="rule-12">
            <a:extLst>
              <a:ext uri="{FF2B5EF4-FFF2-40B4-BE49-F238E27FC236}">
                <a16:creationId xmlns:a16="http://schemas.microsoft.com/office/drawing/2014/main" id="{3168F63F-CB8E-4B0D-A33D-EBA4B5B66709}"/>
              </a:ext>
            </a:extLst>
          </p:cNvPr>
          <p:cNvSpPr>
            <a:spLocks noGrp="1"/>
          </p:cNvSpPr>
          <p:nvPr/>
        </p:nvSpPr>
        <p:spPr>
          <a:xfrm>
            <a:off x="552450" y="1304925"/>
            <a:ext cx="110871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-12">
            <a:extLst>
              <a:ext uri="{FF2B5EF4-FFF2-40B4-BE49-F238E27FC236}">
                <a16:creationId xmlns:a16="http://schemas.microsoft.com/office/drawing/2014/main" id="{52CD80CB-4708-4091-98B2-E0E9D5341C74}"/>
              </a:ext>
            </a:extLst>
          </p:cNvPr>
          <p:cNvSpPr>
            <a:spLocks noGrp="1"/>
          </p:cNvSpPr>
          <p:nvPr/>
        </p:nvSpPr>
        <p:spPr>
          <a:xfrm>
            <a:off x="55245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 approach stabilization  |  12</a:t>
            </a:r>
          </a:p>
        </p:txBody>
      </p:sp>
      <p:sp>
        <p:nvSpPr>
          <p:cNvPr id="5" name="&quot;auto-text-14&quot;">
            <a:extLst>
              <a:ext uri="{FF2B5EF4-FFF2-40B4-BE49-F238E27FC236}">
                <a16:creationId xmlns:a16="http://schemas.microsoft.com/office/drawing/2014/main" id="{EBEF8A9F-84C1-4B50-97F3-6665D6FD3869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666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912"/>
          </a:bodyPr>
          <a:lstStyle/>
          <a:p>
            <a:pPr algn="l"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At the end of two months, the question is not 'is it perfect?'</a:t>
            </a:r>
          </a:p>
          <a:p>
            <a:pPr algn="l"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It is 'can we explain when to trust it, and reproduce what it does?'</a:t>
            </a:r>
          </a:p>
        </p:txBody>
      </p:sp>
      <p:sp>
        <p:nvSpPr>
          <p:cNvPr id="6" name="gate-box">
            <a:extLst>
              <a:ext uri="{FF2B5EF4-FFF2-40B4-BE49-F238E27FC236}">
                <a16:creationId xmlns:a16="http://schemas.microsoft.com/office/drawing/2014/main" id="{4AF39D54-2E9A-4DB7-9160-BB1D7C3D84EC}"/>
              </a:ext>
            </a:extLst>
          </p:cNvPr>
          <p:cNvSpPr>
            <a:spLocks noGrp="1"/>
          </p:cNvSpPr>
          <p:nvPr/>
        </p:nvSpPr>
        <p:spPr>
          <a:xfrm>
            <a:off x="7715250" y="1714500"/>
            <a:ext cx="3905250" cy="3105150"/>
          </a:xfrm>
          <a:prstGeom prst="roundRect">
            <a:avLst>
              <a:gd name="adj" fmla="val 3681"/>
            </a:avLst>
          </a:prstGeom>
          <a:solidFill>
            <a:srgbClr val="D8F1FF"/>
          </a:solidFill>
          <a:ln w="9525">
            <a:solidFill>
              <a:srgbClr val="D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ate-title">
            <a:extLst>
              <a:ext uri="{FF2B5EF4-FFF2-40B4-BE49-F238E27FC236}">
                <a16:creationId xmlns:a16="http://schemas.microsoft.com/office/drawing/2014/main" id="{5A8EC8B0-C184-4986-937B-F304B831D893}"/>
              </a:ext>
            </a:extLst>
          </p:cNvPr>
          <p:cNvSpPr>
            <a:spLocks noGrp="1"/>
          </p:cNvSpPr>
          <p:nvPr/>
        </p:nvSpPr>
        <p:spPr>
          <a:xfrm>
            <a:off x="8058150" y="20383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Green-light criteria</a:t>
            </a:r>
          </a:p>
        </p:txBody>
      </p:sp>
      <p:sp>
        <p:nvSpPr>
          <p:cNvPr id="8" name="gate-list">
            <a:extLst>
              <a:ext uri="{FF2B5EF4-FFF2-40B4-BE49-F238E27FC236}">
                <a16:creationId xmlns:a16="http://schemas.microsoft.com/office/drawing/2014/main" id="{A388F42A-5F0F-4D2D-8B6D-D9A5F713F36B}"/>
              </a:ext>
            </a:extLst>
          </p:cNvPr>
          <p:cNvSpPr>
            <a:spLocks noGrp="1"/>
          </p:cNvSpPr>
          <p:nvPr/>
        </p:nvSpPr>
        <p:spPr>
          <a:xfrm>
            <a:off x="8058150" y="2609850"/>
            <a:ext cx="314325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versioned calibration loads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canonical outputs match tolerance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provenance is complete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exclusions remain visible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full suite and report rerun pass</a:t>
            </a:r>
          </a:p>
          <a:p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advisor review accepts the boundary</a:t>
            </a:r>
          </a:p>
        </p:txBody>
      </p:sp>
      <p:sp>
        <p:nvSpPr>
          <p:cNvPr id="9" name="next-box">
            <a:extLst>
              <a:ext uri="{FF2B5EF4-FFF2-40B4-BE49-F238E27FC236}">
                <a16:creationId xmlns:a16="http://schemas.microsoft.com/office/drawing/2014/main" id="{03A53556-DE39-4ED5-9BED-A88B003989FB}"/>
              </a:ext>
            </a:extLst>
          </p:cNvPr>
          <p:cNvSpPr>
            <a:spLocks noGrp="1"/>
          </p:cNvSpPr>
          <p:nvPr/>
        </p:nvSpPr>
        <p:spPr>
          <a:xfrm>
            <a:off x="552450" y="3714750"/>
            <a:ext cx="6477000" cy="1447800"/>
          </a:xfrm>
          <a:prstGeom prst="roundRect">
            <a:avLst>
              <a:gd name="adj" fmla="val 7895"/>
            </a:avLst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ext-title">
            <a:extLst>
              <a:ext uri="{FF2B5EF4-FFF2-40B4-BE49-F238E27FC236}">
                <a16:creationId xmlns:a16="http://schemas.microsoft.com/office/drawing/2014/main" id="{D2EDFAFD-402B-431D-884C-2972BA3EF5A8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Only after the gate</a:t>
            </a:r>
          </a:p>
        </p:txBody>
      </p:sp>
      <p:sp>
        <p:nvSpPr>
          <p:cNvPr id="11" name="&quot;auto-text-15&quot;">
            <a:extLst>
              <a:ext uri="{FF2B5EF4-FFF2-40B4-BE49-F238E27FC236}">
                <a16:creationId xmlns:a16="http://schemas.microsoft.com/office/drawing/2014/main" id="{2D4811DE-EC95-423B-A951-6CC35D1A351A}"/>
              </a:ext>
            </a:extLst>
          </p:cNvPr>
          <p:cNvSpPr>
            <a:spLocks noGrp="1"/>
          </p:cNvSpPr>
          <p:nvPr/>
        </p:nvSpPr>
        <p:spPr>
          <a:xfrm>
            <a:off x="876300" y="4381500"/>
            <a:ext cx="561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engine decks  |  modern high-lift mechanisms  |  installation/scattering  |  segmented trajectories  |  advanced propagation</a:t>
            </a:r>
          </a:p>
        </p:txBody>
      </p:sp>
      <p:sp>
        <p:nvSpPr>
          <p:cNvPr id="12" name="&quot;auto-text-16&quot;">
            <a:extLst>
              <a:ext uri="{FF2B5EF4-FFF2-40B4-BE49-F238E27FC236}">
                <a16:creationId xmlns:a16="http://schemas.microsoft.com/office/drawing/2014/main" id="{8129744A-0D67-44B5-B6BD-3B369C481F7E}"/>
              </a:ext>
            </a:extLst>
          </p:cNvPr>
          <p:cNvSpPr>
            <a:spLocks noGrp="1"/>
          </p:cNvSpPr>
          <p:nvPr/>
        </p:nvSpPr>
        <p:spPr>
          <a:xfrm>
            <a:off x="552450" y="573405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proposed outcome is a stable platform for the next scientific question.</a:t>
            </a:r>
          </a:p>
        </p:txBody>
      </p:sp>
    </p:spTree>
    <p:extLst>
      <p:ext uri="{BB962C8B-B14F-4D97-AF65-F5344CB8AC3E}">
        <p14:creationId xmlns:p14="http://schemas.microsoft.com/office/powerpoint/2010/main" val="15267093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1612</Words>
  <Application>Microsoft Office PowerPoint</Application>
  <DocSecurity>0</DocSecurity>
  <PresentationFormat>Widescreen</PresentationFormat>
  <Paragraphs>241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Efe Koşan</cp:lastModifiedBy>
  <cp:revision>3</cp:revision>
  <dcterms:created xsi:type="dcterms:W3CDTF">2026-08-03T17:26:26Z</dcterms:created>
  <dcterms:modified xsi:type="dcterms:W3CDTF">2026-08-03T20:17:51Z</dcterms:modified>
</cp:coreProperties>
</file>