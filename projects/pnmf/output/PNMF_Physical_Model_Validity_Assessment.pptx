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fe70fd06140fc" /><Relationship Type="http://schemas.openxmlformats.org/officeDocument/2006/relationships/extended-properties" Target="/docProps/app.xml" Id="R96291e61fb454bef" /><Relationship Type="http://schemas.openxmlformats.org/officeDocument/2006/relationships/officeDocument" Target="/ppt/presentation.xml" Id="R8490a0f7159841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3592b4e49e489c"/>
  </p:sldMasterIdLst>
  <p:notesMasterIdLst>
    <p:notesMasterId xmlns:r="http://schemas.openxmlformats.org/officeDocument/2006/relationships" r:id="Rfbc30d6c78b44fe0"/>
  </p:notesMasterIdLst>
  <p:sldIdLst>
    <p:sldId xmlns:r="http://schemas.openxmlformats.org/officeDocument/2006/relationships" id="256" r:id="R5a2395fccd0f4480"/>
    <p:sldId xmlns:r="http://schemas.openxmlformats.org/officeDocument/2006/relationships" id="257" r:id="R4fe0898a787d461c"/>
    <p:sldId xmlns:r="http://schemas.openxmlformats.org/officeDocument/2006/relationships" id="258" r:id="R826ef69b189447b6"/>
    <p:sldId xmlns:r="http://schemas.openxmlformats.org/officeDocument/2006/relationships" id="259" r:id="R4bb5e3ea116b4579"/>
    <p:sldId xmlns:r="http://schemas.openxmlformats.org/officeDocument/2006/relationships" id="260" r:id="R44c3e455ae3b44ed"/>
    <p:sldId xmlns:r="http://schemas.openxmlformats.org/officeDocument/2006/relationships" id="261" r:id="Rd65414394be34799"/>
    <p:sldId xmlns:r="http://schemas.openxmlformats.org/officeDocument/2006/relationships" id="262" r:id="R132e9e5c7e084502"/>
    <p:sldId xmlns:r="http://schemas.openxmlformats.org/officeDocument/2006/relationships" id="263" r:id="Rd7ed333704224007"/>
    <p:sldId xmlns:r="http://schemas.openxmlformats.org/officeDocument/2006/relationships" id="264" r:id="R13c073ea1a75466b"/>
    <p:sldId xmlns:r="http://schemas.openxmlformats.org/officeDocument/2006/relationships" id="265" r:id="Rd26026d3c1554600"/>
    <p:sldId xmlns:r="http://schemas.openxmlformats.org/officeDocument/2006/relationships" id="266" r:id="R517c7a5a6bc34937"/>
    <p:sldId xmlns:r="http://schemas.openxmlformats.org/officeDocument/2006/relationships" id="267" r:id="R45a0d672b73743a0"/>
    <p:sldId xmlns:r="http://schemas.openxmlformats.org/officeDocument/2006/relationships" id="268" r:id="R5a8c8835076b4ac9"/>
    <p:sldId xmlns:r="http://schemas.openxmlformats.org/officeDocument/2006/relationships" id="269" r:id="Ree2bc02ae6ab4455"/>
    <p:sldId xmlns:r="http://schemas.openxmlformats.org/officeDocument/2006/relationships" id="270" r:id="R5656ca204dbd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e5c56f24bc40ec" /><Relationship Type="http://schemas.openxmlformats.org/officeDocument/2006/relationships/slideMaster" Target="/ppt/slideMasters/slideMaster1.xml" Id="R4a3592b4e49e489c" /><Relationship Type="http://schemas.openxmlformats.org/officeDocument/2006/relationships/notesMaster" Target="/ppt/notesMasters/notesMaster1.xml" Id="Rfbc30d6c78b44fe0" /><Relationship Type="http://schemas.openxmlformats.org/officeDocument/2006/relationships/presProps" Target="/ppt/presProps.xml" Id="Rd4bd8ede98d646ab" /><Relationship Type="http://schemas.openxmlformats.org/officeDocument/2006/relationships/tableStyles" Target="/ppt/tableStyles.xml" Id="R376dd64347544e10" /><Relationship Type="http://schemas.openxmlformats.org/officeDocument/2006/relationships/slide" Target="/ppt/slides/slide1.xml" Id="R5a2395fccd0f4480" /><Relationship Type="http://schemas.openxmlformats.org/officeDocument/2006/relationships/slide" Target="/ppt/slides/slide2.xml" Id="R4fe0898a787d461c" /><Relationship Type="http://schemas.openxmlformats.org/officeDocument/2006/relationships/slide" Target="/ppt/slides/slide3.xml" Id="R826ef69b189447b6" /><Relationship Type="http://schemas.openxmlformats.org/officeDocument/2006/relationships/slide" Target="/ppt/slides/slide4.xml" Id="R4bb5e3ea116b4579" /><Relationship Type="http://schemas.openxmlformats.org/officeDocument/2006/relationships/slide" Target="/ppt/slides/slide5.xml" Id="R44c3e455ae3b44ed" /><Relationship Type="http://schemas.openxmlformats.org/officeDocument/2006/relationships/slide" Target="/ppt/slides/slide6.xml" Id="Rd65414394be34799" /><Relationship Type="http://schemas.openxmlformats.org/officeDocument/2006/relationships/slide" Target="/ppt/slides/slide7.xml" Id="R132e9e5c7e084502" /><Relationship Type="http://schemas.openxmlformats.org/officeDocument/2006/relationships/slide" Target="/ppt/slides/slide8.xml" Id="Rd7ed333704224007" /><Relationship Type="http://schemas.openxmlformats.org/officeDocument/2006/relationships/slide" Target="/ppt/slides/slide9.xml" Id="R13c073ea1a75466b" /><Relationship Type="http://schemas.openxmlformats.org/officeDocument/2006/relationships/slide" Target="/ppt/slides/slide10.xml" Id="Rd26026d3c1554600" /><Relationship Type="http://schemas.openxmlformats.org/officeDocument/2006/relationships/slide" Target="/ppt/slides/slide11.xml" Id="R517c7a5a6bc34937" /><Relationship Type="http://schemas.openxmlformats.org/officeDocument/2006/relationships/slide" Target="/ppt/slides/slide12.xml" Id="R45a0d672b73743a0" /><Relationship Type="http://schemas.openxmlformats.org/officeDocument/2006/relationships/slide" Target="/ppt/slides/slide13.xml" Id="R5a8c8835076b4ac9" /><Relationship Type="http://schemas.openxmlformats.org/officeDocument/2006/relationships/slide" Target="/ppt/slides/slide14.xml" Id="Ree2bc02ae6ab4455" /><Relationship Type="http://schemas.openxmlformats.org/officeDocument/2006/relationships/slide" Target="/ppt/slides/slide15.xml" Id="R5656ca204dbd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35eb3179c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f0075e5c8e4f66" /><Relationship Type="http://schemas.openxmlformats.org/officeDocument/2006/relationships/notesMaster" Target="/ppt/notesMasters/notesMaster1.xml" Id="Rdea159b1a49e49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4193bd28f444f5" /><Relationship Type="http://schemas.openxmlformats.org/officeDocument/2006/relationships/notesMaster" Target="/ppt/notesMasters/notesMaster1.xml" Id="R8fb765935af54f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b0852e404e4a79" /><Relationship Type="http://schemas.openxmlformats.org/officeDocument/2006/relationships/notesMaster" Target="/ppt/notesMasters/notesMaster1.xml" Id="Rb913f72ed84a4b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dd5f3324a04ad7" /><Relationship Type="http://schemas.openxmlformats.org/officeDocument/2006/relationships/notesMaster" Target="/ppt/notesMasters/notesMaster1.xml" Id="Rf34ac74ad34246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d70a677a304744" /><Relationship Type="http://schemas.openxmlformats.org/officeDocument/2006/relationships/notesMaster" Target="/ppt/notesMasters/notesMaster1.xml" Id="R5e4903f9fd4140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883f7f8cf7425e" /><Relationship Type="http://schemas.openxmlformats.org/officeDocument/2006/relationships/notesMaster" Target="/ppt/notesMasters/notesMaster1.xml" Id="Rfdda97a0130a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eb336879cc49ed" /><Relationship Type="http://schemas.openxmlformats.org/officeDocument/2006/relationships/notesMaster" Target="/ppt/notesMasters/notesMaster1.xml" Id="Re1c3c8730669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f54695d034ed6" /><Relationship Type="http://schemas.openxmlformats.org/officeDocument/2006/relationships/notesMaster" Target="/ppt/notesMasters/notesMaster1.xml" Id="Rb175a0482ace4e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e3c1ae216a4e8c" /><Relationship Type="http://schemas.openxmlformats.org/officeDocument/2006/relationships/notesMaster" Target="/ppt/notesMasters/notesMaster1.xml" Id="R7fb95febaca04a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af30b0cb98401d" /><Relationship Type="http://schemas.openxmlformats.org/officeDocument/2006/relationships/notesMaster" Target="/ppt/notesMasters/notesMaster1.xml" Id="R464ea3f162ca4f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486fe99028486c" /><Relationship Type="http://schemas.openxmlformats.org/officeDocument/2006/relationships/notesMaster" Target="/ppt/notesMasters/notesMaster1.xml" Id="R8effe4e138974c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2cd4d3b64b42e2" /><Relationship Type="http://schemas.openxmlformats.org/officeDocument/2006/relationships/notesMaster" Target="/ppt/notesMasters/notesMaster1.xml" Id="Rbc7034d6f6d14e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cc5b54c1ac454e" /><Relationship Type="http://schemas.openxmlformats.org/officeDocument/2006/relationships/notesMaster" Target="/ppt/notesMasters/notesMaster1.xml" Id="R4edc312bc90140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b450cd6f9b4b32" /><Relationship Type="http://schemas.openxmlformats.org/officeDocument/2006/relationships/notesMaster" Target="/ppt/notesMasters/notesMaster1.xml" Id="R813d77174c8c43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b1ccf964f944f0" /><Relationship Type="http://schemas.openxmlformats.org/officeDocument/2006/relationships/notesMaster" Target="/ppt/notesMasters/notesMaster1.xml" Id="R5fec19fd73754f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Scope and wording: projects/pnmf/docs/ADVISOR_PRESENTATION_TEXT.md; projects/pnmf/docs/NPD_SYSTEM_DESIGN.md.</a:t>
            </a:r>
          </a:p>
          <a:p xmlns:a="http://schemas.openxmlformats.org/drawingml/2006/main">
            <a:r>
              <a:t>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Implementation evidence: projects/pnmf/pnmf/physics.py; projects/pnmf/tests/test_physics.py.</a:t>
            </a:r>
          </a:p>
          <a:p xmlns:a="http://schemas.openxmlformats.org/drawingml/2006/main">
            <a:r>
              <a:t>Calibration and route boundary: projects/pnmf/pnmf/api.py; projects/pnmf/docs/NPD_SYSTEM_DESIGN.md.</a:t>
            </a:r>
          </a:p>
          <a:p xmlns:a="http://schemas.openxmlformats.org/drawingml/2006/main">
            <a:r>
              <a:t>Evidence framing: NASA Dahl, https://ntrs.nasa.gov/citations/20080032565.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Audit structure: projects/pnmf/docs/PHYSICAL_MODEL_IMPROVEMENT_RESEARCH.md.</a:t>
            </a:r>
          </a:p>
          <a:p xmlns:a="http://schemas.openxmlformats.org/drawingml/2006/main">
            <a:r>
              <a:t>Validation practice: ECAC Doc 29, 5th Edition, Volume 1, https://www.ecac-ceac.org/images/documents/ECAC-CEAC-DOC_29_5th_Edition-REPORT_ON_STANDARD_METHOD_OF_COMPUTING_NOISE_CONTOURS_AROUND_CIVIL_AIRPORTS-Volume_1-APPLICATIONS_GUIDE.pdf.</a:t>
            </a:r>
          </a:p>
          <a:p xmlns:a="http://schemas.openxmlformats.org/drawingml/2006/main">
            <a:r>
              <a:t>No external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Equations: projects/pnmf/pnmf/physics.py, module documentation and StoneSource/FanSource implementations.</a:t>
            </a:r>
          </a:p>
          <a:p xmlns:a="http://schemas.openxmlformats.org/drawingml/2006/main">
            <a:r>
              <a:t>Input contract: projects/pnmf/pnmf/physics.py (EnginePhysicalInputs, FanDeck, JetStream).</a:t>
            </a:r>
          </a:p>
          <a:p xmlns:a="http://schemas.openxmlformats.org/drawingml/2006/main">
            <a:r>
              <a:t>Improvement rationale: projects/pnmf/docs/PHYSICAL_MODEL_IMPROVEMENT_RESEARCH.md; NASA jet assessment https://ntrs.nasa.gov/citations/20080032565.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Airframe, propagation, and metric equations: projects/pnmf/pnmf/physics.py; projects/pnmf/docs/NPD_SYSTEM_DESIGN.md.</a:t>
            </a:r>
          </a:p>
          <a:p xmlns:a="http://schemas.openxmlformats.org/drawingml/2006/main">
            <a:r>
              <a:t>Reference event: projects/pnmf/pnmf/physics.py (Reference160KtFlightPath, NPD_REF_SPEED_MS).</a:t>
            </a:r>
          </a:p>
          <a:p xmlns:a="http://schemas.openxmlformats.org/drawingml/2006/main">
            <a:r>
              <a:t>Metric boundary: projects/pnmf/pnmf/api.py (physics route supports SEL and LAmax only).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Worked calculation chain: projects/pnmf/pnmf/physics.py (EngineState, JetSource, FanSource, AirframeSource, propagation, SEL/LAmax); projects/pnmf/docs/NPD_SYSTEM_DESIGN.md.</a:t>
            </a:r>
          </a:p>
          <a:p xmlns:a="http://schemas.openxmlformats.org/drawingml/2006/main">
            <a:r>
              <a:t>Reference event and calibration: projects/pnmf/pnmf/physics.py (Reference160KtFlightPath, PhysicsNPDModel.calibrate); projects/pnmf/pnmf/api.py.</a:t>
            </a:r>
          </a:p>
          <a:p xmlns:a="http://schemas.openxmlformats.org/drawingml/2006/main">
            <a:r>
              <a:t>Residual charts: projects/pnmf/outputs/physics_fleet_validation.csv, generated by projects/pnmf/pnmf_cli.py (frozen constants, prediction minus ANP truth, A320-211 calibration plus 12 out-of-sample aircraft).</a:t>
            </a:r>
          </a:p>
          <a:p xmlns:a="http://schemas.openxmlformats.org/drawingml/2006/main">
            <a:r>
              <a:t>Interpretation: RMSE and bias are observed residual summaries, not confidence intervals; projects/pnmf/pnmf/validation.py.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Numerical case: projects/pnmf/pnmf_cli.py (A320-211 / BPR 6.0 fleet context); projects/pnmf/pnmf/physics.py (PhysicsDesign, EngineState, Reference160KtFlightPath, EventDiagnostics).</a:t>
            </a:r>
          </a:p>
          <a:p xmlns:a="http://schemas.openxmlformats.org/drawingml/2006/main">
            <a:r>
              <a:t>Formulation: projects/pnmf/docs/NPD_SYSTEM_DESIGN.md, section 3.3; projects/pnmf/pnmf/physics.py (JetSource, FanSource, AirframeSource, propagation, SEL/LAmax).</a:t>
            </a:r>
          </a:p>
          <a:p xmlns:a="http://schemas.openxmlformats.org/drawingml/2006/main">
            <a:r>
              <a:t>ANP benchmark: CFM565 A320-211 rows in the local ANP truth database (SEL/LAmax, departure, 22,500 lb, 1,000 ft).</a:t>
            </a:r>
          </a:p>
          <a:p xmlns:a="http://schemas.openxmlformats.org/drawingml/2006/main">
            <a:r>
              <a:t>ET comparison: projects/pnmf/pnmf/api.py (NoisePredictor) and projects/pnmf/pnmf/models.py.</a:t>
            </a:r>
          </a:p>
          <a:p xmlns:a="http://schemas.openxmlformats.org/drawingml/2006/main">
            <a:r>
              <a:t>The displayed values are a traceable reference calculation, not a measurement-validity or certification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laws and symbols: projects/pnmf/docs/NPD_SYSTEM_DESIGN.md, section 3.3; projects/pnmf/pnmf/physics.py (JetSource, FanSource, AirframeSource).</a:t>
            </a:r>
          </a:p>
          <a:p xmlns:a="http://schemas.openxmlformats.org/drawingml/2006/main">
            <a:r>
              <a:t>Propagation and metrics: projects/pnmf/pnmf/physics.py (propagate, EventDiagnostics, SEL/LAmax).</a:t>
            </a:r>
          </a:p>
          <a:p xmlns:a="http://schemas.openxmlformats.org/drawingml/2006/main">
            <a:r>
              <a:t>Comparison definitions: projects/pnmf/pnmf/validation.py (prediction minus truth, RMSE, bias); projects/pnmf/pnmf/api.py (independent ET and physics routes).</a:t>
            </a:r>
          </a:p>
          <a:p xmlns:a="http://schemas.openxmlformats.org/drawingml/2006/main">
            <a:r>
              <a:t>The LaTeX is provided as editable source text for manual PowerPoint equation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Tests: projects/pnmf/tests/test_physics.py.</a:t>
            </a:r>
          </a:p>
          <a:p xmlns:a="http://schemas.openxmlformats.org/drawingml/2006/main">
            <a:r>
              <a:t>Implementation: projects/pnmf/pnmf/physics.py; projects/pnmf/pnmf/api.py.</a:t>
            </a:r>
          </a:p>
          <a:p xmlns:a="http://schemas.openxmlformats.org/drawingml/2006/main">
            <a:r>
              <a:t>Validation distinction: NASA Dahl, https://ntrs.nasa.gov/citations/20080032565; ECAC Doc 29, 5th Edition, Volume 1, official applications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Component implementation: projects/pnmf/pnmf/physics.py; projects/pnmf/docs/NPD_SYSTEM_DESIGN.md.</a:t>
            </a:r>
          </a:p>
          <a:p xmlns:a="http://schemas.openxmlformats.org/drawingml/2006/main">
            <a:r>
              <a:t>Input/preset limitations: projects/pnmf/docs/PHYSICS_PRESETS.md.</a:t>
            </a:r>
          </a:p>
          <a:p xmlns:a="http://schemas.openxmlformats.org/drawingml/2006/main">
            <a:r>
              <a:t>Evidence ladder: projects/pnmf/docs/PHYSICAL_MODEL_IMPROVEMENT_RESEARCH.md; NASA airframe measurements https://ntrs.nasa.gov/citations/20220006685; NASA fan flight effects https://ntrs.nasa.gov/citations/20220006704.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Calibration code and contract: projects/pnmf/pnmf/physics.py (PhysicsNPDModel.calibrate); projects/pnmf/pnmf/api.py.</a:t>
            </a:r>
          </a:p>
          <a:p xmlns:a="http://schemas.openxmlformats.org/drawingml/2006/main">
            <a:r>
              <a:t>Reference data context: projects/pnmf/docs/NPD_SYSTEM_DESIGN.md.</a:t>
            </a:r>
          </a:p>
          <a:p xmlns:a="http://schemas.openxmlformats.org/drawingml/2006/main">
            <a:r>
              <a:t>Calibration-versus-validation method: NASA Dahl, https://ntrs.nasa.gov/citations/20080032565; NASA uncertainty assessment https://ntrs.nasa.gov/citations/20190000984.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Applicability and exclusions: projects/pnmf/pnmf/physics.py (EventDiagnostics.excluded_effects); projects/pnmf/docs/NPD_SYSTEM_DESIGN.md; projects/pnmf/docs/PHYSICS_PRESETS.md.</a:t>
            </a:r>
          </a:p>
          <a:p xmlns:a="http://schemas.openxmlformats.org/drawingml/2006/main">
            <a:r>
              <a:t>Metric scope: projects/pnmf/pnmf/api.py.</a:t>
            </a:r>
          </a:p>
          <a:p xmlns:a="http://schemas.openxmlformats.org/drawingml/2006/main">
            <a:r>
              <a:t>Method rationale: ECAC Doc 29, 5th Edition, Volume 1 official applications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Validation campaign design: projects/pnmf/docs/PHYSICAL_MODEL_IMPROVEMENT_RESEARCH.md.</a:t>
            </a:r>
          </a:p>
          <a:p xmlns:a="http://schemas.openxmlformats.org/drawingml/2006/main">
            <a:r>
              <a:t>Data separation and provenance: projects/pnmf/docs/ADVISOR_PRESENTATION_TEXT.md; projects/pnmf/docs/NPD_SYSTEM_DESIGN.md.</a:t>
            </a:r>
          </a:p>
          <a:p xmlns:a="http://schemas.openxmlformats.org/drawingml/2006/main">
            <a:r>
              <a:t>Primary methodology: NASA Dahl https://ntrs.nasa.gov/citations/20080032565; NASA airframe component measurements https://ntrs.nasa.gov/citations/20220006685.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Acceptance logic: projects/pnmf/docs/PHYSICAL_MODEL_IMPROVEMENT_RESEARCH.md.</a:t>
            </a:r>
          </a:p>
          <a:p xmlns:a="http://schemas.openxmlformats.org/drawingml/2006/main">
            <a:r>
              <a:t>Auditability, reliability, consistency, accuracy, and input-quality principles: ECAC Doc 29, 5th Edition, Volume 1, https://www.ecac-ceac.org/images/documents/ECAC-CEAC-DOC_29_5th_Edition-REPORT_ON_STANDARD_METHOD_OF_COMPUTING_NOISE_CONTOURS_AROUND_CIVIL_AIRPORTS-Volume_1-APPLICATIONS_GUIDE.pdf.</a:t>
            </a:r>
          </a:p>
          <a:p xmlns:a="http://schemas.openxmlformats.org/drawingml/2006/main">
            <a:r>
              <a:t>Uncertainty wording: projects/pnmf/pnmf/physics.py (uncertainty_note).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Current scope and boundary: projects/pnmf/docs/ADVISOR_PRESENTATION_TEXT.md; projects/pnmf/docs/NPD_SYSTEM_DESIGN.md.</a:t>
            </a:r>
          </a:p>
          <a:p xmlns:a="http://schemas.openxmlformats.org/drawingml/2006/main">
            <a:r>
              <a:t>Future priorities: projects/pnmf/docs/PHYSICAL_MODEL_IMPROVEMENT_RESEARCH.md.</a:t>
            </a:r>
          </a:p>
          <a:p xmlns:a="http://schemas.openxmlformats.org/drawingml/2006/main">
            <a:r>
              <a:t>No numerical accuracy or certification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5deb61603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c724f91ebd4fa1" /><Relationship Type="http://schemas.openxmlformats.org/officeDocument/2006/relationships/slideLayout" Target="/ppt/slideLayouts/slideLayout1.xml" Id="R014976ae538d42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4976ae538d42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4776978a14a14" /><Relationship Type="http://schemas.openxmlformats.org/officeDocument/2006/relationships/notesSlide" Target="/ppt/notesSlides/notesSlide1.xml" Id="Rbfccb2c8d4d84f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ddd9217fb45c2" /><Relationship Type="http://schemas.openxmlformats.org/officeDocument/2006/relationships/notesSlide" Target="/ppt/notesSlides/notesSlide2.xml" Id="Rea6374ff20a940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7a3f557b947b7" /><Relationship Type="http://schemas.openxmlformats.org/officeDocument/2006/relationships/notesSlide" Target="/ppt/notesSlides/notesSlide3.xml" Id="R98d44a82a60b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c2eee30ea41dc" /><Relationship Type="http://schemas.openxmlformats.org/officeDocument/2006/relationships/notesSlide" Target="/ppt/notesSlides/notesSlide4.xml" Id="Re026c4a23187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46fb77e2845d8" /><Relationship Type="http://schemas.openxmlformats.org/officeDocument/2006/relationships/notesSlide" Target="/ppt/notesSlides/notesSlide5.xml" Id="Rc173b26a89f045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28f4553db4964" /><Relationship Type="http://schemas.openxmlformats.org/officeDocument/2006/relationships/chart" Target="/ppt/slides/charts/chart1.xml" Id="R729bc4c280d7487c" /><Relationship Type="http://schemas.openxmlformats.org/officeDocument/2006/relationships/chart" Target="/ppt/slides/charts/chart2.xml" Id="R697adcbe5f3c4ca2" /><Relationship Type="http://schemas.openxmlformats.org/officeDocument/2006/relationships/notesSlide" Target="/ppt/notesSlides/notesSlide6.xml" Id="Rd49d20b4c8634a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6f8430488484f" /><Relationship Type="http://schemas.openxmlformats.org/officeDocument/2006/relationships/notesSlide" Target="/ppt/notesSlides/notesSlide7.xml" Id="R4eaeb2dd3c3b44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460bb85dc4274" /><Relationship Type="http://schemas.openxmlformats.org/officeDocument/2006/relationships/notesSlide" Target="/ppt/notesSlides/notesSlide8.xml" Id="R0920012b4a5347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7d768e8a40c4" /><Relationship Type="http://schemas.openxmlformats.org/officeDocument/2006/relationships/notesSlide" Target="/ppt/notesSlides/notesSlide9.xml" Id="R639b61b96f094c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786a982bb4937" /><Relationship Type="http://schemas.openxmlformats.org/officeDocument/2006/relationships/notesSlide" Target="/ppt/notesSlides/notesSlide10.xml" Id="R64616497086d4d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60df912394534" /><Relationship Type="http://schemas.openxmlformats.org/officeDocument/2006/relationships/notesSlide" Target="/ppt/notesSlides/notesSlide11.xml" Id="R5410e5d319a44c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556ca9e414a46" /><Relationship Type="http://schemas.openxmlformats.org/officeDocument/2006/relationships/notesSlide" Target="/ppt/notesSlides/notesSlide12.xml" Id="R8a6701797dda49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a142966a5464c" /><Relationship Type="http://schemas.openxmlformats.org/officeDocument/2006/relationships/notesSlide" Target="/ppt/notesSlides/notesSlide13.xml" Id="R70c06a92fe1645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2d74c10814e30" /><Relationship Type="http://schemas.openxmlformats.org/officeDocument/2006/relationships/notesSlide" Target="/ppt/notesSlides/notesSlide14.xml" Id="R7ef7c17c34fc48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71f7b8bb4886" /><Relationship Type="http://schemas.openxmlformats.org/officeDocument/2006/relationships/notesSlide" Target="/ppt/notesSlides/notesSlide15.xml" Id="Red8e4f0612ce41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RMSE</c:v>
          </c:tx>
          <c:spPr>
            <a:solidFill xmlns:a="http://schemas.openxmlformats.org/drawingml/2006/main">
              <a:srgbClr val="3D8DFF"/>
            </a:solidFill>
          </c:spPr>
          <c:dLbls>
            <c:dLbl>
              <c:idx val="0"/>
              <c:spPr>
                <a:solidFill xmlns:a="http://schemas.openxmlformats.org/drawingml/2006/main">
                  <a:srgbClr val="111111"/>
                </a:solidFill>
              </c:sp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3"/>
              <c:pt idx="0">
                <c:v>A320-211</c:v>
              </c:pt>
              <c:pt idx="1">
                <c:v>727EM2</c:v>
              </c:pt>
              <c:pt idx="2">
                <c:v>A350-941</c:v>
              </c:pt>
              <c:pt idx="3">
                <c:v>747200</c:v>
              </c:pt>
              <c:pt idx="4">
                <c:v>757PW</c:v>
              </c:pt>
              <c:pt idx="5">
                <c:v>767300</c:v>
              </c:pt>
              <c:pt idx="6">
                <c:v>A320-232</c:v>
              </c:pt>
              <c:pt idx="7">
                <c:v>MD82</c:v>
              </c:pt>
              <c:pt idx="8">
                <c:v>777300</c:v>
              </c:pt>
              <c:pt idx="9">
                <c:v>737300</c:v>
              </c:pt>
              <c:pt idx="10">
                <c:v>A330-343</c:v>
              </c:pt>
              <c:pt idx="11">
                <c:v>737800</c:v>
              </c:pt>
              <c:pt idx="12">
                <c:v>757RR</c:v>
              </c:pt>
            </c:strLit>
          </c:cat>
          <c:val>
            <c:numLit>
              <c:formatCode>General</c:formatCode>
              <c:ptCount val="13"/>
              <c:pt idx="0">
                <c:v>1.57</c:v>
              </c:pt>
              <c:pt idx="1">
                <c:v>4.85</c:v>
              </c:pt>
              <c:pt idx="2">
                <c:v>4.64</c:v>
              </c:pt>
              <c:pt idx="3">
                <c:v>3.55</c:v>
              </c:pt>
              <c:pt idx="4">
                <c:v>3.27</c:v>
              </c:pt>
              <c:pt idx="5">
                <c:v>2.89</c:v>
              </c:pt>
              <c:pt idx="6">
                <c:v>2.82</c:v>
              </c:pt>
              <c:pt idx="7">
                <c:v>2.82</c:v>
              </c:pt>
              <c:pt idx="8">
                <c:v>2.56</c:v>
              </c:pt>
              <c:pt idx="9">
                <c:v>2.42</c:v>
              </c:pt>
              <c:pt idx="10">
                <c:v>2.29</c:v>
              </c:pt>
              <c:pt idx="11">
                <c:v>2.25</c:v>
              </c:pt>
              <c:pt idx="12">
                <c:v>1.77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dB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Bias</c:v>
          </c:tx>
          <c:spPr>
            <a:solidFill xmlns:a="http://schemas.openxmlformats.org/drawingml/2006/main">
              <a:srgbClr val="5F6670"/>
            </a:solidFill>
          </c:spPr>
          <c:invertIfNegative val="0"/>
          <c:dLbls>
            <c:dLbl>
              <c:idx val="0"/>
              <c:spPr>
                <a:solidFill xmlns:a="http://schemas.openxmlformats.org/drawingml/2006/main">
                  <a:srgbClr val="111111"/>
                </a:solidFill>
              </c:sp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13"/>
              <c:pt idx="0">
                <c:v>A320-211</c:v>
              </c:pt>
              <c:pt idx="1">
                <c:v>727EM2</c:v>
              </c:pt>
              <c:pt idx="2">
                <c:v>A350-941</c:v>
              </c:pt>
              <c:pt idx="3">
                <c:v>747200</c:v>
              </c:pt>
              <c:pt idx="4">
                <c:v>757PW</c:v>
              </c:pt>
              <c:pt idx="5">
                <c:v>767300</c:v>
              </c:pt>
              <c:pt idx="6">
                <c:v>A320-232</c:v>
              </c:pt>
              <c:pt idx="7">
                <c:v>MD82</c:v>
              </c:pt>
              <c:pt idx="8">
                <c:v>777300</c:v>
              </c:pt>
              <c:pt idx="9">
                <c:v>737300</c:v>
              </c:pt>
              <c:pt idx="10">
                <c:v>A330-343</c:v>
              </c:pt>
              <c:pt idx="11">
                <c:v>737800</c:v>
              </c:pt>
              <c:pt idx="12">
                <c:v>757RR</c:v>
              </c:pt>
            </c:strLit>
          </c:cat>
          <c:val>
            <c:numLit>
              <c:formatCode>General</c:formatCode>
              <c:ptCount val="13"/>
              <c:pt idx="0">
                <c:v>-0.13</c:v>
              </c:pt>
              <c:pt idx="1">
                <c:v>3.79</c:v>
              </c:pt>
              <c:pt idx="2">
                <c:v>3.63</c:v>
              </c:pt>
              <c:pt idx="3">
                <c:v>-2.2</c:v>
              </c:pt>
              <c:pt idx="4">
                <c:v>2.11</c:v>
              </c:pt>
              <c:pt idx="5">
                <c:v>-1.41</c:v>
              </c:pt>
              <c:pt idx="6">
                <c:v>2</c:v>
              </c:pt>
              <c:pt idx="7">
                <c:v>2.34</c:v>
              </c:pt>
              <c:pt idx="8">
                <c:v>0.8</c:v>
              </c:pt>
              <c:pt idx="9">
                <c:v>-1.19</c:v>
              </c:pt>
              <c:pt idx="10">
                <c:v>0.87</c:v>
              </c:pt>
              <c:pt idx="11">
                <c:v>-0.82</c:v>
              </c:pt>
              <c:pt idx="12">
                <c:v>1.1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dB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11111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blue-bar">
            <a:extLst xmlns:a="http://schemas.openxmlformats.org/drawingml/2006/main">
              <a:ext uri="{FF2B5EF4-FFF2-40B4-BE49-F238E27FC236}">
                <a16:creationId xmlns:a16="http://schemas.microsoft.com/office/drawing/2014/main" id="{79B2648D-73E5-4119-8942-1E2B600D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1143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F9BE86B-560D-4A08-ACEA-64FB302D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PNMF  /  EVIDENCE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E1F73A-63C3-406C-A96C-E4B43A5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752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Evaluating PNMF's</a:t>
            </a:r>
          </a:p>
          <a:p xmlns:a="http://schemas.openxmlformats.org/drawingml/2006/main">
            <a:pPr algn="l">
              <a:defRPr sz="4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Physical-Model Validity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E3B8C9E-6C85-4D1A-BC90-3634503F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Current evidence, improvement priorities, and explicit limits.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DD9B0015-13DA-48CA-8B62-10E85290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258B326B-4A75-4608-AE82-F31D271C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Advisor review  |  03 August 2026</a:t>
            </a:r>
          </a:p>
        </p:txBody>
      </p:sp>
      <p:sp>
        <p:nvSpPr>
          <p:cNvPr id="7" name="cover-boundary">
            <a:extLst xmlns:a="http://schemas.openxmlformats.org/drawingml/2006/main">
              <a:ext uri="{FF2B5EF4-FFF2-40B4-BE49-F238E27FC236}">
                <a16:creationId xmlns:a16="http://schemas.microsoft.com/office/drawing/2014/main" id="{444FD60A-0712-4CC2-B005-9CF37F35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72415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cover-boundary-title">
            <a:extLst xmlns:a="http://schemas.openxmlformats.org/drawingml/2006/main">
              <a:ext uri="{FF2B5EF4-FFF2-40B4-BE49-F238E27FC236}">
                <a16:creationId xmlns:a16="http://schemas.microsoft.com/office/drawing/2014/main" id="{FE119855-9E21-4D66-B983-227CE16E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Validity boundary</a:t>
            </a:r>
          </a:p>
        </p:txBody>
      </p:sp>
      <p:sp>
        <p:nvSpPr>
          <p:cNvPr id="9" name="cover-boundary-body">
            <a:extLst xmlns:a="http://schemas.openxmlformats.org/drawingml/2006/main">
              <a:ext uri="{FF2B5EF4-FFF2-40B4-BE49-F238E27FC236}">
                <a16:creationId xmlns:a16="http://schemas.microsoft.com/office/drawing/2014/main" id="{02F82378-5D64-49A7-9C46-2B583FB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21717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Physically coherent.</a:t>
            </a:r>
          </a:p>
          <a:p xmlns:a="http://schemas.openxmlformats.org/drawingml/2006/main"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Software-auditable.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Conceptual screening only.</a:t>
            </a:r>
          </a:p>
          <a:p xmlns:a="http://schemas.openxmlformats.org/drawingml/2006/main">
            <a:pPr algn="l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Not certification evidence.</a:t>
            </a:r>
          </a:p>
        </p:txBody>
      </p:sp>
    </p:spTree>
    <p:extLst>
      <p:ext uri="{BB962C8B-B14F-4D97-AF65-F5344CB8AC3E}">
        <p14:creationId xmlns:p14="http://schemas.microsoft.com/office/powerpoint/2010/main" val="1875364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2">
            <a:extLst xmlns:a="http://schemas.openxmlformats.org/drawingml/2006/main">
              <a:ext uri="{FF2B5EF4-FFF2-40B4-BE49-F238E27FC236}">
                <a16:creationId xmlns:a16="http://schemas.microsoft.com/office/drawing/2014/main" id="{84612807-C2B0-43CB-8CB2-8217022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 /  CURRENT VERDICT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841DE0FE-896A-41A0-9766-08D32EA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Validity is claim-specific, not binary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E86DFDCD-312F-4E83-86A6-B936F2A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3242B998-3208-4881-BA82-63FFD42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2</a:t>
            </a:r>
          </a:p>
        </p:txBody>
      </p:sp>
      <p:sp>
        <p:nvSpPr>
          <p:cNvPr id="5" name="auto-text-0">
            <a:extLst xmlns:a="http://schemas.openxmlformats.org/drawingml/2006/main">
              <a:ext uri="{FF2B5EF4-FFF2-40B4-BE49-F238E27FC236}">
                <a16:creationId xmlns:a16="http://schemas.microsoft.com/office/drawing/2014/main" id="{7493C00B-3B80-4B9A-8845-5234861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current route clears a software and physical-coherence bar. It does not yet clear an independent measurement-validity bar.</a:t>
            </a:r>
          </a:p>
        </p:txBody>
      </p:sp>
      <p:sp>
        <p:nvSpPr>
          <p:cNvPr id="6" name="v-head-0-box">
            <a:extLst xmlns:a="http://schemas.openxmlformats.org/drawingml/2006/main">
              <a:ext uri="{FF2B5EF4-FFF2-40B4-BE49-F238E27FC236}">
                <a16:creationId xmlns:a16="http://schemas.microsoft.com/office/drawing/2014/main" id="{D1CDEDA5-5BC1-42F3-81DC-FE3C44B4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448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v-head-0-text">
            <a:extLst xmlns:a="http://schemas.openxmlformats.org/drawingml/2006/main">
              <a:ext uri="{FF2B5EF4-FFF2-40B4-BE49-F238E27FC236}">
                <a16:creationId xmlns:a16="http://schemas.microsoft.com/office/drawing/2014/main" id="{5A7E11C9-77A4-4837-A796-6CD751E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8" name="v-head-1-box">
            <a:extLst xmlns:a="http://schemas.openxmlformats.org/drawingml/2006/main">
              <a:ext uri="{FF2B5EF4-FFF2-40B4-BE49-F238E27FC236}">
                <a16:creationId xmlns:a16="http://schemas.microsoft.com/office/drawing/2014/main" id="{F467B5E3-B6A3-4A28-A30E-05A4441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v-head-1-text">
            <a:extLst xmlns:a="http://schemas.openxmlformats.org/drawingml/2006/main">
              <a:ext uri="{FF2B5EF4-FFF2-40B4-BE49-F238E27FC236}">
                <a16:creationId xmlns:a16="http://schemas.microsoft.com/office/drawing/2014/main" id="{705E5A38-0119-4C9C-A4BC-31259C16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evidence</a:t>
            </a:r>
          </a:p>
        </p:txBody>
      </p:sp>
      <p:sp>
        <p:nvSpPr>
          <p:cNvPr id="10" name="v-head-2-box">
            <a:extLst xmlns:a="http://schemas.openxmlformats.org/drawingml/2006/main">
              <a:ext uri="{FF2B5EF4-FFF2-40B4-BE49-F238E27FC236}">
                <a16:creationId xmlns:a16="http://schemas.microsoft.com/office/drawing/2014/main" id="{021F8D28-4D8A-4278-B464-B35159E0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v-head-2-text">
            <a:extLst xmlns:a="http://schemas.openxmlformats.org/drawingml/2006/main">
              <a:ext uri="{FF2B5EF4-FFF2-40B4-BE49-F238E27FC236}">
                <a16:creationId xmlns:a16="http://schemas.microsoft.com/office/drawing/2014/main" id="{C9C5F0B9-2674-4B3B-A910-A7FB35F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2" name="v-head-3-box">
            <a:extLst xmlns:a="http://schemas.openxmlformats.org/drawingml/2006/main">
              <a:ext uri="{FF2B5EF4-FFF2-40B4-BE49-F238E27FC236}">
                <a16:creationId xmlns:a16="http://schemas.microsoft.com/office/drawing/2014/main" id="{A1327132-15E5-4882-BBC6-2727A747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81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v-head-3-text">
            <a:extLst xmlns:a="http://schemas.openxmlformats.org/drawingml/2006/main">
              <a:ext uri="{FF2B5EF4-FFF2-40B4-BE49-F238E27FC236}">
                <a16:creationId xmlns:a16="http://schemas.microsoft.com/office/drawing/2014/main" id="{98AC6997-1B91-463C-847A-120B468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remains unproven</a:t>
            </a:r>
          </a:p>
        </p:txBody>
      </p:sp>
      <p:sp>
        <p:nvSpPr>
          <p:cNvPr id="14" name="v-0-0-box">
            <a:extLst xmlns:a="http://schemas.openxmlformats.org/drawingml/2006/main">
              <a:ext uri="{FF2B5EF4-FFF2-40B4-BE49-F238E27FC236}">
                <a16:creationId xmlns:a16="http://schemas.microsoft.com/office/drawing/2014/main" id="{FEA0A57B-2E77-4BCB-8918-77097995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3448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v-0-0-text">
            <a:extLst xmlns:a="http://schemas.openxmlformats.org/drawingml/2006/main">
              <a:ext uri="{FF2B5EF4-FFF2-40B4-BE49-F238E27FC236}">
                <a16:creationId xmlns:a16="http://schemas.microsoft.com/office/drawing/2014/main" id="{6C753F5B-19C0-408F-9DDB-1141C6A4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Physical plausibility</a:t>
            </a:r>
          </a:p>
        </p:txBody>
      </p:sp>
      <p:sp>
        <p:nvSpPr>
          <p:cNvPr id="16" name="v-0-1-box">
            <a:extLst xmlns:a="http://schemas.openxmlformats.org/drawingml/2006/main">
              <a:ext uri="{FF2B5EF4-FFF2-40B4-BE49-F238E27FC236}">
                <a16:creationId xmlns:a16="http://schemas.microsoft.com/office/drawing/2014/main" id="{453AA22A-75DC-425B-B6A1-3DEDB875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90850"/>
            <a:ext cx="2667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v-0-1-text">
            <a:extLst xmlns:a="http://schemas.openxmlformats.org/drawingml/2006/main">
              <a:ext uri="{FF2B5EF4-FFF2-40B4-BE49-F238E27FC236}">
                <a16:creationId xmlns:a16="http://schemas.microsoft.com/office/drawing/2014/main" id="{CD135F55-9339-4C17-BC5B-BD2F4434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Mechanistic scaling + SI boundary</a:t>
            </a:r>
          </a:p>
        </p:txBody>
      </p:sp>
      <p:sp>
        <p:nvSpPr>
          <p:cNvPr id="18" name="v-0-2-box">
            <a:extLst xmlns:a="http://schemas.openxmlformats.org/drawingml/2006/main">
              <a:ext uri="{FF2B5EF4-FFF2-40B4-BE49-F238E27FC236}">
                <a16:creationId xmlns:a16="http://schemas.microsoft.com/office/drawing/2014/main" id="{01B7F137-0F60-4357-A63E-51C14CD8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0850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v-0-2-text">
            <a:extLst xmlns:a="http://schemas.openxmlformats.org/drawingml/2006/main">
              <a:ext uri="{FF2B5EF4-FFF2-40B4-BE49-F238E27FC236}">
                <a16:creationId xmlns:a16="http://schemas.microsoft.com/office/drawing/2014/main" id="{3459043C-AECB-4D54-A93C-79242231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67050"/>
            <a:ext cx="1962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20" name="v-0-3-box">
            <a:extLst xmlns:a="http://schemas.openxmlformats.org/drawingml/2006/main">
              <a:ext uri="{FF2B5EF4-FFF2-40B4-BE49-F238E27FC236}">
                <a16:creationId xmlns:a16="http://schemas.microsoft.com/office/drawing/2014/main" id="{A82EBE8F-7842-49A4-9A75-08C6CD4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90850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v-0-3-text">
            <a:extLst xmlns:a="http://schemas.openxmlformats.org/drawingml/2006/main">
              <a:ext uri="{FF2B5EF4-FFF2-40B4-BE49-F238E27FC236}">
                <a16:creationId xmlns:a16="http://schemas.microsoft.com/office/drawing/2014/main" id="{A4CD4A39-BD54-49AF-B33D-C04B36F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67050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 residuals</a:t>
            </a:r>
          </a:p>
        </p:txBody>
      </p:sp>
      <p:sp>
        <p:nvSpPr>
          <p:cNvPr id="22" name="v-1-0-box">
            <a:extLst xmlns:a="http://schemas.openxmlformats.org/drawingml/2006/main">
              <a:ext uri="{FF2B5EF4-FFF2-40B4-BE49-F238E27FC236}">
                <a16:creationId xmlns:a16="http://schemas.microsoft.com/office/drawing/2014/main" id="{E2FE4DFD-41AC-497E-AF3F-B18B9BAF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3448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v-1-0-text">
            <a:extLst xmlns:a="http://schemas.openxmlformats.org/drawingml/2006/main">
              <a:ext uri="{FF2B5EF4-FFF2-40B4-BE49-F238E27FC236}">
                <a16:creationId xmlns:a16="http://schemas.microsoft.com/office/drawing/2014/main" id="{266E847D-B2D6-47EE-9C5B-83F4942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correctness</a:t>
            </a:r>
          </a:p>
        </p:txBody>
      </p:sp>
      <p:sp>
        <p:nvSpPr>
          <p:cNvPr id="24" name="v-1-1-box">
            <a:extLst xmlns:a="http://schemas.openxmlformats.org/drawingml/2006/main">
              <a:ext uri="{FF2B5EF4-FFF2-40B4-BE49-F238E27FC236}">
                <a16:creationId xmlns:a16="http://schemas.microsoft.com/office/drawing/2014/main" id="{B1B6B8A1-36B3-47F6-BD22-4AC71F82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2667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v-1-1-text">
            <a:extLst xmlns:a="http://schemas.openxmlformats.org/drawingml/2006/main">
              <a:ext uri="{FF2B5EF4-FFF2-40B4-BE49-F238E27FC236}">
                <a16:creationId xmlns:a16="http://schemas.microsoft.com/office/drawing/2014/main" id="{A260851A-8E94-480C-810D-68D7FC87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05225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Unit, gate, provenance, regression tests</a:t>
            </a:r>
          </a:p>
        </p:txBody>
      </p:sp>
      <p:sp>
        <p:nvSpPr>
          <p:cNvPr id="26" name="v-1-2-box">
            <a:extLst xmlns:a="http://schemas.openxmlformats.org/drawingml/2006/main">
              <a:ext uri="{FF2B5EF4-FFF2-40B4-BE49-F238E27FC236}">
                <a16:creationId xmlns:a16="http://schemas.microsoft.com/office/drawing/2014/main" id="{B4880A4E-73A0-4D15-9AB5-9AC23F62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v-1-2-text">
            <a:extLst xmlns:a="http://schemas.openxmlformats.org/drawingml/2006/main">
              <a:ext uri="{FF2B5EF4-FFF2-40B4-BE49-F238E27FC236}">
                <a16:creationId xmlns:a16="http://schemas.microsoft.com/office/drawing/2014/main" id="{A119C99C-D092-4320-8BDC-BB94BCAA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05225"/>
            <a:ext cx="1962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28" name="v-1-3-box">
            <a:extLst xmlns:a="http://schemas.openxmlformats.org/drawingml/2006/main">
              <a:ext uri="{FF2B5EF4-FFF2-40B4-BE49-F238E27FC236}">
                <a16:creationId xmlns:a16="http://schemas.microsoft.com/office/drawing/2014/main" id="{ABBF21FC-978F-46E3-84D7-E2A4480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29025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v-1-3-text">
            <a:extLst xmlns:a="http://schemas.openxmlformats.org/drawingml/2006/main">
              <a:ext uri="{FF2B5EF4-FFF2-40B4-BE49-F238E27FC236}">
                <a16:creationId xmlns:a16="http://schemas.microsoft.com/office/drawing/2014/main" id="{7B47D54E-39B9-4037-A4AE-2FCEF8A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0522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Real-world accuracy</a:t>
            </a:r>
          </a:p>
        </p:txBody>
      </p:sp>
      <p:sp>
        <p:nvSpPr>
          <p:cNvPr id="30" name="v-2-0-box">
            <a:extLst xmlns:a="http://schemas.openxmlformats.org/drawingml/2006/main">
              <a:ext uri="{FF2B5EF4-FFF2-40B4-BE49-F238E27FC236}">
                <a16:creationId xmlns:a16="http://schemas.microsoft.com/office/drawing/2014/main" id="{9BE71FB7-38E5-4DDB-B3D6-EB91B8A6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3448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v-2-0-text">
            <a:extLst xmlns:a="http://schemas.openxmlformats.org/drawingml/2006/main">
              <a:ext uri="{FF2B5EF4-FFF2-40B4-BE49-F238E27FC236}">
                <a16:creationId xmlns:a16="http://schemas.microsoft.com/office/drawing/2014/main" id="{AE09D8FE-964A-4A4C-8AC6-5161532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A320-211 anchoring</a:t>
            </a:r>
          </a:p>
        </p:txBody>
      </p:sp>
      <p:sp>
        <p:nvSpPr>
          <p:cNvPr id="32" name="v-2-1-box">
            <a:extLst xmlns:a="http://schemas.openxmlformats.org/drawingml/2006/main">
              <a:ext uri="{FF2B5EF4-FFF2-40B4-BE49-F238E27FC236}">
                <a16:creationId xmlns:a16="http://schemas.microsoft.com/office/drawing/2014/main" id="{296C0B04-9B76-4F38-AF8A-6EEE100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2667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v-2-1-text">
            <a:extLst xmlns:a="http://schemas.openxmlformats.org/drawingml/2006/main">
              <a:ext uri="{FF2B5EF4-FFF2-40B4-BE49-F238E27FC236}">
                <a16:creationId xmlns:a16="http://schemas.microsoft.com/office/drawing/2014/main" id="{A1C93E3E-235F-42ED-935D-9EA20367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43400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fit to ANP SEL/LAmax</a:t>
            </a:r>
          </a:p>
        </p:txBody>
      </p:sp>
      <p:sp>
        <p:nvSpPr>
          <p:cNvPr id="34" name="v-2-2-box">
            <a:extLst xmlns:a="http://schemas.openxmlformats.org/drawingml/2006/main">
              <a:ext uri="{FF2B5EF4-FFF2-40B4-BE49-F238E27FC236}">
                <a16:creationId xmlns:a16="http://schemas.microsoft.com/office/drawing/2014/main" id="{61031BBA-05A7-4645-BDF0-03A1F7C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67200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v-2-2-text">
            <a:extLst xmlns:a="http://schemas.openxmlformats.org/drawingml/2006/main">
              <a:ext uri="{FF2B5EF4-FFF2-40B4-BE49-F238E27FC236}">
                <a16:creationId xmlns:a16="http://schemas.microsoft.com/office/drawing/2014/main" id="{1701484D-0B00-48C1-8834-7680D6C4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43400"/>
            <a:ext cx="1962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36" name="v-2-3-box">
            <a:extLst xmlns:a="http://schemas.openxmlformats.org/drawingml/2006/main">
              <a:ext uri="{FF2B5EF4-FFF2-40B4-BE49-F238E27FC236}">
                <a16:creationId xmlns:a16="http://schemas.microsoft.com/office/drawing/2014/main" id="{4268A3FC-8DD0-4DAF-92D3-EDA92E60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67200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v-2-3-text">
            <a:extLst xmlns:a="http://schemas.openxmlformats.org/drawingml/2006/main">
              <a:ext uri="{FF2B5EF4-FFF2-40B4-BE49-F238E27FC236}">
                <a16:creationId xmlns:a16="http://schemas.microsoft.com/office/drawing/2014/main" id="{415699B9-53BD-4C2F-93DF-F8578DEC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43400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Independent component proof</a:t>
            </a:r>
          </a:p>
        </p:txBody>
      </p:sp>
      <p:sp>
        <p:nvSpPr>
          <p:cNvPr id="38" name="v-3-0-box">
            <a:extLst xmlns:a="http://schemas.openxmlformats.org/drawingml/2006/main">
              <a:ext uri="{FF2B5EF4-FFF2-40B4-BE49-F238E27FC236}">
                <a16:creationId xmlns:a16="http://schemas.microsoft.com/office/drawing/2014/main" id="{87C48A59-91E8-47ED-A08E-8607E000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34480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v-3-0-text">
            <a:extLst xmlns:a="http://schemas.openxmlformats.org/drawingml/2006/main">
              <a:ext uri="{FF2B5EF4-FFF2-40B4-BE49-F238E27FC236}">
                <a16:creationId xmlns:a16="http://schemas.microsoft.com/office/drawing/2014/main" id="{04D60EFA-0706-4E93-A37B-51FB28D9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32194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Predictive / transfer validity</a:t>
            </a:r>
          </a:p>
        </p:txBody>
      </p:sp>
      <p:sp>
        <p:nvSpPr>
          <p:cNvPr id="40" name="v-3-1-box">
            <a:extLst xmlns:a="http://schemas.openxmlformats.org/drawingml/2006/main">
              <a:ext uri="{FF2B5EF4-FFF2-40B4-BE49-F238E27FC236}">
                <a16:creationId xmlns:a16="http://schemas.microsoft.com/office/drawing/2014/main" id="{A7D0A99F-2A79-4537-824F-DEEA8A96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05375"/>
            <a:ext cx="2667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v-3-1-text">
            <a:extLst xmlns:a="http://schemas.openxmlformats.org/drawingml/2006/main">
              <a:ext uri="{FF2B5EF4-FFF2-40B4-BE49-F238E27FC236}">
                <a16:creationId xmlns:a16="http://schemas.microsoft.com/office/drawing/2014/main" id="{B14F1032-EF82-4AC9-B2EB-47054A13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81575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component ledger or held-out family study</a:t>
            </a:r>
          </a:p>
        </p:txBody>
      </p:sp>
      <p:sp>
        <p:nvSpPr>
          <p:cNvPr id="42" name="v-3-2-box">
            <a:extLst xmlns:a="http://schemas.openxmlformats.org/drawingml/2006/main">
              <a:ext uri="{FF2B5EF4-FFF2-40B4-BE49-F238E27FC236}">
                <a16:creationId xmlns:a16="http://schemas.microsoft.com/office/drawing/2014/main" id="{ABE2F3CA-F267-45FB-ABDF-1D7B44CC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2190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v-3-2-text">
            <a:extLst xmlns:a="http://schemas.openxmlformats.org/drawingml/2006/main">
              <a:ext uri="{FF2B5EF4-FFF2-40B4-BE49-F238E27FC236}">
                <a16:creationId xmlns:a16="http://schemas.microsoft.com/office/drawing/2014/main" id="{39972E07-F44E-45AC-A594-150536A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81575"/>
            <a:ext cx="1962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NOT DEMONSTRATED</a:t>
            </a:r>
          </a:p>
        </p:txBody>
      </p:sp>
      <p:sp>
        <p:nvSpPr>
          <p:cNvPr id="44" name="v-3-3-box">
            <a:extLst xmlns:a="http://schemas.openxmlformats.org/drawingml/2006/main">
              <a:ext uri="{FF2B5EF4-FFF2-40B4-BE49-F238E27FC236}">
                <a16:creationId xmlns:a16="http://schemas.microsoft.com/office/drawing/2014/main" id="{AAA8C7E1-E82F-41FA-B967-610CF187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05375"/>
            <a:ext cx="27813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v-3-3-text">
            <a:extLst xmlns:a="http://schemas.openxmlformats.org/drawingml/2006/main">
              <a:ext uri="{FF2B5EF4-FFF2-40B4-BE49-F238E27FC236}">
                <a16:creationId xmlns:a16="http://schemas.microsoft.com/office/drawing/2014/main" id="{9C14704B-15D7-491A-B46D-7C4839AF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81575"/>
            <a:ext cx="2552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Unseen engine/configuration behavior</a:t>
            </a:r>
          </a:p>
        </p:txBody>
      </p:sp>
      <p:sp>
        <p:nvSpPr>
          <p:cNvPr id="46" name="auto-text-1">
            <a:extLst xmlns:a="http://schemas.openxmlformats.org/drawingml/2006/main">
              <a:ext uri="{FF2B5EF4-FFF2-40B4-BE49-F238E27FC236}">
                <a16:creationId xmlns:a16="http://schemas.microsoft.com/office/drawing/2014/main" id="{66B96701-797B-4133-8F97-CB52A405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Use the status language to keep physical claims proportional to evidence.</a:t>
            </a:r>
          </a:p>
        </p:txBody>
      </p:sp>
    </p:spTree>
    <p:extLst>
      <p:ext uri="{BB962C8B-B14F-4D97-AF65-F5344CB8AC3E}">
        <p14:creationId xmlns:p14="http://schemas.microsoft.com/office/powerpoint/2010/main" val="197861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48FA305B-0124-4ABF-AB69-93C588E7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 /  AUDIT METHOD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87C84F6-7798-4DFF-92A5-81601D49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validity claim needs four pieces of evidence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2CF6B99C-446A-421A-8A77-3912063E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7D9D3AA1-457C-40E8-869A-A6B350A9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3</a:t>
            </a:r>
          </a:p>
        </p:txBody>
      </p:sp>
      <p:sp>
        <p:nvSpPr>
          <p:cNvPr id="5" name="auto-text-2">
            <a:extLst xmlns:a="http://schemas.openxmlformats.org/drawingml/2006/main">
              <a:ext uri="{FF2B5EF4-FFF2-40B4-BE49-F238E27FC236}">
                <a16:creationId xmlns:a16="http://schemas.microsoft.com/office/drawing/2014/main" id="{0A43106D-8618-4AD3-A077-8979B5B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Every technical statement in the deck follows the same audit pattern.</a:t>
            </a:r>
          </a:p>
        </p:txBody>
      </p:sp>
      <p:sp>
        <p:nvSpPr>
          <p:cNvPr id="6" name="audit-box-0">
            <a:extLst xmlns:a="http://schemas.openxmlformats.org/drawingml/2006/main">
              <a:ext uri="{FF2B5EF4-FFF2-40B4-BE49-F238E27FC236}">
                <a16:creationId xmlns:a16="http://schemas.microsoft.com/office/drawing/2014/main" id="{4C8BFEB6-8E35-4C21-91DF-F4D111E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190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audit-label-0">
            <a:extLst xmlns:a="http://schemas.openxmlformats.org/drawingml/2006/main">
              <a:ext uri="{FF2B5EF4-FFF2-40B4-BE49-F238E27FC236}">
                <a16:creationId xmlns:a16="http://schemas.microsoft.com/office/drawing/2014/main" id="{BF2DA9F2-09ED-4B1D-B937-DF44D309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8" name="audit-detail-0">
            <a:extLst xmlns:a="http://schemas.openxmlformats.org/drawingml/2006/main">
              <a:ext uri="{FF2B5EF4-FFF2-40B4-BE49-F238E27FC236}">
                <a16:creationId xmlns:a16="http://schemas.microsoft.com/office/drawing/2014/main" id="{FFE07055-5585-4609-9A67-8134947E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do we want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 say?</a:t>
            </a:r>
          </a:p>
        </p:txBody>
      </p:sp>
      <p:sp>
        <p:nvSpPr>
          <p:cNvPr id="9" name="audit-box-1">
            <a:extLst xmlns:a="http://schemas.openxmlformats.org/drawingml/2006/main">
              <a:ext uri="{FF2B5EF4-FFF2-40B4-BE49-F238E27FC236}">
                <a16:creationId xmlns:a16="http://schemas.microsoft.com/office/drawing/2014/main" id="{1663E3E8-9B9A-4AA4-A90B-D6157D24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2190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0" name="audit-label-1">
            <a:extLst xmlns:a="http://schemas.openxmlformats.org/drawingml/2006/main">
              <a:ext uri="{FF2B5EF4-FFF2-40B4-BE49-F238E27FC236}">
                <a16:creationId xmlns:a16="http://schemas.microsoft.com/office/drawing/2014/main" id="{16B2E471-4572-4E2D-9F21-FFA998F5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" name="audit-detail-1">
            <a:extLst xmlns:a="http://schemas.openxmlformats.org/drawingml/2006/main">
              <a:ext uri="{FF2B5EF4-FFF2-40B4-BE49-F238E27FC236}">
                <a16:creationId xmlns:a16="http://schemas.microsoft.com/office/drawing/2014/main" id="{202EB69F-3064-42C5-B2EB-B22C00F4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does the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checkout show?</a:t>
            </a:r>
          </a:p>
        </p:txBody>
      </p:sp>
      <p:sp>
        <p:nvSpPr>
          <p:cNvPr id="12" name="audit-box-2">
            <a:extLst xmlns:a="http://schemas.openxmlformats.org/drawingml/2006/main">
              <a:ext uri="{FF2B5EF4-FFF2-40B4-BE49-F238E27FC236}">
                <a16:creationId xmlns:a16="http://schemas.microsoft.com/office/drawing/2014/main" id="{DF2665E4-876F-4D3B-B3FF-03F35ADD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2190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audit-label-2">
            <a:extLst xmlns:a="http://schemas.openxmlformats.org/drawingml/2006/main">
              <a:ext uri="{FF2B5EF4-FFF2-40B4-BE49-F238E27FC236}">
                <a16:creationId xmlns:a16="http://schemas.microsoft.com/office/drawing/2014/main" id="{03CC353F-94A2-4B25-A66F-5DDF3683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14" name="audit-detail-2">
            <a:extLst xmlns:a="http://schemas.openxmlformats.org/drawingml/2006/main">
              <a:ext uri="{FF2B5EF4-FFF2-40B4-BE49-F238E27FC236}">
                <a16:creationId xmlns:a16="http://schemas.microsoft.com/office/drawing/2014/main" id="{B837D374-DF15-40EF-A88F-F72EB7A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Where does the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 stop?</a:t>
            </a:r>
          </a:p>
        </p:txBody>
      </p:sp>
      <p:sp>
        <p:nvSpPr>
          <p:cNvPr id="15" name="audit-box-3">
            <a:extLst xmlns:a="http://schemas.openxmlformats.org/drawingml/2006/main">
              <a:ext uri="{FF2B5EF4-FFF2-40B4-BE49-F238E27FC236}">
                <a16:creationId xmlns:a16="http://schemas.microsoft.com/office/drawing/2014/main" id="{68652AD0-C9FA-4B82-8E52-9E356270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2190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6" name="audit-label-3">
            <a:extLst xmlns:a="http://schemas.openxmlformats.org/drawingml/2006/main">
              <a:ext uri="{FF2B5EF4-FFF2-40B4-BE49-F238E27FC236}">
                <a16:creationId xmlns:a16="http://schemas.microsoft.com/office/drawing/2014/main" id="{2B584DCB-D5B2-4DA9-BE12-DDF577F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NEXT PROOF</a:t>
            </a:r>
          </a:p>
        </p:txBody>
      </p:sp>
      <p:sp>
        <p:nvSpPr>
          <p:cNvPr id="17" name="audit-detail-3">
            <a:extLst xmlns:a="http://schemas.openxmlformats.org/drawingml/2006/main">
              <a:ext uri="{FF2B5EF4-FFF2-40B4-BE49-F238E27FC236}">
                <a16:creationId xmlns:a16="http://schemas.microsoft.com/office/drawing/2014/main" id="{7929B5DD-B907-4B52-A5FF-548522B2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data would</a:t>
            </a:r>
          </a:p>
          <a:p xmlns:a="http://schemas.openxmlformats.org/drawingml/2006/main">
            <a:pPr algn="ctr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upgrade it?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76550" y="3390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734050" y="3390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591550" y="33909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21" name="audit-foot">
            <a:extLst xmlns:a="http://schemas.openxmlformats.org/drawingml/2006/main">
              <a:ext uri="{FF2B5EF4-FFF2-40B4-BE49-F238E27FC236}">
                <a16:creationId xmlns:a16="http://schemas.microsoft.com/office/drawing/2014/main" id="{601A68A2-0F92-4A19-B6B0-0780D7C7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91100"/>
            <a:ext cx="8572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udit-foot-text">
            <a:extLst xmlns:a="http://schemas.openxmlformats.org/drawingml/2006/main">
              <a:ext uri="{FF2B5EF4-FFF2-40B4-BE49-F238E27FC236}">
                <a16:creationId xmlns:a16="http://schemas.microsoft.com/office/drawing/2014/main" id="{E7420D5D-20C2-4E1A-A54C-27A4149E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00650"/>
            <a:ext cx="796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62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passing unit test is evidence for implementation behavior, not a substitute for a measured component comparison.</a:t>
            </a:r>
          </a:p>
        </p:txBody>
      </p:sp>
    </p:spTree>
    <p:extLst>
      <p:ext uri="{BB962C8B-B14F-4D97-AF65-F5344CB8AC3E}">
        <p14:creationId xmlns:p14="http://schemas.microsoft.com/office/powerpoint/2010/main" val="17337715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4">
            <a:extLst xmlns:a="http://schemas.openxmlformats.org/drawingml/2006/main">
              <a:ext uri="{FF2B5EF4-FFF2-40B4-BE49-F238E27FC236}">
                <a16:creationId xmlns:a16="http://schemas.microsoft.com/office/drawing/2014/main" id="{5DE220E1-3133-4866-98CB-3963290E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 /  PROPULSION PHYSICS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4D55742-9A4B-4F3A-B49B-51219E6A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Simplified source laws show the key inputs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52E41920-9125-419D-A2F4-D04F5FC8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7D28AED1-1F6E-493B-944D-6720B2E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4</a:t>
            </a:r>
          </a:p>
        </p:txBody>
      </p:sp>
      <p:sp>
        <p:nvSpPr>
          <p:cNvPr id="5" name="jet-eq">
            <a:extLst xmlns:a="http://schemas.openxmlformats.org/drawingml/2006/main">
              <a:ext uri="{FF2B5EF4-FFF2-40B4-BE49-F238E27FC236}">
                <a16:creationId xmlns:a16="http://schemas.microsoft.com/office/drawing/2014/main" id="{211145AD-D418-4B90-910A-8D926AFD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jet-eq-title">
            <a:extLst xmlns:a="http://schemas.openxmlformats.org/drawingml/2006/main">
              <a:ext uri="{FF2B5EF4-FFF2-40B4-BE49-F238E27FC236}">
                <a16:creationId xmlns:a16="http://schemas.microsoft.com/office/drawing/2014/main" id="{25059EB3-918B-47A2-AAE5-E8BEEEAD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JET  /  Stone-style mixing</a:t>
            </a:r>
          </a:p>
        </p:txBody>
      </p:sp>
      <p:sp>
        <p:nvSpPr>
          <p:cNvPr id="7" name="jet-eq-1">
            <a:extLst xmlns:a="http://schemas.openxmlformats.org/drawingml/2006/main">
              <a:ext uri="{FF2B5EF4-FFF2-40B4-BE49-F238E27FC236}">
                <a16:creationId xmlns:a16="http://schemas.microsoft.com/office/drawing/2014/main" id="{07500399-6240-478E-BEC4-C6FD215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Iⱼₑₜ  ∝  ρⱼ² · Aⱼ · Vⱼ⁸</a:t>
            </a:r>
          </a:p>
        </p:txBody>
      </p:sp>
      <p:sp>
        <p:nvSpPr>
          <p:cNvPr id="8" name="jet-eq-2">
            <a:extLst xmlns:a="http://schemas.openxmlformats.org/drawingml/2006/main">
              <a:ext uri="{FF2B5EF4-FFF2-40B4-BE49-F238E27FC236}">
                <a16:creationId xmlns:a16="http://schemas.microsoft.com/office/drawing/2014/main" id="{D24781F0-19CE-4D25-8F8A-F7B74C5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Lⱼₑₜ  ≈  Cⱼₑₜ + 80 log₁₀(Vⱼ/c₀) + 10 log₁₀(Aⱼ)</a:t>
            </a:r>
          </a:p>
        </p:txBody>
      </p:sp>
      <p:sp>
        <p:nvSpPr>
          <p:cNvPr id="9" name="jet-eq-3">
            <a:extLst xmlns:a="http://schemas.openxmlformats.org/drawingml/2006/main">
              <a:ext uri="{FF2B5EF4-FFF2-40B4-BE49-F238E27FC236}">
                <a16:creationId xmlns:a16="http://schemas.microsoft.com/office/drawing/2014/main" id="{C71F8DB8-66E4-4B04-931B-4F931A9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fₚₑₐₖ  ≈  0.25 · fₛ꜀ₐₗₑ · Vⱼ / Dⱼ</a:t>
            </a:r>
          </a:p>
        </p:txBody>
      </p:sp>
      <p:sp>
        <p:nvSpPr>
          <p:cNvPr id="10" name="jet-eq-note">
            <a:extLst xmlns:a="http://schemas.openxmlformats.org/drawingml/2006/main">
              <a:ext uri="{FF2B5EF4-FFF2-40B4-BE49-F238E27FC236}">
                <a16:creationId xmlns:a16="http://schemas.microsoft.com/office/drawing/2014/main" id="{6AE47AE8-E365-48C7-B986-A5620153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Velocity dominates; detailed streams add density/pressure state. Fallback stays visible.</a:t>
            </a:r>
          </a:p>
        </p:txBody>
      </p:sp>
      <p:sp>
        <p:nvSpPr>
          <p:cNvPr id="11" name="fan-eq">
            <a:extLst xmlns:a="http://schemas.openxmlformats.org/drawingml/2006/main">
              <a:ext uri="{FF2B5EF4-FFF2-40B4-BE49-F238E27FC236}">
                <a16:creationId xmlns:a16="http://schemas.microsoft.com/office/drawing/2014/main" id="{238DCC5B-FFF1-4B2B-9A98-2EF49046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5619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2" name="fan-eq-title">
            <a:extLst xmlns:a="http://schemas.openxmlformats.org/drawingml/2006/main">
              <a:ext uri="{FF2B5EF4-FFF2-40B4-BE49-F238E27FC236}">
                <a16:creationId xmlns:a16="http://schemas.microsoft.com/office/drawing/2014/main" id="{90039BD3-5865-4068-AECB-2441EBDA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FAN  /  Heidmann-style path</a:t>
            </a:r>
          </a:p>
        </p:txBody>
      </p:sp>
      <p:sp>
        <p:nvSpPr>
          <p:cNvPr id="13" name="fan-eq-1">
            <a:extLst xmlns:a="http://schemas.openxmlformats.org/drawingml/2006/main">
              <a:ext uri="{FF2B5EF4-FFF2-40B4-BE49-F238E27FC236}">
                <a16:creationId xmlns:a16="http://schemas.microsoft.com/office/drawing/2014/main" id="{DC8D2648-BC2C-4EE4-94A2-D176F11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908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L𝒇𝒂𝒏  ≈  C𝒇𝒂𝒏 + 10 log₁₀(ṁ) + 40 log₁₀(Mₜᵢₚ)</a:t>
            </a:r>
          </a:p>
        </p:txBody>
      </p:sp>
      <p:sp>
        <p:nvSpPr>
          <p:cNvPr id="14" name="fan-eq-2">
            <a:extLst xmlns:a="http://schemas.openxmlformats.org/drawingml/2006/main">
              <a:ext uri="{FF2B5EF4-FFF2-40B4-BE49-F238E27FC236}">
                <a16:creationId xmlns:a16="http://schemas.microsoft.com/office/drawing/2014/main" id="{97F786F5-7974-46DE-8D7B-72DA63A6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BPF  =  Uₜᵢₚ · Nᵦₗₐdₑₛ / (π · D)</a:t>
            </a:r>
          </a:p>
        </p:txBody>
      </p:sp>
      <p:sp>
        <p:nvSpPr>
          <p:cNvPr id="15" name="fan-eq-3">
            <a:extLst xmlns:a="http://schemas.openxmlformats.org/drawingml/2006/main">
              <a:ext uri="{FF2B5EF4-FFF2-40B4-BE49-F238E27FC236}">
                <a16:creationId xmlns:a16="http://schemas.microsoft.com/office/drawing/2014/main" id="{EC409442-3234-4098-8CC4-8CEDB3A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Uₜᵢₚ  =  Mₜᵢₚ · c₀</a:t>
            </a:r>
          </a:p>
        </p:txBody>
      </p:sp>
      <p:sp>
        <p:nvSpPr>
          <p:cNvPr id="16" name="fan-eq-note">
            <a:extLst xmlns:a="http://schemas.openxmlformats.org/drawingml/2006/main">
              <a:ext uri="{FF2B5EF4-FFF2-40B4-BE49-F238E27FC236}">
                <a16:creationId xmlns:a16="http://schemas.microsoft.com/office/drawing/2014/main" id="{BD935706-1ADA-435E-A368-0479662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Detailed fan paths add temperature-rise, spacing, tone, and lobe terms; fallback stays visible.</a:t>
            </a:r>
          </a:p>
        </p:txBody>
      </p:sp>
      <p:sp>
        <p:nvSpPr>
          <p:cNvPr id="17" name="auto-text-3">
            <a:extLst xmlns:a="http://schemas.openxmlformats.org/drawingml/2006/main">
              <a:ext uri="{FF2B5EF4-FFF2-40B4-BE49-F238E27FC236}">
                <a16:creationId xmlns:a16="http://schemas.microsoft.com/office/drawing/2014/main" id="{B29637C0-3868-4CA2-9123-58E98A5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45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dependency: mass flow, nozzle state, fan diameter, RPM/blade count, temperature rise, and provenance.</a:t>
            </a:r>
          </a:p>
        </p:txBody>
      </p:sp>
    </p:spTree>
    <p:extLst>
      <p:ext uri="{BB962C8B-B14F-4D97-AF65-F5344CB8AC3E}">
        <p14:creationId xmlns:p14="http://schemas.microsoft.com/office/powerpoint/2010/main" val="133579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5">
            <a:extLst xmlns:a="http://schemas.openxmlformats.org/drawingml/2006/main">
              <a:ext uri="{FF2B5EF4-FFF2-40B4-BE49-F238E27FC236}">
                <a16:creationId xmlns:a16="http://schemas.microsoft.com/office/drawing/2014/main" id="{C6941F84-4003-425E-94A4-7377751A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  /  PROPAGATION AND METRICS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C366BA2-6D0D-4EBC-8CC4-FB107E7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short event calculation keeps the boundary visible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75BE0BF8-8DDC-41A8-B087-466C28F2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4710B6C4-6AF0-4CF0-A870-D6832035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5</a:t>
            </a:r>
          </a:p>
        </p:txBody>
      </p:sp>
      <p:sp>
        <p:nvSpPr>
          <p:cNvPr id="5" name="airframe-eq">
            <a:extLst xmlns:a="http://schemas.openxmlformats.org/drawingml/2006/main">
              <a:ext uri="{FF2B5EF4-FFF2-40B4-BE49-F238E27FC236}">
                <a16:creationId xmlns:a16="http://schemas.microsoft.com/office/drawing/2014/main" id="{A9701793-677F-438B-ACDD-3C12318E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51625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airframe-title">
            <a:extLst xmlns:a="http://schemas.openxmlformats.org/drawingml/2006/main">
              <a:ext uri="{FF2B5EF4-FFF2-40B4-BE49-F238E27FC236}">
                <a16:creationId xmlns:a16="http://schemas.microsoft.com/office/drawing/2014/main" id="{9048F729-B8B9-449A-BEE8-B93587D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AIRFRAME  /  Fink-style laws</a:t>
            </a:r>
          </a:p>
        </p:txBody>
      </p:sp>
      <p:sp>
        <p:nvSpPr>
          <p:cNvPr id="7" name="airframe-list">
            <a:extLst xmlns:a="http://schemas.openxmlformats.org/drawingml/2006/main">
              <a:ext uri="{FF2B5EF4-FFF2-40B4-BE49-F238E27FC236}">
                <a16:creationId xmlns:a16="http://schemas.microsoft.com/office/drawing/2014/main" id="{2FFA8C5E-A0AF-4F84-B633-98F108A3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L𝒘ᵢₙ𝓰/𝒇ₗₐₚ  ∝  50 log₁₀(V/c₀)</a:t>
            </a:r>
          </a:p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L𝓰ₑₐᵣ  ∝  60 log₁₀(V/c₀)</a:t>
            </a:r>
          </a:p>
          <a:p xmlns:a="http://schemas.openxmlformats.org/drawingml/2006/main">
            <a:pPr algn="l">
              <a:defRPr sz="15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δ*  =  0.37 · c̄ · Re⁻⁰·²</a:t>
            </a:r>
          </a:p>
        </p:txBody>
      </p:sp>
      <p:sp>
        <p:nvSpPr>
          <p:cNvPr id="8" name="airframe-note">
            <a:extLst xmlns:a="http://schemas.openxmlformats.org/drawingml/2006/main">
              <a:ext uri="{FF2B5EF4-FFF2-40B4-BE49-F238E27FC236}">
                <a16:creationId xmlns:a16="http://schemas.microsoft.com/office/drawing/2014/main" id="{C67E7673-034C-4357-ABE8-66565451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Area, flap angle, wheel count, diameter, and directivity refine each component; six outputs remain inspectable.</a:t>
            </a:r>
          </a:p>
        </p:txBody>
      </p:sp>
      <p:sp>
        <p:nvSpPr>
          <p:cNvPr id="9" name="prop-eq">
            <a:extLst xmlns:a="http://schemas.openxmlformats.org/drawingml/2006/main">
              <a:ext uri="{FF2B5EF4-FFF2-40B4-BE49-F238E27FC236}">
                <a16:creationId xmlns:a16="http://schemas.microsoft.com/office/drawing/2014/main" id="{6E9F5341-D2F0-4E37-AA8A-536A61AD8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558165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0" name="prop-title">
            <a:extLst xmlns:a="http://schemas.openxmlformats.org/drawingml/2006/main">
              <a:ext uri="{FF2B5EF4-FFF2-40B4-BE49-F238E27FC236}">
                <a16:creationId xmlns:a16="http://schemas.microsoft.com/office/drawing/2014/main" id="{14CFA129-3733-4DDC-9300-AF48D74B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574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PROPAGATION  /  EVENT OUTPUT</a:t>
            </a:r>
          </a:p>
        </p:txBody>
      </p:sp>
      <p:sp>
        <p:nvSpPr>
          <p:cNvPr id="11" name="prop-list">
            <a:extLst xmlns:a="http://schemas.openxmlformats.org/drawingml/2006/main">
              <a:ext uri="{FF2B5EF4-FFF2-40B4-BE49-F238E27FC236}">
                <a16:creationId xmlns:a16="http://schemas.microsoft.com/office/drawing/2014/main" id="{B6A7CF1B-72D7-4F38-84C9-1DAE072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Lₚ(f,r)  =  L₁ₘ(f) − 20 log₁₀(r / 1 m) − α(f)·r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Lₜₒₜₐₗ  =  10 log₁₀(Σᵢ 10^(Lᵢ/10))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  =  10 log₁₀[(1/1 s) ∫ 10^(Lᴬ(t)/10) dt]</a:t>
            </a:r>
          </a:p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Lᴬ,ₘₐₓ  =  maxₜ Lᴬ(t)</a:t>
            </a:r>
          </a:p>
        </p:txBody>
      </p:sp>
      <p:sp>
        <p:nvSpPr>
          <p:cNvPr id="12" name="prop-note">
            <a:extLst xmlns:a="http://schemas.openxmlformats.org/drawingml/2006/main">
              <a:ext uri="{FF2B5EF4-FFF2-40B4-BE49-F238E27FC236}">
                <a16:creationId xmlns:a16="http://schemas.microsoft.com/office/drawing/2014/main" id="{A0658E1E-8AC4-460C-93E5-67A709B1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10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A-weighting is applied before the two metrics; the reference event is 160 kt, straight-level, 69 angles.</a:t>
            </a:r>
          </a:p>
        </p:txBody>
      </p:sp>
      <p:sp>
        <p:nvSpPr>
          <p:cNvPr id="13" name="auto-text-4">
            <a:extLst xmlns:a="http://schemas.openxmlformats.org/drawingml/2006/main">
              <a:ext uri="{FF2B5EF4-FFF2-40B4-BE49-F238E27FC236}">
                <a16:creationId xmlns:a16="http://schemas.microsoft.com/office/drawing/2014/main" id="{7117D386-2C58-4632-9FF3-D6D0B5B6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72100"/>
            <a:ext cx="925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160 kt straight-level reference event  |  69 emission angles  |  SEL + LAmax only</a:t>
            </a:r>
          </a:p>
        </p:txBody>
      </p:sp>
    </p:spTree>
    <p:extLst>
      <p:ext uri="{BB962C8B-B14F-4D97-AF65-F5344CB8AC3E}">
        <p14:creationId xmlns:p14="http://schemas.microsoft.com/office/powerpoint/2010/main" val="923992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6">
            <a:extLst xmlns:a="http://schemas.openxmlformats.org/drawingml/2006/main">
              <a:ext uri="{FF2B5EF4-FFF2-40B4-BE49-F238E27FC236}">
                <a16:creationId xmlns:a16="http://schemas.microsoft.com/office/drawing/2014/main" id="{B7423DE5-8C84-440F-A5AE-E08695B6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  /  WORKED EXAMPLE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BAE2665-ECDB-40A4-9BE1-12557A84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488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reference event shows how measurements become a bounded prediction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4794895-B412-49A7-AF36-F08B6F60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71375A47-0E75-4644-97DC-B0682E7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6</a:t>
            </a:r>
          </a:p>
        </p:txBody>
      </p:sp>
      <p:sp>
        <p:nvSpPr>
          <p:cNvPr id="5" name="auto-text-5">
            <a:extLst xmlns:a="http://schemas.openxmlformats.org/drawingml/2006/main">
              <a:ext uri="{FF2B5EF4-FFF2-40B4-BE49-F238E27FC236}">
                <a16:creationId xmlns:a16="http://schemas.microsoft.com/office/drawing/2014/main" id="{5BD8E07A-B3A6-4541-87B5-2134B39F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A320-211  |  BPR 6.0  |  160 kt reference event  |  SEL + LAmax</a:t>
            </a:r>
          </a:p>
        </p:txBody>
      </p:sp>
      <p:sp>
        <p:nvSpPr>
          <p:cNvPr id="6" name="example-step-0">
            <a:extLst xmlns:a="http://schemas.openxmlformats.org/drawingml/2006/main">
              <a:ext uri="{FF2B5EF4-FFF2-40B4-BE49-F238E27FC236}">
                <a16:creationId xmlns:a16="http://schemas.microsoft.com/office/drawing/2014/main" id="{E74CCFDB-4D19-4AF0-97BB-4B9B6D9E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28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7" name="example-step-head-0">
            <a:extLst xmlns:a="http://schemas.openxmlformats.org/drawingml/2006/main">
              <a:ext uri="{FF2B5EF4-FFF2-40B4-BE49-F238E27FC236}">
                <a16:creationId xmlns:a16="http://schemas.microsoft.com/office/drawing/2014/main" id="{130F291A-C5F6-4691-B515-FBD2AEC7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MEASURE / SPECIFY</a:t>
            </a:r>
          </a:p>
        </p:txBody>
      </p:sp>
      <p:sp>
        <p:nvSpPr>
          <p:cNvPr id="8" name="example-step-body-0">
            <a:extLst xmlns:a="http://schemas.openxmlformats.org/drawingml/2006/main">
              <a:ext uri="{FF2B5EF4-FFF2-40B4-BE49-F238E27FC236}">
                <a16:creationId xmlns:a16="http://schemas.microsoft.com/office/drawing/2014/main" id="{DA6F4767-F548-461C-950F-B2C40ACA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ANP truth curve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aircraft + BPR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input status</a:t>
            </a:r>
          </a:p>
        </p:txBody>
      </p:sp>
      <p:sp>
        <p:nvSpPr>
          <p:cNvPr id="9" name="example-arrow-0">
            <a:extLst xmlns:a="http://schemas.openxmlformats.org/drawingml/2006/main">
              <a:ext uri="{FF2B5EF4-FFF2-40B4-BE49-F238E27FC236}">
                <a16:creationId xmlns:a16="http://schemas.microsoft.com/office/drawing/2014/main" id="{C6A77E88-8721-4899-979F-00245E04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example-step-1">
            <a:extLst xmlns:a="http://schemas.openxmlformats.org/drawingml/2006/main">
              <a:ext uri="{FF2B5EF4-FFF2-40B4-BE49-F238E27FC236}">
                <a16:creationId xmlns:a16="http://schemas.microsoft.com/office/drawing/2014/main" id="{5126A0ED-7677-45D9-8DE6-9A0CB275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28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example-step-head-1">
            <a:extLst xmlns:a="http://schemas.openxmlformats.org/drawingml/2006/main">
              <a:ext uri="{FF2B5EF4-FFF2-40B4-BE49-F238E27FC236}">
                <a16:creationId xmlns:a16="http://schemas.microsoft.com/office/drawing/2014/main" id="{C9FCF9F6-6D3B-488E-B1D2-7263FB24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  CALCULATE SOURCES</a:t>
            </a:r>
          </a:p>
        </p:txBody>
      </p:sp>
      <p:sp>
        <p:nvSpPr>
          <p:cNvPr id="12" name="example-step-body-1">
            <a:extLst xmlns:a="http://schemas.openxmlformats.org/drawingml/2006/main">
              <a:ext uri="{FF2B5EF4-FFF2-40B4-BE49-F238E27FC236}">
                <a16:creationId xmlns:a16="http://schemas.microsoft.com/office/drawing/2014/main" id="{019CD362-B97D-4C6C-A29C-2F7FEBB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431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jet + fan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wing/slat + flap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gear spectra</a:t>
            </a:r>
          </a:p>
        </p:txBody>
      </p:sp>
      <p:sp>
        <p:nvSpPr>
          <p:cNvPr id="13" name="example-arrow-1">
            <a:extLst xmlns:a="http://schemas.openxmlformats.org/drawingml/2006/main">
              <a:ext uri="{FF2B5EF4-FFF2-40B4-BE49-F238E27FC236}">
                <a16:creationId xmlns:a16="http://schemas.microsoft.com/office/drawing/2014/main" id="{AED3651E-389B-4245-8407-EE923CF9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8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ample-step-2">
            <a:extLst xmlns:a="http://schemas.openxmlformats.org/drawingml/2006/main">
              <a:ext uri="{FF2B5EF4-FFF2-40B4-BE49-F238E27FC236}">
                <a16:creationId xmlns:a16="http://schemas.microsoft.com/office/drawing/2014/main" id="{BB6E40E4-B27D-4280-B920-92F636AD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228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example-step-head-2">
            <a:extLst xmlns:a="http://schemas.openxmlformats.org/drawingml/2006/main">
              <a:ext uri="{FF2B5EF4-FFF2-40B4-BE49-F238E27FC236}">
                <a16:creationId xmlns:a16="http://schemas.microsoft.com/office/drawing/2014/main" id="{BBE7B818-B3C4-4453-AEC9-5146DD0C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3  PROPAGATE</a:t>
            </a:r>
          </a:p>
        </p:txBody>
      </p:sp>
      <p:sp>
        <p:nvSpPr>
          <p:cNvPr id="16" name="example-step-body-2">
            <a:extLst xmlns:a="http://schemas.openxmlformats.org/drawingml/2006/main">
              <a:ext uri="{FF2B5EF4-FFF2-40B4-BE49-F238E27FC236}">
                <a16:creationId xmlns:a16="http://schemas.microsoft.com/office/drawing/2014/main" id="{1687681F-E99B-4BF8-A094-E0995E1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431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spreading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absorption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A-weighting</a:t>
            </a:r>
          </a:p>
        </p:txBody>
      </p:sp>
      <p:sp>
        <p:nvSpPr>
          <p:cNvPr id="17" name="example-arrow-2">
            <a:extLst xmlns:a="http://schemas.openxmlformats.org/drawingml/2006/main">
              <a:ext uri="{FF2B5EF4-FFF2-40B4-BE49-F238E27FC236}">
                <a16:creationId xmlns:a16="http://schemas.microsoft.com/office/drawing/2014/main" id="{7228FD44-0D12-42AE-B865-962B913E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example-step-3">
            <a:extLst xmlns:a="http://schemas.openxmlformats.org/drawingml/2006/main">
              <a:ext uri="{FF2B5EF4-FFF2-40B4-BE49-F238E27FC236}">
                <a16:creationId xmlns:a16="http://schemas.microsoft.com/office/drawing/2014/main" id="{9A986B99-4603-456C-809B-D985BA47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228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9" name="example-step-head-3">
            <a:extLst xmlns:a="http://schemas.openxmlformats.org/drawingml/2006/main">
              <a:ext uri="{FF2B5EF4-FFF2-40B4-BE49-F238E27FC236}">
                <a16:creationId xmlns:a16="http://schemas.microsoft.com/office/drawing/2014/main" id="{4754D6E0-79F8-4B48-857D-F18EAFD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  PREDICT</a:t>
            </a:r>
          </a:p>
        </p:txBody>
      </p:sp>
      <p:sp>
        <p:nvSpPr>
          <p:cNvPr id="20" name="example-step-body-3">
            <a:extLst xmlns:a="http://schemas.openxmlformats.org/drawingml/2006/main">
              <a:ext uri="{FF2B5EF4-FFF2-40B4-BE49-F238E27FC236}">
                <a16:creationId xmlns:a16="http://schemas.microsoft.com/office/drawing/2014/main" id="{8E92534D-6990-4000-9F83-57D5AA48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4317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energetic sum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 + LAmax</a:t>
            </a:r>
          </a:p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NPD row</a:t>
            </a:r>
          </a:p>
        </p:txBody>
      </p:sp>
      <p:sp>
        <p:nvSpPr>
          <p:cNvPr id="21" name="auto-text-6">
            <a:extLst xmlns:a="http://schemas.openxmlformats.org/drawingml/2006/main">
              <a:ext uri="{FF2B5EF4-FFF2-40B4-BE49-F238E27FC236}">
                <a16:creationId xmlns:a16="http://schemas.microsoft.com/office/drawing/2014/main" id="{5D7B979F-E38A-44A9-AD6D-4AEC27C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Observed residuals: calibration RMSE 1.57 dB  |  out-of-sample mean 3.01 dB  |  maximum 4.85 dB</a:t>
            </a:r>
          </a:p>
        </p:txBody>
      </p:sp>
      <p:sp>
        <p:nvSpPr>
          <p:cNvPr id="22" name="rmse-frame">
            <a:extLst xmlns:a="http://schemas.openxmlformats.org/drawingml/2006/main">
              <a:ext uri="{FF2B5EF4-FFF2-40B4-BE49-F238E27FC236}">
                <a16:creationId xmlns:a16="http://schemas.microsoft.com/office/drawing/2014/main" id="{231146D9-29C2-43A9-92E5-B9C1354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3911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rmse-title">
            <a:extLst xmlns:a="http://schemas.openxmlformats.org/drawingml/2006/main">
              <a:ext uri="{FF2B5EF4-FFF2-40B4-BE49-F238E27FC236}">
                <a16:creationId xmlns:a16="http://schemas.microsoft.com/office/drawing/2014/main" id="{4DC6A902-4AD2-4D87-B15C-22B5146F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 residual RMSE by aircraft (dB)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723900" y="3867150"/>
          <a:ext xmlns:a="http://schemas.openxmlformats.org/drawingml/2006/main" cx="504825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bc4c280d7487c"/>
          </a:graphicData>
        </a:graphic>
      </p:graphicFrame>
      <p:sp>
        <p:nvSpPr>
          <p:cNvPr id="25" name="bias-frame">
            <a:extLst xmlns:a="http://schemas.openxmlformats.org/drawingml/2006/main">
              <a:ext uri="{FF2B5EF4-FFF2-40B4-BE49-F238E27FC236}">
                <a16:creationId xmlns:a16="http://schemas.microsoft.com/office/drawing/2014/main" id="{C0C80624-02C5-4924-B06E-4597B86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53911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bias-title">
            <a:extLst xmlns:a="http://schemas.openxmlformats.org/drawingml/2006/main">
              <a:ext uri="{FF2B5EF4-FFF2-40B4-BE49-F238E27FC236}">
                <a16:creationId xmlns:a16="http://schemas.microsoft.com/office/drawing/2014/main" id="{343CAA0C-A489-4340-9F73-A6E93FC4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Signed bias: prediction − truth (dB)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6419850" y="3867150"/>
          <a:ext xmlns:a="http://schemas.openxmlformats.org/drawingml/2006/main" cx="5048250" cy="2133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7adcbe5f3c4ca2"/>
          </a:graphicData>
        </a:graphic>
      </p:graphicFrame>
      <p:sp>
        <p:nvSpPr>
          <p:cNvPr id="28" name="auto-text-7">
            <a:extLst xmlns:a="http://schemas.openxmlformats.org/drawingml/2006/main">
              <a:ext uri="{FF2B5EF4-FFF2-40B4-BE49-F238E27FC236}">
                <a16:creationId xmlns:a16="http://schemas.microsoft.com/office/drawing/2014/main" id="{6AE96663-0909-4F36-9B03-40D5141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Observed residual summaries from physics_fleet_validation.csv; RMSE/bias are not confidence intervals or certification margins.</a:t>
            </a:r>
          </a:p>
        </p:txBody>
      </p:sp>
    </p:spTree>
    <p:extLst>
      <p:ext uri="{BB962C8B-B14F-4D97-AF65-F5344CB8AC3E}">
        <p14:creationId xmlns:p14="http://schemas.microsoft.com/office/powerpoint/2010/main" val="1284371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7">
            <a:extLst xmlns:a="http://schemas.openxmlformats.org/drawingml/2006/main">
              <a:ext uri="{FF2B5EF4-FFF2-40B4-BE49-F238E27FC236}">
                <a16:creationId xmlns:a16="http://schemas.microsoft.com/office/drawing/2014/main" id="{6FD40AC4-A8AE-49A0-AF12-F318CE4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  /  ONE-AIRCRAFT CALCULATION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C02DED9-15C7-45D7-8778-F608B589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A320-211: one complete calculation from inputs to noise level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A5D01282-6FD8-4D18-A5B3-A7BD4D09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40CFB6C2-76E5-4690-AFF9-C9D0CB2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7</a:t>
            </a:r>
          </a:p>
        </p:txBody>
      </p:sp>
      <p:sp>
        <p:nvSpPr>
          <p:cNvPr id="5" name="auto-text-8">
            <a:extLst xmlns:a="http://schemas.openxmlformats.org/drawingml/2006/main">
              <a:ext uri="{FF2B5EF4-FFF2-40B4-BE49-F238E27FC236}">
                <a16:creationId xmlns:a16="http://schemas.microsoft.com/office/drawing/2014/main" id="{F49D1395-B19B-4BBB-ABD9-5780D437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Departure example  |  22,500 lb/engine  |  1,000 ft observer  |  160 kt reference event</a:t>
            </a:r>
          </a:p>
        </p:txBody>
      </p:sp>
      <p:sp>
        <p:nvSpPr>
          <p:cNvPr id="6" name="case-panel">
            <a:extLst xmlns:a="http://schemas.openxmlformats.org/drawingml/2006/main">
              <a:ext uri="{FF2B5EF4-FFF2-40B4-BE49-F238E27FC236}">
                <a16:creationId xmlns:a16="http://schemas.microsoft.com/office/drawing/2014/main" id="{CAD2B4A7-A0EB-4176-82C7-636EF80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2857500" cy="40195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case-title">
            <a:extLst xmlns:a="http://schemas.openxmlformats.org/drawingml/2006/main">
              <a:ext uri="{FF2B5EF4-FFF2-40B4-BE49-F238E27FC236}">
                <a16:creationId xmlns:a16="http://schemas.microsoft.com/office/drawing/2014/main" id="{1BC31E50-B905-4B44-AD62-E373EE1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CASE + DERIVED STATE</a:t>
            </a:r>
          </a:p>
        </p:txBody>
      </p:sp>
      <p:sp>
        <p:nvSpPr>
          <p:cNvPr id="8" name="case-inputs">
            <a:extLst xmlns:a="http://schemas.openxmlformats.org/drawingml/2006/main">
              <a:ext uri="{FF2B5EF4-FFF2-40B4-BE49-F238E27FC236}">
                <a16:creationId xmlns:a16="http://schemas.microsoft.com/office/drawing/2014/main" id="{2427224B-6801-44CC-97B4-A9685AC6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381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Aircraft  A320-211 / CFM56-5A1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BPR  6.0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Engines  2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Fmax  25,000 lb/engine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  22,500 lb/engine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  82.31 m/s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  304.8 m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Angles  69 (5° to 175°)</a:t>
            </a:r>
          </a:p>
        </p:txBody>
      </p:sp>
      <p:sp>
        <p:nvSpPr>
          <p:cNvPr id="9" name="case-rule">
            <a:extLst xmlns:a="http://schemas.openxmlformats.org/drawingml/2006/main">
              <a:ext uri="{FF2B5EF4-FFF2-40B4-BE49-F238E27FC236}">
                <a16:creationId xmlns:a16="http://schemas.microsoft.com/office/drawing/2014/main" id="{B16EE290-0511-4652-AF90-A4070FF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case-derived">
            <a:extLst xmlns:a="http://schemas.openxmlformats.org/drawingml/2006/main">
              <a:ext uri="{FF2B5EF4-FFF2-40B4-BE49-F238E27FC236}">
                <a16:creationId xmlns:a16="http://schemas.microsoft.com/office/drawing/2014/main" id="{14FC6773-FE2F-4F99-AEF4-ADA26B02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238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v_j  282.08 m/s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ṁ  354.81 kg/s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A_j  1.604 m²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d_j  1.429 m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M_tip  1.140</a:t>
            </a:r>
          </a:p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BPF  1,859 Hz</a:t>
            </a:r>
          </a:p>
        </p:txBody>
      </p:sp>
      <p:sp>
        <p:nvSpPr>
          <p:cNvPr id="11" name="case-status">
            <a:extLst xmlns:a="http://schemas.openxmlformats.org/drawingml/2006/main">
              <a:ext uri="{FF2B5EF4-FFF2-40B4-BE49-F238E27FC236}">
                <a16:creationId xmlns:a16="http://schemas.microsoft.com/office/drawing/2014/main" id="{52FBB836-40FD-47E9-917E-5C17176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678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Engine-deck streams unavailable; fallback source paths and estimated geometry are visible.</a:t>
            </a:r>
          </a:p>
        </p:txBody>
      </p:sp>
      <p:sp>
        <p:nvSpPr>
          <p:cNvPr id="1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59A971D7-EF40-4761-B339-8A26CAE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85950"/>
            <a:ext cx="495300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formula-title">
            <a:extLst xmlns:a="http://schemas.openxmlformats.org/drawingml/2006/main">
              <a:ext uri="{FF2B5EF4-FFF2-40B4-BE49-F238E27FC236}">
                <a16:creationId xmlns:a16="http://schemas.microsoft.com/office/drawing/2014/main" id="{D3763D24-6EB0-49A9-ABBF-07D0A091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1455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FORMULATION  /  LaTeX SOURCE</a:t>
            </a:r>
          </a:p>
        </p:txBody>
      </p:sp>
      <p:sp>
        <p:nvSpPr>
          <p:cNvPr id="14" name="formula-text">
            <a:extLst xmlns:a="http://schemas.openxmlformats.org/drawingml/2006/main">
              <a:ext uri="{FF2B5EF4-FFF2-40B4-BE49-F238E27FC236}">
                <a16:creationId xmlns:a16="http://schemas.microsoft.com/office/drawing/2014/main" id="{3C9AB25D-1621-48F4-8EA5-21707791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44577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3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 = P_{eng}(4.44822),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v_j = \frac{700}{(1+BPR)^{0.44}}\sqrt{\frac{F}{F_{max}}},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\dot m = \frac{F}{v_j},\quad A_j = \frac{\dot m}{\rho_j v_j},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d_j = \sqrt{\frac{4A_j}{\pi}},\quad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f_{peak} = f_{scale}\,0.25\frac{v_j}{d_j}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L_{i}(f,r_k) = L_{i,1m}(f) - 20\log_{10}(r_k/1m) - \alpha(f)r_k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r_k = \frac{d}{\sin\theta_k},\quad t_k = \frac{-d\cot\theta_k}{V}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L_A(t_k) = 10\log_{10}\sum_i 10^{L_{A,k}^{(i)}/10}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L_{A,max} = \max_k L_A(t_k),\quad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SEL = 10\log_{10}\left[\frac{1}{1s}\int 10^{L_A(t)/10}dt\right]</a:t>
            </a:r>
          </a:p>
        </p:txBody>
      </p:sp>
      <p:sp>
        <p:nvSpPr>
          <p:cNvPr id="15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C52F453B-14AD-4B6B-AFE3-0CD3C0D8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10200"/>
            <a:ext cx="445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95"/>
          </a:bodyPr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088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Source spectra are A-weighted after propagation, then summed energetically. SEL integrates the 69-point receiver history; LAmax takes its peak.</a:t>
            </a:r>
          </a:p>
        </p:txBody>
      </p:sp>
      <p:sp>
        <p:nvSpPr>
          <p:cNvPr id="16" name="result-panel">
            <a:extLst xmlns:a="http://schemas.openxmlformats.org/drawingml/2006/main">
              <a:ext uri="{FF2B5EF4-FFF2-40B4-BE49-F238E27FC236}">
                <a16:creationId xmlns:a16="http://schemas.microsoft.com/office/drawing/2014/main" id="{AB72B704-D916-45AF-9508-BE82CD5E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85950"/>
            <a:ext cx="2857500" cy="40195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7" name="result-title">
            <a:extLst xmlns:a="http://schemas.openxmlformats.org/drawingml/2006/main">
              <a:ext uri="{FF2B5EF4-FFF2-40B4-BE49-F238E27FC236}">
                <a16:creationId xmlns:a16="http://schemas.microsoft.com/office/drawing/2014/main" id="{F54B6525-CA6C-4407-8921-D585A27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145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 VS DATA</a:t>
            </a:r>
          </a:p>
        </p:txBody>
      </p:sp>
      <p:sp>
        <p:nvSpPr>
          <p:cNvPr id="18" name="case-head-0-box">
            <a:extLst xmlns:a="http://schemas.openxmlformats.org/drawingml/2006/main">
              <a:ext uri="{FF2B5EF4-FFF2-40B4-BE49-F238E27FC236}">
                <a16:creationId xmlns:a16="http://schemas.microsoft.com/office/drawing/2014/main" id="{AFBE2A8C-996B-41C9-AFF8-FA277FCE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case-head-0-text">
            <a:extLst xmlns:a="http://schemas.openxmlformats.org/drawingml/2006/main">
              <a:ext uri="{FF2B5EF4-FFF2-40B4-BE49-F238E27FC236}">
                <a16:creationId xmlns:a16="http://schemas.microsoft.com/office/drawing/2014/main" id="{26C754F7-A6C1-4534-8FF1-FB50A095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5908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0" name="case-head-1-box">
            <a:extLst xmlns:a="http://schemas.openxmlformats.org/drawingml/2006/main">
              <a:ext uri="{FF2B5EF4-FFF2-40B4-BE49-F238E27FC236}">
                <a16:creationId xmlns:a16="http://schemas.microsoft.com/office/drawing/2014/main" id="{89AEEF01-1F00-4CC3-A87A-41FC3C8D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3365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1" name="case-head-1-text">
            <a:extLst xmlns:a="http://schemas.openxmlformats.org/drawingml/2006/main">
              <a:ext uri="{FF2B5EF4-FFF2-40B4-BE49-F238E27FC236}">
                <a16:creationId xmlns:a16="http://schemas.microsoft.com/office/drawing/2014/main" id="{73D592E4-72CE-45A8-8A76-E6DC3546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908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ANP</a:t>
            </a:r>
          </a:p>
        </p:txBody>
      </p:sp>
      <p:sp>
        <p:nvSpPr>
          <p:cNvPr id="22" name="case-head-2-box">
            <a:extLst xmlns:a="http://schemas.openxmlformats.org/drawingml/2006/main">
              <a:ext uri="{FF2B5EF4-FFF2-40B4-BE49-F238E27FC236}">
                <a16:creationId xmlns:a16="http://schemas.microsoft.com/office/drawing/2014/main" id="{58808FC8-F2DE-42C0-81DD-A722650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3365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case-head-2-text">
            <a:extLst xmlns:a="http://schemas.openxmlformats.org/drawingml/2006/main">
              <a:ext uri="{FF2B5EF4-FFF2-40B4-BE49-F238E27FC236}">
                <a16:creationId xmlns:a16="http://schemas.microsoft.com/office/drawing/2014/main" id="{9BD94EDE-1563-4ED4-9EB5-BC4A04C9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ET</a:t>
            </a:r>
          </a:p>
        </p:txBody>
      </p:sp>
      <p:sp>
        <p:nvSpPr>
          <p:cNvPr id="24" name="case-head-3-box">
            <a:extLst xmlns:a="http://schemas.openxmlformats.org/drawingml/2006/main">
              <a:ext uri="{FF2B5EF4-FFF2-40B4-BE49-F238E27FC236}">
                <a16:creationId xmlns:a16="http://schemas.microsoft.com/office/drawing/2014/main" id="{E1288B52-1339-454B-8004-63B8FE67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5" name="case-head-3-text">
            <a:extLst xmlns:a="http://schemas.openxmlformats.org/drawingml/2006/main">
              <a:ext uri="{FF2B5EF4-FFF2-40B4-BE49-F238E27FC236}">
                <a16:creationId xmlns:a16="http://schemas.microsoft.com/office/drawing/2014/main" id="{CDFDFF42-9756-46E9-8214-A13E13E1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5908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26" name="case-0-0-box">
            <a:extLst xmlns:a="http://schemas.openxmlformats.org/drawingml/2006/main">
              <a:ext uri="{FF2B5EF4-FFF2-40B4-BE49-F238E27FC236}">
                <a16:creationId xmlns:a16="http://schemas.microsoft.com/office/drawing/2014/main" id="{7D8C30FF-1423-400B-A68C-9B54E8DD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95600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case-0-0-text">
            <a:extLst xmlns:a="http://schemas.openxmlformats.org/drawingml/2006/main">
              <a:ext uri="{FF2B5EF4-FFF2-40B4-BE49-F238E27FC236}">
                <a16:creationId xmlns:a16="http://schemas.microsoft.com/office/drawing/2014/main" id="{3EF52608-A806-424E-9E8E-944ED418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52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</a:t>
            </a:r>
          </a:p>
        </p:txBody>
      </p:sp>
      <p:sp>
        <p:nvSpPr>
          <p:cNvPr id="28" name="case-0-1-box">
            <a:extLst xmlns:a="http://schemas.openxmlformats.org/drawingml/2006/main">
              <a:ext uri="{FF2B5EF4-FFF2-40B4-BE49-F238E27FC236}">
                <a16:creationId xmlns:a16="http://schemas.microsoft.com/office/drawing/2014/main" id="{62B2D7F5-BDEE-4FD4-991F-3D6D0C69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956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case-0-1-text">
            <a:extLst xmlns:a="http://schemas.openxmlformats.org/drawingml/2006/main">
              <a:ext uri="{FF2B5EF4-FFF2-40B4-BE49-F238E27FC236}">
                <a16:creationId xmlns:a16="http://schemas.microsoft.com/office/drawing/2014/main" id="{A40CB156-C908-4C0E-A321-80F5A7E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52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96.40</a:t>
            </a:r>
          </a:p>
        </p:txBody>
      </p:sp>
      <p:sp>
        <p:nvSpPr>
          <p:cNvPr id="30" name="case-0-2-box">
            <a:extLst xmlns:a="http://schemas.openxmlformats.org/drawingml/2006/main">
              <a:ext uri="{FF2B5EF4-FFF2-40B4-BE49-F238E27FC236}">
                <a16:creationId xmlns:a16="http://schemas.microsoft.com/office/drawing/2014/main" id="{0F6B8B5A-BBF2-4B74-AE2A-3A55D2F6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89560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case-0-2-text">
            <a:extLst xmlns:a="http://schemas.openxmlformats.org/drawingml/2006/main">
              <a:ext uri="{FF2B5EF4-FFF2-40B4-BE49-F238E27FC236}">
                <a16:creationId xmlns:a16="http://schemas.microsoft.com/office/drawing/2014/main" id="{02EA7DBA-F4A2-4D83-BA96-F0494519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5275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96.40</a:t>
            </a:r>
          </a:p>
        </p:txBody>
      </p:sp>
      <p:sp>
        <p:nvSpPr>
          <p:cNvPr id="32" name="case-0-3-box">
            <a:extLst xmlns:a="http://schemas.openxmlformats.org/drawingml/2006/main">
              <a:ext uri="{FF2B5EF4-FFF2-40B4-BE49-F238E27FC236}">
                <a16:creationId xmlns:a16="http://schemas.microsoft.com/office/drawing/2014/main" id="{7AAD55B0-61A7-4317-BE68-A00C3661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9560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case-0-3-text">
            <a:extLst xmlns:a="http://schemas.openxmlformats.org/drawingml/2006/main">
              <a:ext uri="{FF2B5EF4-FFF2-40B4-BE49-F238E27FC236}">
                <a16:creationId xmlns:a16="http://schemas.microsoft.com/office/drawing/2014/main" id="{6BE09EDE-7019-4A35-A5B2-71DA64FA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527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97.27</a:t>
            </a:r>
          </a:p>
        </p:txBody>
      </p:sp>
      <p:sp>
        <p:nvSpPr>
          <p:cNvPr id="34" name="case-1-0-box">
            <a:extLst xmlns:a="http://schemas.openxmlformats.org/drawingml/2006/main">
              <a:ext uri="{FF2B5EF4-FFF2-40B4-BE49-F238E27FC236}">
                <a16:creationId xmlns:a16="http://schemas.microsoft.com/office/drawing/2014/main" id="{58278F97-B0C7-49B7-A802-731AB590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62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case-1-0-text">
            <a:extLst xmlns:a="http://schemas.openxmlformats.org/drawingml/2006/main">
              <a:ext uri="{FF2B5EF4-FFF2-40B4-BE49-F238E27FC236}">
                <a16:creationId xmlns:a16="http://schemas.microsoft.com/office/drawing/2014/main" id="{D561C1DD-DB91-4AA1-B8EC-0BC78B86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3147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LAmax</a:t>
            </a:r>
          </a:p>
        </p:txBody>
      </p:sp>
      <p:sp>
        <p:nvSpPr>
          <p:cNvPr id="36" name="case-1-1-box">
            <a:extLst xmlns:a="http://schemas.openxmlformats.org/drawingml/2006/main">
              <a:ext uri="{FF2B5EF4-FFF2-40B4-BE49-F238E27FC236}">
                <a16:creationId xmlns:a16="http://schemas.microsoft.com/office/drawing/2014/main" id="{3DE56951-457C-4928-B178-C6507839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5755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case-1-1-text">
            <a:extLst xmlns:a="http://schemas.openxmlformats.org/drawingml/2006/main">
              <a:ext uri="{FF2B5EF4-FFF2-40B4-BE49-F238E27FC236}">
                <a16:creationId xmlns:a16="http://schemas.microsoft.com/office/drawing/2014/main" id="{FE259153-FD5D-456F-A6AE-DE1275DE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147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88.90</a:t>
            </a:r>
          </a:p>
        </p:txBody>
      </p:sp>
      <p:sp>
        <p:nvSpPr>
          <p:cNvPr id="38" name="case-1-2-box">
            <a:extLst xmlns:a="http://schemas.openxmlformats.org/drawingml/2006/main">
              <a:ext uri="{FF2B5EF4-FFF2-40B4-BE49-F238E27FC236}">
                <a16:creationId xmlns:a16="http://schemas.microsoft.com/office/drawing/2014/main" id="{322D5050-38FC-42E7-AF49-55D5F71A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257550"/>
            <a:ext cx="523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case-1-2-text">
            <a:extLst xmlns:a="http://schemas.openxmlformats.org/drawingml/2006/main">
              <a:ext uri="{FF2B5EF4-FFF2-40B4-BE49-F238E27FC236}">
                <a16:creationId xmlns:a16="http://schemas.microsoft.com/office/drawing/2014/main" id="{D01A7498-44AE-48FB-A619-9DA8B9F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14700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88.90</a:t>
            </a:r>
          </a:p>
        </p:txBody>
      </p:sp>
      <p:sp>
        <p:nvSpPr>
          <p:cNvPr id="40" name="case-1-3-box">
            <a:extLst xmlns:a="http://schemas.openxmlformats.org/drawingml/2006/main">
              <a:ext uri="{FF2B5EF4-FFF2-40B4-BE49-F238E27FC236}">
                <a16:creationId xmlns:a16="http://schemas.microsoft.com/office/drawing/2014/main" id="{27CC8980-2A01-48AD-8B8A-342756F5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57550"/>
            <a:ext cx="819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case-1-3-text">
            <a:extLst xmlns:a="http://schemas.openxmlformats.org/drawingml/2006/main">
              <a:ext uri="{FF2B5EF4-FFF2-40B4-BE49-F238E27FC236}">
                <a16:creationId xmlns:a16="http://schemas.microsoft.com/office/drawing/2014/main" id="{36990C53-4448-4881-AC64-0AE62C52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3147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87.27</a:t>
            </a:r>
          </a:p>
        </p:txBody>
      </p:sp>
      <p:sp>
        <p:nvSpPr>
          <p:cNvPr id="42" name="result-error">
            <a:extLst xmlns:a="http://schemas.openxmlformats.org/drawingml/2006/main">
              <a:ext uri="{FF2B5EF4-FFF2-40B4-BE49-F238E27FC236}">
                <a16:creationId xmlns:a16="http://schemas.microsoft.com/office/drawing/2014/main" id="{FE7672E9-4BD0-49AA-970E-6D2EA0EE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Physics − ANP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  +0.87 dB</a:t>
            </a:r>
          </a:p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LAmax  −1.63 dB</a:t>
            </a:r>
          </a:p>
        </p:txBody>
      </p:sp>
      <p:sp>
        <p:nvSpPr>
          <p:cNvPr id="43" name="result-rule">
            <a:extLst xmlns:a="http://schemas.openxmlformats.org/drawingml/2006/main">
              <a:ext uri="{FF2B5EF4-FFF2-40B4-BE49-F238E27FC236}">
                <a16:creationId xmlns:a16="http://schemas.microsoft.com/office/drawing/2014/main" id="{054F2FF1-B8FD-49A5-980C-6E90B776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67250"/>
            <a:ext cx="240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4" name="result-components">
            <a:extLst xmlns:a="http://schemas.openxmlformats.org/drawingml/2006/main">
              <a:ext uri="{FF2B5EF4-FFF2-40B4-BE49-F238E27FC236}">
                <a16:creationId xmlns:a16="http://schemas.microsoft.com/office/drawing/2014/main" id="{55878B2A-A805-4213-9BDB-1A7BF28B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38700"/>
            <a:ext cx="2400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Physics component SEL</a:t>
            </a:r>
          </a:p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jet  94.40 dB</a:t>
            </a:r>
          </a:p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fan  94.05 dB</a:t>
            </a:r>
          </a:p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airframe  76.03 dB</a:t>
            </a:r>
          </a:p>
          <a:p xmlns:a="http://schemas.openxmlformats.org/drawingml/2006/main">
            <a:pPr algn="ctr">
              <a:defRPr sz="1163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total  97.27 dB</a:t>
            </a:r>
          </a:p>
        </p:txBody>
      </p:sp>
      <p:sp>
        <p:nvSpPr>
          <p:cNvPr id="45" name="case-foot">
            <a:extLst xmlns:a="http://schemas.openxmlformats.org/drawingml/2006/main">
              <a:ext uri="{FF2B5EF4-FFF2-40B4-BE49-F238E27FC236}">
                <a16:creationId xmlns:a16="http://schemas.microsoft.com/office/drawing/2014/main" id="{084DCBBD-486D-43BB-8B19-FF32835A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Error = prediction − ANP truth. ANP is the real-aircraft benchmark; ET is in-sample for this A320-211 row, not held-out evidence.</a:t>
            </a:r>
          </a:p>
        </p:txBody>
      </p:sp>
    </p:spTree>
    <p:extLst>
      <p:ext uri="{BB962C8B-B14F-4D97-AF65-F5344CB8AC3E}">
        <p14:creationId xmlns:p14="http://schemas.microsoft.com/office/powerpoint/2010/main" val="13374534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8">
            <a:extLst xmlns:a="http://schemas.openxmlformats.org/drawingml/2006/main">
              <a:ext uri="{FF2B5EF4-FFF2-40B4-BE49-F238E27FC236}">
                <a16:creationId xmlns:a16="http://schemas.microsoft.com/office/drawing/2014/main" id="{7F0E7A84-9EF6-4587-BEEC-C6CAF5EA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07  /  FORMULA REFERENCE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8D20882-7617-49DB-86D8-259905B4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LaTeX formulation: source spectra become receiver metrics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E74FE994-FD57-47F1-907A-5D8955B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3E5F60A-4981-48EF-8A3F-6C5D2F54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8</a:t>
            </a:r>
          </a:p>
        </p:txBody>
      </p:sp>
      <p:sp>
        <p:nvSpPr>
          <p:cNvPr id="5" name="auto-text-9">
            <a:extLst xmlns:a="http://schemas.openxmlformats.org/drawingml/2006/main">
              <a:ext uri="{FF2B5EF4-FFF2-40B4-BE49-F238E27FC236}">
                <a16:creationId xmlns:a16="http://schemas.microsoft.com/office/drawing/2014/main" id="{517D2496-F3AC-4D3C-B2AD-5E4ECA91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Copy these blocks into PowerPoint's equation editor and keep the comparison definition unchanged.</a:t>
            </a:r>
          </a:p>
        </p:txBody>
      </p:sp>
      <p:sp>
        <p:nvSpPr>
          <p:cNvPr id="6" name="latex-source">
            <a:extLst xmlns:a="http://schemas.openxmlformats.org/drawingml/2006/main">
              <a:ext uri="{FF2B5EF4-FFF2-40B4-BE49-F238E27FC236}">
                <a16:creationId xmlns:a16="http://schemas.microsoft.com/office/drawing/2014/main" id="{FA15D107-D163-4ADE-A30F-F40D3BB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latex-source-title">
            <a:extLst xmlns:a="http://schemas.openxmlformats.org/drawingml/2006/main">
              <a:ext uri="{FF2B5EF4-FFF2-40B4-BE49-F238E27FC236}">
                <a16:creationId xmlns:a16="http://schemas.microsoft.com/office/drawing/2014/main" id="{30187F53-6AF3-4570-A340-ABEFD2A6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/  SOURCE LEVEL</a:t>
            </a:r>
          </a:p>
        </p:txBody>
      </p:sp>
      <p:sp>
        <p:nvSpPr>
          <p:cNvPr id="8" name="latex-prop">
            <a:extLst xmlns:a="http://schemas.openxmlformats.org/drawingml/2006/main">
              <a:ext uri="{FF2B5EF4-FFF2-40B4-BE49-F238E27FC236}">
                <a16:creationId xmlns:a16="http://schemas.microsoft.com/office/drawing/2014/main" id="{DEC20D67-3D7B-425D-930C-FB5E1903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02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atex-prop-title">
            <a:extLst xmlns:a="http://schemas.openxmlformats.org/drawingml/2006/main">
              <a:ext uri="{FF2B5EF4-FFF2-40B4-BE49-F238E27FC236}">
                <a16:creationId xmlns:a16="http://schemas.microsoft.com/office/drawing/2014/main" id="{0EB5E760-8A53-4C72-82BD-AE98AF0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288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  /  PROPAGATE + SUM</a:t>
            </a:r>
          </a:p>
        </p:txBody>
      </p:sp>
      <p:sp>
        <p:nvSpPr>
          <p:cNvPr id="10" name="latex-compare">
            <a:extLst xmlns:a="http://schemas.openxmlformats.org/drawingml/2006/main">
              <a:ext uri="{FF2B5EF4-FFF2-40B4-BE49-F238E27FC236}">
                <a16:creationId xmlns:a16="http://schemas.microsoft.com/office/drawing/2014/main" id="{23EAFD48-D09A-474A-AC43-2D499284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00250"/>
            <a:ext cx="3486150" cy="3409950"/>
          </a:xfrm>
          <a:prstGeom xmlns:a="http://schemas.openxmlformats.org/drawingml/2006/main" prst="roundRect">
            <a:avLst>
              <a:gd name="adj" fmla="val 3352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11" name="latex-compare-title">
            <a:extLst xmlns:a="http://schemas.openxmlformats.org/drawingml/2006/main">
              <a:ext uri="{FF2B5EF4-FFF2-40B4-BE49-F238E27FC236}">
                <a16:creationId xmlns:a16="http://schemas.microsoft.com/office/drawing/2014/main" id="{A2B126E7-C645-4E52-BF4B-CDF7C3DB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885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3  /  COMPARE TO DATA</a:t>
            </a:r>
          </a:p>
        </p:txBody>
      </p:sp>
      <p:sp>
        <p:nvSpPr>
          <p:cNvPr id="12" name="latex-source-text">
            <a:extLst xmlns:a="http://schemas.openxmlformats.org/drawingml/2006/main">
              <a:ext uri="{FF2B5EF4-FFF2-40B4-BE49-F238E27FC236}">
                <a16:creationId xmlns:a16="http://schemas.microsoft.com/office/drawing/2014/main" id="{B6DB8653-C4C4-4BAD-BED7-7DA10AA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30289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I_{jet}\propto\rho_j^2 A_j v_j^8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L_{jet,1m}=C_j+80\log_{10}(v_j/c_0)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\quad+10\log_{10}(A_j)+D_j(\theta)+H_j(f)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L_{fan,1m}=C_f+10\log_{10}(\dot m)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\quad+40\log_{10}(M_{tip})+D_f(\theta)+H_f(f)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L_{air,1m}=C_a+p\log_{10}(V/c_0)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\quad+G_a+D_a(\theta)+H_a(f),\quad p\in\{50,60\}</a:t>
            </a:r>
          </a:p>
        </p:txBody>
      </p:sp>
      <p:sp>
        <p:nvSpPr>
          <p:cNvPr id="13" name="latex-prop-text">
            <a:extLst xmlns:a="http://schemas.openxmlformats.org/drawingml/2006/main">
              <a:ext uri="{FF2B5EF4-FFF2-40B4-BE49-F238E27FC236}">
                <a16:creationId xmlns:a16="http://schemas.microsoft.com/office/drawing/2014/main" id="{195FF9F2-99A5-4E08-8D5B-824C4B6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667000"/>
            <a:ext cx="30289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r_k=\frac{d}{\sin\theta_k},\quad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t_k=\frac{-d\cot\theta_k}{V}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L_i(f,r_k)=L_{i,1m}(f)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-20\log_{10}(r_k/1m)-\alpha(f)r_k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L_{A,k}^{(i)}=10\log_{10}\sum_f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10^{[L_i(f,r_k)+A(f)]/10}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L_A(t_k)=10\log_{10}\sum_i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10^{L_{A,k}^{(i)}/10}</a:t>
            </a:r>
          </a:p>
        </p:txBody>
      </p:sp>
      <p:sp>
        <p:nvSpPr>
          <p:cNvPr id="14" name="latex-compare-text">
            <a:extLst xmlns:a="http://schemas.openxmlformats.org/drawingml/2006/main">
              <a:ext uri="{FF2B5EF4-FFF2-40B4-BE49-F238E27FC236}">
                <a16:creationId xmlns:a16="http://schemas.microsoft.com/office/drawing/2014/main" id="{A58EEDFB-CAF8-4E58-88C9-B140E1A7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30289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L_{A,max}=\max_k L_A(t_k)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SEL=10\log_{10}\left[\frac{1}{1s}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\int 10^{L_A(t)/10}dt\right]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e_{phys}=y_{phys}-y_{ANP}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e_{ET}=y_{ET}-y_{ANP}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RMSE=\sqrt{\frac{1}{n}\sum e_i^2}</a:t>
            </a:r>
          </a:p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rPr sz="1163" b="0" i="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\quad bias=\frac{1}{n}\sum e_i</a:t>
            </a:r>
          </a:p>
        </p:txBody>
      </p:sp>
      <p:sp>
        <p:nvSpPr>
          <p:cNvPr id="15" name="latex-foot">
            <a:extLst xmlns:a="http://schemas.openxmlformats.org/drawingml/2006/main">
              <a:ext uri="{FF2B5EF4-FFF2-40B4-BE49-F238E27FC236}">
                <a16:creationId xmlns:a16="http://schemas.microsoft.com/office/drawing/2014/main" id="{779C9274-3F7A-4AB5-823B-837B6475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A320-211 at 1,000 ft: ANP = 96.40 / 88.90 dB, ET = 96.40 / 88.90 dB, physics = 97.27 / 87.27 dB (SEL / LAmax).</a:t>
            </a:r>
          </a:p>
        </p:txBody>
      </p:sp>
    </p:spTree>
    <p:extLst>
      <p:ext uri="{BB962C8B-B14F-4D97-AF65-F5344CB8AC3E}">
        <p14:creationId xmlns:p14="http://schemas.microsoft.com/office/powerpoint/2010/main" val="20142783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-9">
            <a:extLst xmlns:a="http://schemas.openxmlformats.org/drawingml/2006/main">
              <a:ext uri="{FF2B5EF4-FFF2-40B4-BE49-F238E27FC236}">
                <a16:creationId xmlns:a16="http://schemas.microsoft.com/office/drawing/2014/main" id="{13645FB3-8B81-4CDB-8633-F5205370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08  /  SOFTWARE EVIDENCE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0F4D10C-59F6-4B32-BCF0-56CCA35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 verify behavior; they do not validate reality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F0E6BD41-079E-4134-84B3-CA4A6F37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C10407A3-1CC1-4DFD-ADAA-36D2B59B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9</a:t>
            </a:r>
          </a:p>
        </p:txBody>
      </p:sp>
      <p:sp>
        <p:nvSpPr>
          <p:cNvPr id="5" name="auto-text-10">
            <a:extLst xmlns:a="http://schemas.openxmlformats.org/drawingml/2006/main">
              <a:ext uri="{FF2B5EF4-FFF2-40B4-BE49-F238E27FC236}">
                <a16:creationId xmlns:a16="http://schemas.microsoft.com/office/drawing/2014/main" id="{BC6EFC95-93D0-432D-BB30-B6D4C0EB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The existing suite is valuable evidence, but each test has a bounded claim.</a:t>
            </a:r>
          </a:p>
        </p:txBody>
      </p:sp>
      <p:sp>
        <p:nvSpPr>
          <p:cNvPr id="6" name="s-head-0-box">
            <a:extLst xmlns:a="http://schemas.openxmlformats.org/drawingml/2006/main">
              <a:ext uri="{FF2B5EF4-FFF2-40B4-BE49-F238E27FC236}">
                <a16:creationId xmlns:a16="http://schemas.microsoft.com/office/drawing/2014/main" id="{50D01397-8D65-45C1-A3D3-7093279D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s-head-0-text">
            <a:extLst xmlns:a="http://schemas.openxmlformats.org/drawingml/2006/main">
              <a:ext uri="{FF2B5EF4-FFF2-40B4-BE49-F238E27FC236}">
                <a16:creationId xmlns:a16="http://schemas.microsoft.com/office/drawing/2014/main" id="{D8F0973A-D4C1-416C-B140-42DE3474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family</a:t>
            </a:r>
          </a:p>
        </p:txBody>
      </p:sp>
      <p:sp>
        <p:nvSpPr>
          <p:cNvPr id="8" name="s-head-1-box">
            <a:extLst xmlns:a="http://schemas.openxmlformats.org/drawingml/2006/main">
              <a:ext uri="{FF2B5EF4-FFF2-40B4-BE49-F238E27FC236}">
                <a16:creationId xmlns:a16="http://schemas.microsoft.com/office/drawing/2014/main" id="{D2531693-E606-4ABE-8852-F2D737C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s-head-1-text">
            <a:extLst xmlns:a="http://schemas.openxmlformats.org/drawingml/2006/main">
              <a:ext uri="{FF2B5EF4-FFF2-40B4-BE49-F238E27FC236}">
                <a16:creationId xmlns:a16="http://schemas.microsoft.com/office/drawing/2014/main" id="{954DFF04-19D3-4EAE-A16C-C36C521D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supports</a:t>
            </a:r>
          </a:p>
        </p:txBody>
      </p:sp>
      <p:sp>
        <p:nvSpPr>
          <p:cNvPr id="10" name="s-head-2-box">
            <a:extLst xmlns:a="http://schemas.openxmlformats.org/drawingml/2006/main">
              <a:ext uri="{FF2B5EF4-FFF2-40B4-BE49-F238E27FC236}">
                <a16:creationId xmlns:a16="http://schemas.microsoft.com/office/drawing/2014/main" id="{7ACD59E1-3215-4EBB-B0DF-24D289E9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33600"/>
            <a:ext cx="3333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s-head-2-text">
            <a:extLst xmlns:a="http://schemas.openxmlformats.org/drawingml/2006/main">
              <a:ext uri="{FF2B5EF4-FFF2-40B4-BE49-F238E27FC236}">
                <a16:creationId xmlns:a16="http://schemas.microsoft.com/office/drawing/2014/main" id="{695F5F48-51F2-491F-9A65-6F205403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098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does not prove</a:t>
            </a:r>
          </a:p>
        </p:txBody>
      </p:sp>
      <p:sp>
        <p:nvSpPr>
          <p:cNvPr id="12" name="s-head-3-box">
            <a:extLst xmlns:a="http://schemas.openxmlformats.org/drawingml/2006/main">
              <a:ext uri="{FF2B5EF4-FFF2-40B4-BE49-F238E27FC236}">
                <a16:creationId xmlns:a16="http://schemas.microsoft.com/office/drawing/2014/main" id="{30CA5B5A-501A-4C87-83DC-F0F7DD8B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33600"/>
            <a:ext cx="2495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s-head-3-text">
            <a:extLst xmlns:a="http://schemas.openxmlformats.org/drawingml/2006/main">
              <a:ext uri="{FF2B5EF4-FFF2-40B4-BE49-F238E27FC236}">
                <a16:creationId xmlns:a16="http://schemas.microsoft.com/office/drawing/2014/main" id="{3D80774F-9D10-4EA0-AF48-86176368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s-0-0-box">
            <a:extLst xmlns:a="http://schemas.openxmlformats.org/drawingml/2006/main">
              <a:ext uri="{FF2B5EF4-FFF2-40B4-BE49-F238E27FC236}">
                <a16:creationId xmlns:a16="http://schemas.microsoft.com/office/drawing/2014/main" id="{7367ED48-8056-4797-A397-CAEEBFA5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-0-0-text">
            <a:extLst xmlns:a="http://schemas.openxmlformats.org/drawingml/2006/main">
              <a:ext uri="{FF2B5EF4-FFF2-40B4-BE49-F238E27FC236}">
                <a16:creationId xmlns:a16="http://schemas.microsoft.com/office/drawing/2014/main" id="{4C13E900-774E-4B4C-8659-218301D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Units and scaling</a:t>
            </a:r>
          </a:p>
        </p:txBody>
      </p:sp>
      <p:sp>
        <p:nvSpPr>
          <p:cNvPr id="16" name="s-0-1-box">
            <a:extLst xmlns:a="http://schemas.openxmlformats.org/drawingml/2006/main">
              <a:ext uri="{FF2B5EF4-FFF2-40B4-BE49-F238E27FC236}">
                <a16:creationId xmlns:a16="http://schemas.microsoft.com/office/drawing/2014/main" id="{13C7D078-0FDC-4D7B-A178-D4BAA7FD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-0-1-text">
            <a:extLst xmlns:a="http://schemas.openxmlformats.org/drawingml/2006/main">
              <a:ext uri="{FF2B5EF4-FFF2-40B4-BE49-F238E27FC236}">
                <a16:creationId xmlns:a16="http://schemas.microsoft.com/office/drawing/2014/main" id="{5EB361A7-AB49-43A9-B062-15F900E2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479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A-weighting, absorption, jet Vⱼ⁸, gear V⁶, BPR sensitivity</a:t>
            </a:r>
          </a:p>
        </p:txBody>
      </p:sp>
      <p:sp>
        <p:nvSpPr>
          <p:cNvPr id="18" name="s-0-2-box">
            <a:extLst xmlns:a="http://schemas.openxmlformats.org/drawingml/2006/main">
              <a:ext uri="{FF2B5EF4-FFF2-40B4-BE49-F238E27FC236}">
                <a16:creationId xmlns:a16="http://schemas.microsoft.com/office/drawing/2014/main" id="{B8EE7661-9330-4F60-B7CA-CDFF9FE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-0-2-text">
            <a:extLst xmlns:a="http://schemas.openxmlformats.org/drawingml/2006/main">
              <a:ext uri="{FF2B5EF4-FFF2-40B4-BE49-F238E27FC236}">
                <a16:creationId xmlns:a16="http://schemas.microsoft.com/office/drawing/2014/main" id="{C3D3AE21-082A-4596-AE8B-724D3944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479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Correctness of the chosen physical law for a new engine</a:t>
            </a:r>
          </a:p>
        </p:txBody>
      </p:sp>
      <p:sp>
        <p:nvSpPr>
          <p:cNvPr id="20" name="s-0-3-box">
            <a:extLst xmlns:a="http://schemas.openxmlformats.org/drawingml/2006/main">
              <a:ext uri="{FF2B5EF4-FFF2-40B4-BE49-F238E27FC236}">
                <a16:creationId xmlns:a16="http://schemas.microsoft.com/office/drawing/2014/main" id="{3585A3CA-1F1E-4687-B266-43E3E6A7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-0-3-text">
            <a:extLst xmlns:a="http://schemas.openxmlformats.org/drawingml/2006/main">
              <a:ext uri="{FF2B5EF4-FFF2-40B4-BE49-F238E27FC236}">
                <a16:creationId xmlns:a16="http://schemas.microsoft.com/office/drawing/2014/main" id="{3EC51FBB-7DCB-45EF-8204-1E53969D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22" name="s-1-0-box">
            <a:extLst xmlns:a="http://schemas.openxmlformats.org/drawingml/2006/main">
              <a:ext uri="{FF2B5EF4-FFF2-40B4-BE49-F238E27FC236}">
                <a16:creationId xmlns:a16="http://schemas.microsoft.com/office/drawing/2014/main" id="{FA2C7E4A-BFB4-4751-AE40-902F16BB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-1-0-text">
            <a:extLst xmlns:a="http://schemas.openxmlformats.org/drawingml/2006/main">
              <a:ext uri="{FF2B5EF4-FFF2-40B4-BE49-F238E27FC236}">
                <a16:creationId xmlns:a16="http://schemas.microsoft.com/office/drawing/2014/main" id="{F9D5DD87-A51A-403E-8927-B8BD2923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gates</a:t>
            </a:r>
          </a:p>
        </p:txBody>
      </p:sp>
      <p:sp>
        <p:nvSpPr>
          <p:cNvPr id="24" name="s-1-1-box">
            <a:extLst xmlns:a="http://schemas.openxmlformats.org/drawingml/2006/main">
              <a:ext uri="{FF2B5EF4-FFF2-40B4-BE49-F238E27FC236}">
                <a16:creationId xmlns:a16="http://schemas.microsoft.com/office/drawing/2014/main" id="{399DA1E2-F15A-4ECE-829C-84914B53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956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-1-1-text">
            <a:extLst xmlns:a="http://schemas.openxmlformats.org/drawingml/2006/main">
              <a:ext uri="{FF2B5EF4-FFF2-40B4-BE49-F238E27FC236}">
                <a16:creationId xmlns:a16="http://schemas.microsoft.com/office/drawing/2014/main" id="{1718DFBC-1BF0-4A9B-8670-D4369D4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718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jet/fan/core paths and six airframe outputs appear only when inputs permit</a:t>
            </a:r>
          </a:p>
        </p:txBody>
      </p:sp>
      <p:sp>
        <p:nvSpPr>
          <p:cNvPr id="26" name="s-1-2-box">
            <a:extLst xmlns:a="http://schemas.openxmlformats.org/drawingml/2006/main">
              <a:ext uri="{FF2B5EF4-FFF2-40B4-BE49-F238E27FC236}">
                <a16:creationId xmlns:a16="http://schemas.microsoft.com/office/drawing/2014/main" id="{76AC0EC0-C047-4ED6-AE85-C9DA0D94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956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-1-2-text">
            <a:extLst xmlns:a="http://schemas.openxmlformats.org/drawingml/2006/main">
              <a:ext uri="{FF2B5EF4-FFF2-40B4-BE49-F238E27FC236}">
                <a16:creationId xmlns:a16="http://schemas.microsoft.com/office/drawing/2014/main" id="{F49875B8-D616-49BD-92B3-9009C07E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718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That the available inputs describe the real aircraft</a:t>
            </a:r>
          </a:p>
        </p:txBody>
      </p:sp>
      <p:sp>
        <p:nvSpPr>
          <p:cNvPr id="28" name="s-1-3-box">
            <a:extLst xmlns:a="http://schemas.openxmlformats.org/drawingml/2006/main">
              <a:ext uri="{FF2B5EF4-FFF2-40B4-BE49-F238E27FC236}">
                <a16:creationId xmlns:a16="http://schemas.microsoft.com/office/drawing/2014/main" id="{E0247725-055A-4D5A-A828-A0F53C98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-1-3-text">
            <a:extLst xmlns:a="http://schemas.openxmlformats.org/drawingml/2006/main">
              <a:ext uri="{FF2B5EF4-FFF2-40B4-BE49-F238E27FC236}">
                <a16:creationId xmlns:a16="http://schemas.microsoft.com/office/drawing/2014/main" id="{65427393-1B45-4327-84BA-7A70C531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30" name="s-2-0-box">
            <a:extLst xmlns:a="http://schemas.openxmlformats.org/drawingml/2006/main">
              <a:ext uri="{FF2B5EF4-FFF2-40B4-BE49-F238E27FC236}">
                <a16:creationId xmlns:a16="http://schemas.microsoft.com/office/drawing/2014/main" id="{DBDDC7DB-566D-49F7-9449-9FD24E67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-2-0-text">
            <a:extLst xmlns:a="http://schemas.openxmlformats.org/drawingml/2006/main">
              <a:ext uri="{FF2B5EF4-FFF2-40B4-BE49-F238E27FC236}">
                <a16:creationId xmlns:a16="http://schemas.microsoft.com/office/drawing/2014/main" id="{BB3C34D4-58D6-4367-8579-ADE5FB45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Calibration behavior</a:t>
            </a:r>
          </a:p>
        </p:txBody>
      </p:sp>
      <p:sp>
        <p:nvSpPr>
          <p:cNvPr id="32" name="s-2-1-box">
            <a:extLst xmlns:a="http://schemas.openxmlformats.org/drawingml/2006/main">
              <a:ext uri="{FF2B5EF4-FFF2-40B4-BE49-F238E27FC236}">
                <a16:creationId xmlns:a16="http://schemas.microsoft.com/office/drawing/2014/main" id="{351A5D57-2107-4839-980B-FD20098A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195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-2-1-text">
            <a:extLst xmlns:a="http://schemas.openxmlformats.org/drawingml/2006/main">
              <a:ext uri="{FF2B5EF4-FFF2-40B4-BE49-F238E27FC236}">
                <a16:creationId xmlns:a16="http://schemas.microsoft.com/office/drawing/2014/main" id="{07CC9D41-ECB3-4A8E-B95C-61F92078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957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Four anchors and spectral factor affect the documented reference fit</a:t>
            </a:r>
          </a:p>
        </p:txBody>
      </p:sp>
      <p:sp>
        <p:nvSpPr>
          <p:cNvPr id="34" name="s-2-2-box">
            <a:extLst xmlns:a="http://schemas.openxmlformats.org/drawingml/2006/main">
              <a:ext uri="{FF2B5EF4-FFF2-40B4-BE49-F238E27FC236}">
                <a16:creationId xmlns:a16="http://schemas.microsoft.com/office/drawing/2014/main" id="{F4CC47C4-2F38-4827-9B35-202DFD2D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-2-2-text">
            <a:extLst xmlns:a="http://schemas.openxmlformats.org/drawingml/2006/main">
              <a:ext uri="{FF2B5EF4-FFF2-40B4-BE49-F238E27FC236}">
                <a16:creationId xmlns:a16="http://schemas.microsoft.com/office/drawing/2014/main" id="{F186AE3B-4075-4806-B499-14E579DB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957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Independent component accuracy or transferability</a:t>
            </a:r>
          </a:p>
        </p:txBody>
      </p:sp>
      <p:sp>
        <p:nvSpPr>
          <p:cNvPr id="36" name="s-2-3-box">
            <a:extLst xmlns:a="http://schemas.openxmlformats.org/drawingml/2006/main">
              <a:ext uri="{FF2B5EF4-FFF2-40B4-BE49-F238E27FC236}">
                <a16:creationId xmlns:a16="http://schemas.microsoft.com/office/drawing/2014/main" id="{35579FEA-8105-466D-B853-85E7E9A4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-2-3-text">
            <a:extLst xmlns:a="http://schemas.openxmlformats.org/drawingml/2006/main">
              <a:ext uri="{FF2B5EF4-FFF2-40B4-BE49-F238E27FC236}">
                <a16:creationId xmlns:a16="http://schemas.microsoft.com/office/drawing/2014/main" id="{B2B71602-C30B-4742-9315-F8B5F66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9575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38" name="s-3-0-box">
            <a:extLst xmlns:a="http://schemas.openxmlformats.org/drawingml/2006/main">
              <a:ext uri="{FF2B5EF4-FFF2-40B4-BE49-F238E27FC236}">
                <a16:creationId xmlns:a16="http://schemas.microsoft.com/office/drawing/2014/main" id="{C62B4CDE-3523-4BCA-9AD1-E85CAE69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2114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-3-0-text">
            <a:extLst xmlns:a="http://schemas.openxmlformats.org/drawingml/2006/main">
              <a:ext uri="{FF2B5EF4-FFF2-40B4-BE49-F238E27FC236}">
                <a16:creationId xmlns:a16="http://schemas.microsoft.com/office/drawing/2014/main" id="{DCB54397-9BEF-430F-B58C-F9FE7F0C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1885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 and provenance</a:t>
            </a:r>
          </a:p>
        </p:txBody>
      </p:sp>
      <p:sp>
        <p:nvSpPr>
          <p:cNvPr id="40" name="s-3-1-box">
            <a:extLst xmlns:a="http://schemas.openxmlformats.org/drawingml/2006/main">
              <a:ext uri="{FF2B5EF4-FFF2-40B4-BE49-F238E27FC236}">
                <a16:creationId xmlns:a16="http://schemas.microsoft.com/office/drawing/2014/main" id="{5189FBAC-4E26-4938-8317-2EEE8081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434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-3-1-text">
            <a:extLst xmlns:a="http://schemas.openxmlformats.org/drawingml/2006/main">
              <a:ext uri="{FF2B5EF4-FFF2-40B4-BE49-F238E27FC236}">
                <a16:creationId xmlns:a16="http://schemas.microsoft.com/office/drawing/2014/main" id="{16D1426E-98AA-493B-991F-DDAA3845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19650"/>
            <a:ext cx="2914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SEL/LAmax scope, unavailable states, and separate truth/prediction tables</a:t>
            </a:r>
          </a:p>
        </p:txBody>
      </p:sp>
      <p:sp>
        <p:nvSpPr>
          <p:cNvPr id="42" name="s-3-2-box">
            <a:extLst xmlns:a="http://schemas.openxmlformats.org/drawingml/2006/main">
              <a:ext uri="{FF2B5EF4-FFF2-40B4-BE49-F238E27FC236}">
                <a16:creationId xmlns:a16="http://schemas.microsoft.com/office/drawing/2014/main" id="{20C4A762-3255-4CAF-BD8E-EA2CFEF2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434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-3-2-text">
            <a:extLst xmlns:a="http://schemas.openxmlformats.org/drawingml/2006/main">
              <a:ext uri="{FF2B5EF4-FFF2-40B4-BE49-F238E27FC236}">
                <a16:creationId xmlns:a16="http://schemas.microsoft.com/office/drawing/2014/main" id="{775CC582-13F7-4A41-9C41-50CD86CC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19650"/>
            <a:ext cx="3105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measured uncertainty interval or certification claim</a:t>
            </a:r>
          </a:p>
        </p:txBody>
      </p:sp>
      <p:sp>
        <p:nvSpPr>
          <p:cNvPr id="44" name="s-3-3-box">
            <a:extLst xmlns:a="http://schemas.openxmlformats.org/drawingml/2006/main">
              <a:ext uri="{FF2B5EF4-FFF2-40B4-BE49-F238E27FC236}">
                <a16:creationId xmlns:a16="http://schemas.microsoft.com/office/drawing/2014/main" id="{F101540D-F243-41BB-9C6A-EFC267A3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43450"/>
            <a:ext cx="2495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-3-3-text">
            <a:extLst xmlns:a="http://schemas.openxmlformats.org/drawingml/2006/main">
              <a:ext uri="{FF2B5EF4-FFF2-40B4-BE49-F238E27FC236}">
                <a16:creationId xmlns:a16="http://schemas.microsoft.com/office/drawing/2014/main" id="{5BD16A36-041C-4C48-A5C6-63E2C63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819650"/>
            <a:ext cx="2266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46" name="s-callout">
            <a:extLst xmlns:a="http://schemas.openxmlformats.org/drawingml/2006/main">
              <a:ext uri="{FF2B5EF4-FFF2-40B4-BE49-F238E27FC236}">
                <a16:creationId xmlns:a16="http://schemas.microsoft.com/office/drawing/2014/main" id="{A9849D21-33C2-43BB-9764-D4FA7A1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9525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47" name="s-callout-text">
            <a:extLst xmlns:a="http://schemas.openxmlformats.org/drawingml/2006/main">
              <a:ext uri="{FF2B5EF4-FFF2-40B4-BE49-F238E27FC236}">
                <a16:creationId xmlns:a16="http://schemas.microsoft.com/office/drawing/2014/main" id="{D1666C65-3690-4E92-8C25-3E2046F6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57875"/>
            <a:ext cx="902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58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Software verification closes implementation questions; measurement validation closes physical-accuracy questions.</a:t>
            </a:r>
          </a:p>
        </p:txBody>
      </p:sp>
    </p:spTree>
    <p:extLst>
      <p:ext uri="{BB962C8B-B14F-4D97-AF65-F5344CB8AC3E}">
        <p14:creationId xmlns:p14="http://schemas.microsoft.com/office/powerpoint/2010/main" val="19474571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kicker-10">
            <a:extLst xmlns:a="http://schemas.openxmlformats.org/drawingml/2006/main">
              <a:ext uri="{FF2B5EF4-FFF2-40B4-BE49-F238E27FC236}">
                <a16:creationId xmlns:a16="http://schemas.microsoft.com/office/drawing/2014/main" id="{4381A977-32E8-4E22-A99A-B12E420E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09  /  COMPONENT VALIDITY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56BE916-8292-4B3D-8817-FEA76685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mechanisms remain the weakest evidence layer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5283E41D-2C8A-4854-82CD-F8794DCD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3CFE2CD9-3A36-45C9-A70A-DEF1F67A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10</a:t>
            </a:r>
          </a:p>
        </p:txBody>
      </p:sp>
      <p:sp>
        <p:nvSpPr>
          <p:cNvPr id="5" name="auto-text-11">
            <a:extLst xmlns:a="http://schemas.openxmlformats.org/drawingml/2006/main">
              <a:ext uri="{FF2B5EF4-FFF2-40B4-BE49-F238E27FC236}">
                <a16:creationId xmlns:a16="http://schemas.microsoft.com/office/drawing/2014/main" id="{3F00566D-387A-499A-A460-00CA7B7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9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Implemented mechanisms are inspectable; independent component measurement evidence is the missing link.</a:t>
            </a:r>
          </a:p>
        </p:txBody>
      </p:sp>
      <p:sp>
        <p:nvSpPr>
          <p:cNvPr id="6" name="c-head-0-box">
            <a:extLst xmlns:a="http://schemas.openxmlformats.org/drawingml/2006/main">
              <a:ext uri="{FF2B5EF4-FFF2-40B4-BE49-F238E27FC236}">
                <a16:creationId xmlns:a16="http://schemas.microsoft.com/office/drawing/2014/main" id="{FE2B67BC-C515-4A48-9EB5-3AD5EA8D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c-head-0-text">
            <a:extLst xmlns:a="http://schemas.openxmlformats.org/drawingml/2006/main">
              <a:ext uri="{FF2B5EF4-FFF2-40B4-BE49-F238E27FC236}">
                <a16:creationId xmlns:a16="http://schemas.microsoft.com/office/drawing/2014/main" id="{BB9459B2-53A8-4BD5-B179-B160A7F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8" name="c-head-1-box">
            <a:extLst xmlns:a="http://schemas.openxmlformats.org/drawingml/2006/main">
              <a:ext uri="{FF2B5EF4-FFF2-40B4-BE49-F238E27FC236}">
                <a16:creationId xmlns:a16="http://schemas.microsoft.com/office/drawing/2014/main" id="{DD4FAC4C-B2DD-4E4E-B26D-6C8DDB3B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336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c-head-1-text">
            <a:extLst xmlns:a="http://schemas.openxmlformats.org/drawingml/2006/main">
              <a:ext uri="{FF2B5EF4-FFF2-40B4-BE49-F238E27FC236}">
                <a16:creationId xmlns:a16="http://schemas.microsoft.com/office/drawing/2014/main" id="{CD99D1D3-5826-40DB-A281-8EC7531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098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basis</a:t>
            </a:r>
          </a:p>
        </p:txBody>
      </p:sp>
      <p:sp>
        <p:nvSpPr>
          <p:cNvPr id="10" name="c-head-2-box">
            <a:extLst xmlns:a="http://schemas.openxmlformats.org/drawingml/2006/main">
              <a:ext uri="{FF2B5EF4-FFF2-40B4-BE49-F238E27FC236}">
                <a16:creationId xmlns:a16="http://schemas.microsoft.com/office/drawing/2014/main" id="{D33C2641-AA4B-47CA-AF91-CE51B72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c-head-2-text">
            <a:extLst xmlns:a="http://schemas.openxmlformats.org/drawingml/2006/main">
              <a:ext uri="{FF2B5EF4-FFF2-40B4-BE49-F238E27FC236}">
                <a16:creationId xmlns:a16="http://schemas.microsoft.com/office/drawing/2014/main" id="{0A632E45-E3F8-4270-B051-3A249468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Missing evidence</a:t>
            </a:r>
          </a:p>
        </p:txBody>
      </p:sp>
      <p:sp>
        <p:nvSpPr>
          <p:cNvPr id="12" name="c-head-3-box">
            <a:extLst xmlns:a="http://schemas.openxmlformats.org/drawingml/2006/main">
              <a:ext uri="{FF2B5EF4-FFF2-40B4-BE49-F238E27FC236}">
                <a16:creationId xmlns:a16="http://schemas.microsoft.com/office/drawing/2014/main" id="{56D6010F-54DA-4028-942A-286ABD8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c-head-3-text">
            <a:extLst xmlns:a="http://schemas.openxmlformats.org/drawingml/2006/main">
              <a:ext uri="{FF2B5EF4-FFF2-40B4-BE49-F238E27FC236}">
                <a16:creationId xmlns:a16="http://schemas.microsoft.com/office/drawing/2014/main" id="{F032EB5B-797D-493B-9C2F-2252225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098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c-0-0-box">
            <a:extLst xmlns:a="http://schemas.openxmlformats.org/drawingml/2006/main">
              <a:ext uri="{FF2B5EF4-FFF2-40B4-BE49-F238E27FC236}">
                <a16:creationId xmlns:a16="http://schemas.microsoft.com/office/drawing/2014/main" id="{6F97E98C-5592-4CE6-8F2E-8039E51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c-0-0-text">
            <a:extLst xmlns:a="http://schemas.openxmlformats.org/drawingml/2006/main">
              <a:ext uri="{FF2B5EF4-FFF2-40B4-BE49-F238E27FC236}">
                <a16:creationId xmlns:a16="http://schemas.microsoft.com/office/drawing/2014/main" id="{5202FD79-6E43-48C1-AC72-5DC226E8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Jet</a:t>
            </a:r>
          </a:p>
        </p:txBody>
      </p:sp>
      <p:sp>
        <p:nvSpPr>
          <p:cNvPr id="16" name="c-0-1-box">
            <a:extLst xmlns:a="http://schemas.openxmlformats.org/drawingml/2006/main">
              <a:ext uri="{FF2B5EF4-FFF2-40B4-BE49-F238E27FC236}">
                <a16:creationId xmlns:a16="http://schemas.microsoft.com/office/drawing/2014/main" id="{90F5103E-0E98-4A26-B1F4-88931BBD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527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c-0-1-text">
            <a:extLst xmlns:a="http://schemas.openxmlformats.org/drawingml/2006/main">
              <a:ext uri="{FF2B5EF4-FFF2-40B4-BE49-F238E27FC236}">
                <a16:creationId xmlns:a16="http://schemas.microsoft.com/office/drawing/2014/main" id="{7488CBB2-189A-4AE6-9832-FF01CE56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289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Stone-style mixing; Vⱼ⁸ scaling; multi-stream gate</a:t>
            </a:r>
          </a:p>
        </p:txBody>
      </p:sp>
      <p:sp>
        <p:nvSpPr>
          <p:cNvPr id="18" name="c-0-2-box">
            <a:extLst xmlns:a="http://schemas.openxmlformats.org/drawingml/2006/main">
              <a:ext uri="{FF2B5EF4-FFF2-40B4-BE49-F238E27FC236}">
                <a16:creationId xmlns:a16="http://schemas.microsoft.com/office/drawing/2014/main" id="{AC0B5B9E-F506-4F91-A47A-59C26EF8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527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c-0-2-text">
            <a:extLst xmlns:a="http://schemas.openxmlformats.org/drawingml/2006/main">
              <a:ext uri="{FF2B5EF4-FFF2-40B4-BE49-F238E27FC236}">
                <a16:creationId xmlns:a16="http://schemas.microsoft.com/office/drawing/2014/main" id="{AB28632E-A875-4089-B319-BDF31145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289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89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spectra/directivity by state</a:t>
            </a:r>
          </a:p>
        </p:txBody>
      </p:sp>
      <p:sp>
        <p:nvSpPr>
          <p:cNvPr id="20" name="c-0-3-box">
            <a:extLst xmlns:a="http://schemas.openxmlformats.org/drawingml/2006/main">
              <a:ext uri="{FF2B5EF4-FFF2-40B4-BE49-F238E27FC236}">
                <a16:creationId xmlns:a16="http://schemas.microsoft.com/office/drawing/2014/main" id="{0A0C5BC0-2D7E-43A8-9194-51313B75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527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c-0-3-text">
            <a:extLst xmlns:a="http://schemas.openxmlformats.org/drawingml/2006/main">
              <a:ext uri="{FF2B5EF4-FFF2-40B4-BE49-F238E27FC236}">
                <a16:creationId xmlns:a16="http://schemas.microsoft.com/office/drawing/2014/main" id="{2A399759-B0BB-4349-8FF8-26277D5D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289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22" name="c-1-0-box">
            <a:extLst xmlns:a="http://schemas.openxmlformats.org/drawingml/2006/main">
              <a:ext uri="{FF2B5EF4-FFF2-40B4-BE49-F238E27FC236}">
                <a16:creationId xmlns:a16="http://schemas.microsoft.com/office/drawing/2014/main" id="{8DA16E6A-472F-4721-A7AC-74750ED5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c-1-0-text">
            <a:extLst xmlns:a="http://schemas.openxmlformats.org/drawingml/2006/main">
              <a:ext uri="{FF2B5EF4-FFF2-40B4-BE49-F238E27FC236}">
                <a16:creationId xmlns:a16="http://schemas.microsoft.com/office/drawing/2014/main" id="{70E4241F-1012-444C-93CC-C86034D9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Fan</a:t>
            </a:r>
          </a:p>
        </p:txBody>
      </p:sp>
      <p:sp>
        <p:nvSpPr>
          <p:cNvPr id="24" name="c-1-1-box">
            <a:extLst xmlns:a="http://schemas.openxmlformats.org/drawingml/2006/main">
              <a:ext uri="{FF2B5EF4-FFF2-40B4-BE49-F238E27FC236}">
                <a16:creationId xmlns:a16="http://schemas.microsoft.com/office/drawing/2014/main" id="{F32717AB-05BC-4AC6-8A75-A47C0DE5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c-1-1-text">
            <a:extLst xmlns:a="http://schemas.openxmlformats.org/drawingml/2006/main">
              <a:ext uri="{FF2B5EF4-FFF2-40B4-BE49-F238E27FC236}">
                <a16:creationId xmlns:a16="http://schemas.microsoft.com/office/drawing/2014/main" id="{A3A76CC5-F539-4ED2-B68C-3E3AD43D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Heidmann scaling; BPF; inlet/discharge lobes</a:t>
            </a:r>
          </a:p>
        </p:txBody>
      </p:sp>
      <p:sp>
        <p:nvSpPr>
          <p:cNvPr id="26" name="c-1-2-box">
            <a:extLst xmlns:a="http://schemas.openxmlformats.org/drawingml/2006/main">
              <a:ext uri="{FF2B5EF4-FFF2-40B4-BE49-F238E27FC236}">
                <a16:creationId xmlns:a16="http://schemas.microsoft.com/office/drawing/2014/main" id="{5A7164ED-0383-46E4-AB94-489DDDBC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c-1-2-text">
            <a:extLst xmlns:a="http://schemas.openxmlformats.org/drawingml/2006/main">
              <a:ext uri="{FF2B5EF4-FFF2-40B4-BE49-F238E27FC236}">
                <a16:creationId xmlns:a16="http://schemas.microsoft.com/office/drawing/2014/main" id="{85BBBF4E-21D0-422A-AC7C-7E04BD8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480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2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Engine-deck and flight component data</a:t>
            </a:r>
          </a:p>
        </p:txBody>
      </p:sp>
      <p:sp>
        <p:nvSpPr>
          <p:cNvPr id="28" name="c-1-3-box">
            <a:extLst xmlns:a="http://schemas.openxmlformats.org/drawingml/2006/main">
              <a:ext uri="{FF2B5EF4-FFF2-40B4-BE49-F238E27FC236}">
                <a16:creationId xmlns:a16="http://schemas.microsoft.com/office/drawing/2014/main" id="{DFB81EAE-55C1-4A26-89F8-FD9C82F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c-1-3-text">
            <a:extLst xmlns:a="http://schemas.openxmlformats.org/drawingml/2006/main">
              <a:ext uri="{FF2B5EF4-FFF2-40B4-BE49-F238E27FC236}">
                <a16:creationId xmlns:a16="http://schemas.microsoft.com/office/drawing/2014/main" id="{7F49B74B-C95C-41A9-887D-4F936A96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480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30" name="c-2-0-box">
            <a:extLst xmlns:a="http://schemas.openxmlformats.org/drawingml/2006/main">
              <a:ext uri="{FF2B5EF4-FFF2-40B4-BE49-F238E27FC236}">
                <a16:creationId xmlns:a16="http://schemas.microsoft.com/office/drawing/2014/main" id="{919EA93F-FC39-48D4-B571-B84C6C94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909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c-2-0-text">
            <a:extLst xmlns:a="http://schemas.openxmlformats.org/drawingml/2006/main">
              <a:ext uri="{FF2B5EF4-FFF2-40B4-BE49-F238E27FC236}">
                <a16:creationId xmlns:a16="http://schemas.microsoft.com/office/drawing/2014/main" id="{EB1D2562-5E0A-4A3E-9736-D72F0DB3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32" name="c-2-1-box">
            <a:extLst xmlns:a="http://schemas.openxmlformats.org/drawingml/2006/main">
              <a:ext uri="{FF2B5EF4-FFF2-40B4-BE49-F238E27FC236}">
                <a16:creationId xmlns:a16="http://schemas.microsoft.com/office/drawing/2014/main" id="{05B154DD-B0B0-41F2-925F-C5F30931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909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c-2-1-text">
            <a:extLst xmlns:a="http://schemas.openxmlformats.org/drawingml/2006/main">
              <a:ext uri="{FF2B5EF4-FFF2-40B4-BE49-F238E27FC236}">
                <a16:creationId xmlns:a16="http://schemas.microsoft.com/office/drawing/2014/main" id="{96FA5796-2926-47A9-8340-69100ACD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671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Optional branch; unavailable without complete core state</a:t>
            </a:r>
          </a:p>
        </p:txBody>
      </p:sp>
      <p:sp>
        <p:nvSpPr>
          <p:cNvPr id="34" name="c-2-2-box">
            <a:extLst xmlns:a="http://schemas.openxmlformats.org/drawingml/2006/main">
              <a:ext uri="{FF2B5EF4-FFF2-40B4-BE49-F238E27FC236}">
                <a16:creationId xmlns:a16="http://schemas.microsoft.com/office/drawing/2014/main" id="{BF53C402-C62F-4BC2-B5D3-E989A36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909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c-2-2-text">
            <a:extLst xmlns:a="http://schemas.openxmlformats.org/drawingml/2006/main">
              <a:ext uri="{FF2B5EF4-FFF2-40B4-BE49-F238E27FC236}">
                <a16:creationId xmlns:a16="http://schemas.microsoft.com/office/drawing/2014/main" id="{2C27FA28-92FC-44D1-BE45-1FA4EA08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671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66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Any component evidence in current workflow</a:t>
            </a:r>
          </a:p>
        </p:txBody>
      </p:sp>
      <p:sp>
        <p:nvSpPr>
          <p:cNvPr id="36" name="c-2-3-box">
            <a:extLst xmlns:a="http://schemas.openxmlformats.org/drawingml/2006/main">
              <a:ext uri="{FF2B5EF4-FFF2-40B4-BE49-F238E27FC236}">
                <a16:creationId xmlns:a16="http://schemas.microsoft.com/office/drawing/2014/main" id="{8A4B25D0-E719-44C3-A958-5F7B885B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c-2-3-text">
            <a:extLst xmlns:a="http://schemas.openxmlformats.org/drawingml/2006/main">
              <a:ext uri="{FF2B5EF4-FFF2-40B4-BE49-F238E27FC236}">
                <a16:creationId xmlns:a16="http://schemas.microsoft.com/office/drawing/2014/main" id="{17686B34-AC1F-4DDC-8893-E1624EB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671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DEMONSTRATED</a:t>
            </a:r>
          </a:p>
        </p:txBody>
      </p:sp>
      <p:sp>
        <p:nvSpPr>
          <p:cNvPr id="38" name="c-3-0-box">
            <a:extLst xmlns:a="http://schemas.openxmlformats.org/drawingml/2006/main">
              <a:ext uri="{FF2B5EF4-FFF2-40B4-BE49-F238E27FC236}">
                <a16:creationId xmlns:a16="http://schemas.microsoft.com/office/drawing/2014/main" id="{9717B91A-03DC-41D8-BDD8-6EBB18B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c-3-0-text">
            <a:extLst xmlns:a="http://schemas.openxmlformats.org/drawingml/2006/main">
              <a:ext uri="{FF2B5EF4-FFF2-40B4-BE49-F238E27FC236}">
                <a16:creationId xmlns:a16="http://schemas.microsoft.com/office/drawing/2014/main" id="{EFBDE642-B0CD-4311-85D6-299C0F41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Wing / slat</a:t>
            </a:r>
          </a:p>
        </p:txBody>
      </p:sp>
      <p:sp>
        <p:nvSpPr>
          <p:cNvPr id="40" name="c-3-1-box">
            <a:extLst xmlns:a="http://schemas.openxmlformats.org/drawingml/2006/main">
              <a:ext uri="{FF2B5EF4-FFF2-40B4-BE49-F238E27FC236}">
                <a16:creationId xmlns:a16="http://schemas.microsoft.com/office/drawing/2014/main" id="{2159F868-605F-4A71-A330-AEA4E5E3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100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c-3-1-text">
            <a:extLst xmlns:a="http://schemas.openxmlformats.org/drawingml/2006/main">
              <a:ext uri="{FF2B5EF4-FFF2-40B4-BE49-F238E27FC236}">
                <a16:creationId xmlns:a16="http://schemas.microsoft.com/office/drawing/2014/main" id="{33DDF1FA-3359-4A26-A008-270383C5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862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Fink-style 50 log₁₀(V/c₀) + geometry proxies</a:t>
            </a:r>
          </a:p>
        </p:txBody>
      </p:sp>
      <p:sp>
        <p:nvSpPr>
          <p:cNvPr id="42" name="c-3-2-box">
            <a:extLst xmlns:a="http://schemas.openxmlformats.org/drawingml/2006/main">
              <a:ext uri="{FF2B5EF4-FFF2-40B4-BE49-F238E27FC236}">
                <a16:creationId xmlns:a16="http://schemas.microsoft.com/office/drawing/2014/main" id="{A468C7B9-AA5F-4C55-83AF-D67FD092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c-3-2-text">
            <a:extLst xmlns:a="http://schemas.openxmlformats.org/drawingml/2006/main">
              <a:ext uri="{FF2B5EF4-FFF2-40B4-BE49-F238E27FC236}">
                <a16:creationId xmlns:a16="http://schemas.microsoft.com/office/drawing/2014/main" id="{E32A1411-DCA1-441B-B87C-B02C4D5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74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Modern high-lift component measurements</a:t>
            </a:r>
          </a:p>
        </p:txBody>
      </p:sp>
      <p:sp>
        <p:nvSpPr>
          <p:cNvPr id="44" name="c-3-3-box">
            <a:extLst xmlns:a="http://schemas.openxmlformats.org/drawingml/2006/main">
              <a:ext uri="{FF2B5EF4-FFF2-40B4-BE49-F238E27FC236}">
                <a16:creationId xmlns:a16="http://schemas.microsoft.com/office/drawing/2014/main" id="{3EE8682F-62D9-409C-9B70-E90C306B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0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c-3-3-text">
            <a:extLst xmlns:a="http://schemas.openxmlformats.org/drawingml/2006/main">
              <a:ext uri="{FF2B5EF4-FFF2-40B4-BE49-F238E27FC236}">
                <a16:creationId xmlns:a16="http://schemas.microsoft.com/office/drawing/2014/main" id="{A2BA76AF-2B22-44BF-9BBB-B1C09416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862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46" name="c-4-0-box">
            <a:extLst xmlns:a="http://schemas.openxmlformats.org/drawingml/2006/main">
              <a:ext uri="{FF2B5EF4-FFF2-40B4-BE49-F238E27FC236}">
                <a16:creationId xmlns:a16="http://schemas.microsoft.com/office/drawing/2014/main" id="{D16C1590-4A33-42A0-9720-5E173EE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c-4-0-text">
            <a:extLst xmlns:a="http://schemas.openxmlformats.org/drawingml/2006/main">
              <a:ext uri="{FF2B5EF4-FFF2-40B4-BE49-F238E27FC236}">
                <a16:creationId xmlns:a16="http://schemas.microsoft.com/office/drawing/2014/main" id="{5E7B3C2A-835B-44AF-B1CF-1720A616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Flap edges</a:t>
            </a:r>
          </a:p>
        </p:txBody>
      </p:sp>
      <p:sp>
        <p:nvSpPr>
          <p:cNvPr id="48" name="c-4-1-box">
            <a:extLst xmlns:a="http://schemas.openxmlformats.org/drawingml/2006/main">
              <a:ext uri="{FF2B5EF4-FFF2-40B4-BE49-F238E27FC236}">
                <a16:creationId xmlns:a16="http://schemas.microsoft.com/office/drawing/2014/main" id="{C4AD288E-53A9-4D22-BB93-9A9C2D76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c-4-1-text">
            <a:extLst xmlns:a="http://schemas.openxmlformats.org/drawingml/2006/main">
              <a:ext uri="{FF2B5EF4-FFF2-40B4-BE49-F238E27FC236}">
                <a16:creationId xmlns:a16="http://schemas.microsoft.com/office/drawing/2014/main" id="{08E57455-4763-4A14-8040-8AB5D297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053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and side-edge spectra separated</a:t>
            </a:r>
          </a:p>
        </p:txBody>
      </p:sp>
      <p:sp>
        <p:nvSpPr>
          <p:cNvPr id="50" name="c-4-2-box">
            <a:extLst xmlns:a="http://schemas.openxmlformats.org/drawingml/2006/main">
              <a:ext uri="{FF2B5EF4-FFF2-40B4-BE49-F238E27FC236}">
                <a16:creationId xmlns:a16="http://schemas.microsoft.com/office/drawing/2014/main" id="{E53A1829-657E-4812-B196-9F2EB141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c-4-2-text">
            <a:extLst xmlns:a="http://schemas.openxmlformats.org/drawingml/2006/main">
              <a:ext uri="{FF2B5EF4-FFF2-40B4-BE49-F238E27FC236}">
                <a16:creationId xmlns:a16="http://schemas.microsoft.com/office/drawing/2014/main" id="{D719EE1A-F085-485A-B74D-D5A6DEB4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053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072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Interaction and configuration evidence</a:t>
            </a:r>
          </a:p>
        </p:txBody>
      </p:sp>
      <p:sp>
        <p:nvSpPr>
          <p:cNvPr id="52" name="c-4-3-box">
            <a:extLst xmlns:a="http://schemas.openxmlformats.org/drawingml/2006/main">
              <a:ext uri="{FF2B5EF4-FFF2-40B4-BE49-F238E27FC236}">
                <a16:creationId xmlns:a16="http://schemas.microsoft.com/office/drawing/2014/main" id="{A90ED9FF-AA9C-41D0-80AD-6E549F2F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291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c-4-3-text">
            <a:extLst xmlns:a="http://schemas.openxmlformats.org/drawingml/2006/main">
              <a:ext uri="{FF2B5EF4-FFF2-40B4-BE49-F238E27FC236}">
                <a16:creationId xmlns:a16="http://schemas.microsoft.com/office/drawing/2014/main" id="{D69777D9-424E-4241-BBFE-E5799C0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3053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54" name="c-5-0-box">
            <a:extLst xmlns:a="http://schemas.openxmlformats.org/drawingml/2006/main">
              <a:ext uri="{FF2B5EF4-FFF2-40B4-BE49-F238E27FC236}">
                <a16:creationId xmlns:a16="http://schemas.microsoft.com/office/drawing/2014/main" id="{113A08A1-7DF6-4940-99F9-3E63EA99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c-5-0-text">
            <a:extLst xmlns:a="http://schemas.openxmlformats.org/drawingml/2006/main">
              <a:ext uri="{FF2B5EF4-FFF2-40B4-BE49-F238E27FC236}">
                <a16:creationId xmlns:a16="http://schemas.microsoft.com/office/drawing/2014/main" id="{57D2EA08-3A68-4B43-8401-E1EAA32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Main gear</a:t>
            </a:r>
          </a:p>
        </p:txBody>
      </p:sp>
      <p:sp>
        <p:nvSpPr>
          <p:cNvPr id="56" name="c-5-1-box">
            <a:extLst xmlns:a="http://schemas.openxmlformats.org/drawingml/2006/main">
              <a:ext uri="{FF2B5EF4-FFF2-40B4-BE49-F238E27FC236}">
                <a16:creationId xmlns:a16="http://schemas.microsoft.com/office/drawing/2014/main" id="{AE922317-37F3-416F-BDBB-0FAF9B3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482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c-5-1-text">
            <a:extLst xmlns:a="http://schemas.openxmlformats.org/drawingml/2006/main">
              <a:ext uri="{FF2B5EF4-FFF2-40B4-BE49-F238E27FC236}">
                <a16:creationId xmlns:a16="http://schemas.microsoft.com/office/drawing/2014/main" id="{3A549CD3-A532-4C4F-9425-C7F5658CB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244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Fink-style 60 log₁₀(V/c₀) + wheel/diameter terms</a:t>
            </a:r>
          </a:p>
        </p:txBody>
      </p:sp>
      <p:sp>
        <p:nvSpPr>
          <p:cNvPr id="58" name="c-5-2-box">
            <a:extLst xmlns:a="http://schemas.openxmlformats.org/drawingml/2006/main">
              <a:ext uri="{FF2B5EF4-FFF2-40B4-BE49-F238E27FC236}">
                <a16:creationId xmlns:a16="http://schemas.microsoft.com/office/drawing/2014/main" id="{FB5CA12E-4AB7-4880-AE45-D6E90DAD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482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c-5-2-text">
            <a:extLst xmlns:a="http://schemas.openxmlformats.org/drawingml/2006/main">
              <a:ext uri="{FF2B5EF4-FFF2-40B4-BE49-F238E27FC236}">
                <a16:creationId xmlns:a16="http://schemas.microsoft.com/office/drawing/2014/main" id="{A6F5172B-1BFF-41A6-A5EF-DE136D8A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3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Gear and flap-wake interaction data</a:t>
            </a:r>
          </a:p>
        </p:txBody>
      </p:sp>
      <p:sp>
        <p:nvSpPr>
          <p:cNvPr id="60" name="c-5-3-box">
            <a:extLst xmlns:a="http://schemas.openxmlformats.org/drawingml/2006/main">
              <a:ext uri="{FF2B5EF4-FFF2-40B4-BE49-F238E27FC236}">
                <a16:creationId xmlns:a16="http://schemas.microsoft.com/office/drawing/2014/main" id="{67C4F59D-5F97-4E3F-B7F0-C89FBBBC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c-5-3-text">
            <a:extLst xmlns:a="http://schemas.openxmlformats.org/drawingml/2006/main">
              <a:ext uri="{FF2B5EF4-FFF2-40B4-BE49-F238E27FC236}">
                <a16:creationId xmlns:a16="http://schemas.microsoft.com/office/drawing/2014/main" id="{9E14404B-3D91-4182-AB79-E8B8DDAF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244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62" name="c-6-0-box">
            <a:extLst xmlns:a="http://schemas.openxmlformats.org/drawingml/2006/main">
              <a:ext uri="{FF2B5EF4-FFF2-40B4-BE49-F238E27FC236}">
                <a16:creationId xmlns:a16="http://schemas.microsoft.com/office/drawing/2014/main" id="{30E92B0D-CD8B-4B7F-9C0F-E4D37133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c-6-0-text">
            <a:extLst xmlns:a="http://schemas.openxmlformats.org/drawingml/2006/main">
              <a:ext uri="{FF2B5EF4-FFF2-40B4-BE49-F238E27FC236}">
                <a16:creationId xmlns:a16="http://schemas.microsoft.com/office/drawing/2014/main" id="{295D4C2C-4A43-42D5-8DE9-976B44C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Nose gear</a:t>
            </a:r>
          </a:p>
        </p:txBody>
      </p:sp>
      <p:sp>
        <p:nvSpPr>
          <p:cNvPr id="64" name="c-6-1-box">
            <a:extLst xmlns:a="http://schemas.openxmlformats.org/drawingml/2006/main">
              <a:ext uri="{FF2B5EF4-FFF2-40B4-BE49-F238E27FC236}">
                <a16:creationId xmlns:a16="http://schemas.microsoft.com/office/drawing/2014/main" id="{A64B8A23-7A6C-4F0E-AA50-8A98A6D4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c-6-1-text">
            <a:extLst xmlns:a="http://schemas.openxmlformats.org/drawingml/2006/main">
              <a:ext uri="{FF2B5EF4-FFF2-40B4-BE49-F238E27FC236}">
                <a16:creationId xmlns:a16="http://schemas.microsoft.com/office/drawing/2014/main" id="{46EDD2B0-A896-49CE-9ED0-3BA51768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435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wheel/strut source</a:t>
            </a:r>
          </a:p>
        </p:txBody>
      </p:sp>
      <p:sp>
        <p:nvSpPr>
          <p:cNvPr id="66" name="c-6-2-box">
            <a:extLst xmlns:a="http://schemas.openxmlformats.org/drawingml/2006/main">
              <a:ext uri="{FF2B5EF4-FFF2-40B4-BE49-F238E27FC236}">
                <a16:creationId xmlns:a16="http://schemas.microsoft.com/office/drawing/2014/main" id="{217638C4-E887-4020-963C-103B472F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673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7" name="c-6-2-text">
            <a:extLst xmlns:a="http://schemas.openxmlformats.org/drawingml/2006/main">
              <a:ext uri="{FF2B5EF4-FFF2-40B4-BE49-F238E27FC236}">
                <a16:creationId xmlns:a16="http://schemas.microsoft.com/office/drawing/2014/main" id="{E08DDFFC-BF67-40E6-AE9C-800CC7E7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43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95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Component-resolved measurements</a:t>
            </a:r>
          </a:p>
        </p:txBody>
      </p:sp>
      <p:sp>
        <p:nvSpPr>
          <p:cNvPr id="68" name="c-6-3-box">
            <a:extLst xmlns:a="http://schemas.openxmlformats.org/drawingml/2006/main">
              <a:ext uri="{FF2B5EF4-FFF2-40B4-BE49-F238E27FC236}">
                <a16:creationId xmlns:a16="http://schemas.microsoft.com/office/drawing/2014/main" id="{4AE0B6C4-90B3-4196-B028-FE96642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673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9" name="c-6-3-text">
            <a:extLst xmlns:a="http://schemas.openxmlformats.org/drawingml/2006/main">
              <a:ext uri="{FF2B5EF4-FFF2-40B4-BE49-F238E27FC236}">
                <a16:creationId xmlns:a16="http://schemas.microsoft.com/office/drawing/2014/main" id="{D49769B5-85FE-47EC-A413-C9C5F4D4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70" name="c-7-0-box">
            <a:extLst xmlns:a="http://schemas.openxmlformats.org/drawingml/2006/main">
              <a:ext uri="{FF2B5EF4-FFF2-40B4-BE49-F238E27FC236}">
                <a16:creationId xmlns:a16="http://schemas.microsoft.com/office/drawing/2014/main" id="{CFA42F67-C4F8-4043-8D70-8FC8CC5E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1" name="c-7-0-text">
            <a:extLst xmlns:a="http://schemas.openxmlformats.org/drawingml/2006/main">
              <a:ext uri="{FF2B5EF4-FFF2-40B4-BE49-F238E27FC236}">
                <a16:creationId xmlns:a16="http://schemas.microsoft.com/office/drawing/2014/main" id="{CDC5E1F4-D481-470F-B162-935A0DD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System sum</a:t>
            </a:r>
          </a:p>
        </p:txBody>
      </p:sp>
      <p:sp>
        <p:nvSpPr>
          <p:cNvPr id="72" name="c-7-1-box">
            <a:extLst xmlns:a="http://schemas.openxmlformats.org/drawingml/2006/main">
              <a:ext uri="{FF2B5EF4-FFF2-40B4-BE49-F238E27FC236}">
                <a16:creationId xmlns:a16="http://schemas.microsoft.com/office/drawing/2014/main" id="{2024C271-3F91-4F14-B7E4-1E047DD9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86400"/>
            <a:ext cx="523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3" name="c-7-1-text">
            <a:extLst xmlns:a="http://schemas.openxmlformats.org/drawingml/2006/main">
              <a:ext uri="{FF2B5EF4-FFF2-40B4-BE49-F238E27FC236}">
                <a16:creationId xmlns:a16="http://schemas.microsoft.com/office/drawing/2014/main" id="{AE04E3F1-3F9A-4502-9C85-ECA73196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62600"/>
            <a:ext cx="501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Energetic combination + propagation + metrics</a:t>
            </a:r>
          </a:p>
        </p:txBody>
      </p:sp>
      <p:sp>
        <p:nvSpPr>
          <p:cNvPr id="74" name="c-7-2-box">
            <a:extLst xmlns:a="http://schemas.openxmlformats.org/drawingml/2006/main">
              <a:ext uri="{FF2B5EF4-FFF2-40B4-BE49-F238E27FC236}">
                <a16:creationId xmlns:a16="http://schemas.microsoft.com/office/drawing/2014/main" id="{36BF0E5F-DAC0-4E4E-9E10-95B41762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8640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5" name="c-7-2-text">
            <a:extLst xmlns:a="http://schemas.openxmlformats.org/drawingml/2006/main">
              <a:ext uri="{FF2B5EF4-FFF2-40B4-BE49-F238E27FC236}">
                <a16:creationId xmlns:a16="http://schemas.microsoft.com/office/drawing/2014/main" id="{154DD08F-7143-4AED-9B61-94C1A59C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5626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00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Held-out event and aircraft-family tests</a:t>
            </a:r>
          </a:p>
        </p:txBody>
      </p:sp>
      <p:sp>
        <p:nvSpPr>
          <p:cNvPr id="76" name="c-7-3-box">
            <a:extLst xmlns:a="http://schemas.openxmlformats.org/drawingml/2006/main">
              <a:ext uri="{FF2B5EF4-FFF2-40B4-BE49-F238E27FC236}">
                <a16:creationId xmlns:a16="http://schemas.microsoft.com/office/drawing/2014/main" id="{2C757CD6-F74A-4AB3-9229-D6E2D8D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4864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7" name="c-7-3-text">
            <a:extLst xmlns:a="http://schemas.openxmlformats.org/drawingml/2006/main">
              <a:ext uri="{FF2B5EF4-FFF2-40B4-BE49-F238E27FC236}">
                <a16:creationId xmlns:a16="http://schemas.microsoft.com/office/drawing/2014/main" id="{C45FB727-17D8-4A31-8488-35C25EFB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56260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88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DEMONSTRATED</a:t>
            </a:r>
          </a:p>
        </p:txBody>
      </p:sp>
      <p:sp>
        <p:nvSpPr>
          <p:cNvPr id="78" name="auto-text-12">
            <a:extLst xmlns:a="http://schemas.openxmlformats.org/drawingml/2006/main">
              <a:ext uri="{FF2B5EF4-FFF2-40B4-BE49-F238E27FC236}">
                <a16:creationId xmlns:a16="http://schemas.microsoft.com/office/drawing/2014/main" id="{B48CD8CD-216A-4287-BE99-7BB1C9AB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9600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 upgrade order: component spectra/directivity  -&gt;  propagated event  -&gt;  total SEL/LAmax  -&gt;  NPD transfer.</a:t>
            </a:r>
          </a:p>
        </p:txBody>
      </p:sp>
    </p:spTree>
    <p:extLst>
      <p:ext uri="{BB962C8B-B14F-4D97-AF65-F5344CB8AC3E}">
        <p14:creationId xmlns:p14="http://schemas.microsoft.com/office/powerpoint/2010/main" val="1234214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74426741-19C9-4A4F-8287-2B7E584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10  /  CALIBRATION BOUNDARY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70BAF2B5-14CE-45EC-8A33-8459E235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Calibration anchors the system, not the components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6D8345B7-1108-42B3-BEE8-7BAF99C9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EECD4D9D-77AD-47C0-9DA4-C0AAE021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11</a:t>
            </a:r>
          </a:p>
        </p:txBody>
      </p:sp>
      <p:sp>
        <p:nvSpPr>
          <p:cNvPr id="5" name="cal-anchor">
            <a:extLst xmlns:a="http://schemas.openxmlformats.org/drawingml/2006/main">
              <a:ext uri="{FF2B5EF4-FFF2-40B4-BE49-F238E27FC236}">
                <a16:creationId xmlns:a16="http://schemas.microsoft.com/office/drawing/2014/main" id="{E8B88170-1AA6-4F38-8DE4-D1EE26B3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1148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6" name="cal-title">
            <a:extLst xmlns:a="http://schemas.openxmlformats.org/drawingml/2006/main">
              <a:ext uri="{FF2B5EF4-FFF2-40B4-BE49-F238E27FC236}">
                <a16:creationId xmlns:a16="http://schemas.microsoft.com/office/drawing/2014/main" id="{365E5FBC-3060-4119-A128-D7BAFF7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CALIBRATION EVIDENCE</a:t>
            </a:r>
          </a:p>
        </p:txBody>
      </p:sp>
      <p:sp>
        <p:nvSpPr>
          <p:cNvPr id="7" name="cal-main">
            <a:extLst xmlns:a="http://schemas.openxmlformats.org/drawingml/2006/main">
              <a:ext uri="{FF2B5EF4-FFF2-40B4-BE49-F238E27FC236}">
                <a16:creationId xmlns:a16="http://schemas.microsoft.com/office/drawing/2014/main" id="{AA888543-BF66-446E-9639-5CB29CCC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314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A320-211</a:t>
            </a:r>
          </a:p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BPR 6.0</a:t>
            </a:r>
          </a:p>
          <a:p xmlns:a="http://schemas.openxmlformats.org/drawingml/2006/main">
            <a:pPr algn="ctr">
              <a:defRPr sz="22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ANP SEL + LAmax</a:t>
            </a:r>
          </a:p>
        </p:txBody>
      </p:sp>
      <p:sp>
        <p:nvSpPr>
          <p:cNvPr id="8" name="cal-detail">
            <a:extLst xmlns:a="http://schemas.openxmlformats.org/drawingml/2006/main">
              <a:ext uri="{FF2B5EF4-FFF2-40B4-BE49-F238E27FC236}">
                <a16:creationId xmlns:a16="http://schemas.microsoft.com/office/drawing/2014/main" id="{69802777-5BCB-4B4B-B823-76B7494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315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Four additive anchors + one spectral-placement factor are fitted, then frozen.</a:t>
            </a:r>
          </a:p>
        </p:txBody>
      </p:sp>
      <p:sp>
        <p:nvSpPr>
          <p:cNvPr id="9" name="validation-box">
            <a:extLst xmlns:a="http://schemas.openxmlformats.org/drawingml/2006/main">
              <a:ext uri="{FF2B5EF4-FFF2-40B4-BE49-F238E27FC236}">
                <a16:creationId xmlns:a16="http://schemas.microsoft.com/office/drawing/2014/main" id="{6E255116-60CA-4058-9074-19A1B101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924050"/>
            <a:ext cx="5848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val-title">
            <a:extLst xmlns:a="http://schemas.openxmlformats.org/drawingml/2006/main">
              <a:ext uri="{FF2B5EF4-FFF2-40B4-BE49-F238E27FC236}">
                <a16:creationId xmlns:a16="http://schemas.microsoft.com/office/drawing/2014/main" id="{FCC8B7A7-6F75-492B-B966-FCE1C04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STILL NEEDED</a:t>
            </a:r>
          </a:p>
        </p:txBody>
      </p:sp>
      <p:sp>
        <p:nvSpPr>
          <p:cNvPr id="11" name="val-list">
            <a:extLst xmlns:a="http://schemas.openxmlformats.org/drawingml/2006/main">
              <a:ext uri="{FF2B5EF4-FFF2-40B4-BE49-F238E27FC236}">
                <a16:creationId xmlns:a16="http://schemas.microsoft.com/office/drawing/2014/main" id="{FDF322A0-23C0-4BCF-9477-14A0AC40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independent component spectra and directivity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held-out event states and aircraft families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measurement plus model-form uncertainty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| transfer limits tied to real input provenance</a:t>
            </a:r>
          </a:p>
        </p:txBody>
      </p:sp>
      <p:sp>
        <p:nvSpPr>
          <p:cNvPr id="12" name="auto-text-13">
            <a:extLst xmlns:a="http://schemas.openxmlformats.org/drawingml/2006/main">
              <a:ext uri="{FF2B5EF4-FFF2-40B4-BE49-F238E27FC236}">
                <a16:creationId xmlns:a16="http://schemas.microsoft.com/office/drawing/2014/main" id="{BAA9567D-4FCA-479C-907F-ED92BE6A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959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8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 fit can make the reference curve agree while leaving component mechanisms or new configurations untested.</a:t>
            </a:r>
          </a:p>
        </p:txBody>
      </p:sp>
    </p:spTree>
    <p:extLst>
      <p:ext uri="{BB962C8B-B14F-4D97-AF65-F5344CB8AC3E}">
        <p14:creationId xmlns:p14="http://schemas.microsoft.com/office/powerpoint/2010/main" val="14082116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12">
            <a:extLst xmlns:a="http://schemas.openxmlformats.org/drawingml/2006/main">
              <a:ext uri="{FF2B5EF4-FFF2-40B4-BE49-F238E27FC236}">
                <a16:creationId xmlns:a16="http://schemas.microsoft.com/office/drawing/2014/main" id="{736DAF58-2EBB-44DA-AF95-388644A6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11  /  TRANSFER LIMITS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9BE1F2D3-09A5-47A0-8A54-52F760D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Applicability shrinks when state or mechanism is missing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2C340571-2D0D-4E3C-B983-CD5CF108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EFFEF41C-D4F1-4C44-A845-16ACA8A5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12</a:t>
            </a:r>
          </a:p>
        </p:txBody>
      </p:sp>
      <p:sp>
        <p:nvSpPr>
          <p:cNvPr id="5" name="auto-text-14">
            <a:extLst xmlns:a="http://schemas.openxmlformats.org/drawingml/2006/main">
              <a:ext uri="{FF2B5EF4-FFF2-40B4-BE49-F238E27FC236}">
                <a16:creationId xmlns:a16="http://schemas.microsoft.com/office/drawing/2014/main" id="{F70F5967-F03B-402A-9053-03254853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The output remains useful only inside a documented state envelope.</a:t>
            </a:r>
          </a:p>
        </p:txBody>
      </p:sp>
      <p:sp>
        <p:nvSpPr>
          <p:cNvPr id="6" name="a-head-0-box">
            <a:extLst xmlns:a="http://schemas.openxmlformats.org/drawingml/2006/main">
              <a:ext uri="{FF2B5EF4-FFF2-40B4-BE49-F238E27FC236}">
                <a16:creationId xmlns:a16="http://schemas.microsoft.com/office/drawing/2014/main" id="{E0448AEE-F27F-480C-BF1D-47A79002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a-head-0-text">
            <a:extLst xmlns:a="http://schemas.openxmlformats.org/drawingml/2006/main">
              <a:ext uri="{FF2B5EF4-FFF2-40B4-BE49-F238E27FC236}">
                <a16:creationId xmlns:a16="http://schemas.microsoft.com/office/drawing/2014/main" id="{DE44E6F9-CAA3-4BA8-ADFA-3829CD2B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/ path</a:t>
            </a:r>
          </a:p>
        </p:txBody>
      </p:sp>
      <p:sp>
        <p:nvSpPr>
          <p:cNvPr id="8" name="a-head-1-box">
            <a:extLst xmlns:a="http://schemas.openxmlformats.org/drawingml/2006/main">
              <a:ext uri="{FF2B5EF4-FFF2-40B4-BE49-F238E27FC236}">
                <a16:creationId xmlns:a16="http://schemas.microsoft.com/office/drawing/2014/main" id="{47EE1ABC-61EA-46E0-9BA6-12632928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33600"/>
            <a:ext cx="361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a-head-1-text">
            <a:extLst xmlns:a="http://schemas.openxmlformats.org/drawingml/2006/main">
              <a:ext uri="{FF2B5EF4-FFF2-40B4-BE49-F238E27FC236}">
                <a16:creationId xmlns:a16="http://schemas.microsoft.com/office/drawing/2014/main" id="{E7625DA9-F9BD-464C-AB73-EFF37383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098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practice</a:t>
            </a:r>
          </a:p>
        </p:txBody>
      </p:sp>
      <p:sp>
        <p:nvSpPr>
          <p:cNvPr id="10" name="a-head-2-box">
            <a:extLst xmlns:a="http://schemas.openxmlformats.org/drawingml/2006/main">
              <a:ext uri="{FF2B5EF4-FFF2-40B4-BE49-F238E27FC236}">
                <a16:creationId xmlns:a16="http://schemas.microsoft.com/office/drawing/2014/main" id="{594ECC61-5C6C-4F8D-B993-E14362BB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33600"/>
            <a:ext cx="3667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a-head-2-text">
            <a:extLst xmlns:a="http://schemas.openxmlformats.org/drawingml/2006/main">
              <a:ext uri="{FF2B5EF4-FFF2-40B4-BE49-F238E27FC236}">
                <a16:creationId xmlns:a16="http://schemas.microsoft.com/office/drawing/2014/main" id="{31800655-2865-4CDD-9932-8C412EEF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3438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Validity consequence</a:t>
            </a:r>
          </a:p>
        </p:txBody>
      </p:sp>
      <p:sp>
        <p:nvSpPr>
          <p:cNvPr id="12" name="a-head-3-box">
            <a:extLst xmlns:a="http://schemas.openxmlformats.org/drawingml/2006/main">
              <a:ext uri="{FF2B5EF4-FFF2-40B4-BE49-F238E27FC236}">
                <a16:creationId xmlns:a16="http://schemas.microsoft.com/office/drawing/2014/main" id="{8CE4D753-3B52-46AB-A3BD-0BD33602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33600"/>
            <a:ext cx="1971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a-head-3-text">
            <a:extLst xmlns:a="http://schemas.openxmlformats.org/drawingml/2006/main">
              <a:ext uri="{FF2B5EF4-FFF2-40B4-BE49-F238E27FC236}">
                <a16:creationId xmlns:a16="http://schemas.microsoft.com/office/drawing/2014/main" id="{9AAA8B4E-BE78-49BB-83BB-99EB854F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09800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 as</a:t>
            </a:r>
          </a:p>
        </p:txBody>
      </p:sp>
      <p:sp>
        <p:nvSpPr>
          <p:cNvPr id="14" name="a-0-0-box">
            <a:extLst xmlns:a="http://schemas.openxmlformats.org/drawingml/2006/main">
              <a:ext uri="{FF2B5EF4-FFF2-40B4-BE49-F238E27FC236}">
                <a16:creationId xmlns:a16="http://schemas.microsoft.com/office/drawing/2014/main" id="{C30D4454-BE1C-4F65-862A-CCD99518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1828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-0-0-text">
            <a:extLst xmlns:a="http://schemas.openxmlformats.org/drawingml/2006/main">
              <a:ext uri="{FF2B5EF4-FFF2-40B4-BE49-F238E27FC236}">
                <a16:creationId xmlns:a16="http://schemas.microsoft.com/office/drawing/2014/main" id="{6D077A8B-815F-45B5-8BBB-78C7FE0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Engine deck</a:t>
            </a:r>
          </a:p>
        </p:txBody>
      </p:sp>
      <p:sp>
        <p:nvSpPr>
          <p:cNvPr id="16" name="a-0-1-box">
            <a:extLst xmlns:a="http://schemas.openxmlformats.org/drawingml/2006/main">
              <a:ext uri="{FF2B5EF4-FFF2-40B4-BE49-F238E27FC236}">
                <a16:creationId xmlns:a16="http://schemas.microsoft.com/office/drawing/2014/main" id="{F26BEAE7-FD5D-4A7D-A144-565A5E2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-0-1-text">
            <a:extLst xmlns:a="http://schemas.openxmlformats.org/drawingml/2006/main">
              <a:ext uri="{FF2B5EF4-FFF2-40B4-BE49-F238E27FC236}">
                <a16:creationId xmlns:a16="http://schemas.microsoft.com/office/drawing/2014/main" id="{AFFBA41E-1A7E-41D3-8C0F-2A1C087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3390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Detailed state is optional; named fallback remains</a:t>
            </a:r>
          </a:p>
        </p:txBody>
      </p:sp>
      <p:sp>
        <p:nvSpPr>
          <p:cNvPr id="18" name="a-0-2-box">
            <a:extLst xmlns:a="http://schemas.openxmlformats.org/drawingml/2006/main">
              <a:ext uri="{FF2B5EF4-FFF2-40B4-BE49-F238E27FC236}">
                <a16:creationId xmlns:a16="http://schemas.microsoft.com/office/drawing/2014/main" id="{A34C720C-6AB2-4799-A6D6-00EE1502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5270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a-0-2-text">
            <a:extLst xmlns:a="http://schemas.openxmlformats.org/drawingml/2006/main">
              <a:ext uri="{FF2B5EF4-FFF2-40B4-BE49-F238E27FC236}">
                <a16:creationId xmlns:a16="http://schemas.microsoft.com/office/drawing/2014/main" id="{7DDA5246-079B-423D-999E-9C1924CF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28900"/>
            <a:ext cx="3438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Fallback may dominate the source spectrum</a:t>
            </a:r>
          </a:p>
        </p:txBody>
      </p:sp>
      <p:sp>
        <p:nvSpPr>
          <p:cNvPr id="20" name="a-0-3-box">
            <a:extLst xmlns:a="http://schemas.openxmlformats.org/drawingml/2006/main">
              <a:ext uri="{FF2B5EF4-FFF2-40B4-BE49-F238E27FC236}">
                <a16:creationId xmlns:a16="http://schemas.microsoft.com/office/drawing/2014/main" id="{5996E067-B7C6-49F2-A697-D8B28E3B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552700"/>
            <a:ext cx="1971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a-0-3-text">
            <a:extLst xmlns:a="http://schemas.openxmlformats.org/drawingml/2006/main">
              <a:ext uri="{FF2B5EF4-FFF2-40B4-BE49-F238E27FC236}">
                <a16:creationId xmlns:a16="http://schemas.microsoft.com/office/drawing/2014/main" id="{4C9EB0C1-B0DA-48EA-8FA6-5A41887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28900"/>
            <a:ext cx="174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ESTIMATED</a:t>
            </a:r>
          </a:p>
        </p:txBody>
      </p:sp>
      <p:sp>
        <p:nvSpPr>
          <p:cNvPr id="22" name="a-1-0-box">
            <a:extLst xmlns:a="http://schemas.openxmlformats.org/drawingml/2006/main">
              <a:ext uri="{FF2B5EF4-FFF2-40B4-BE49-F238E27FC236}">
                <a16:creationId xmlns:a16="http://schemas.microsoft.com/office/drawing/2014/main" id="{0EE454BC-D08B-4AC3-98DE-D1A4175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1828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a-1-0-text">
            <a:extLst xmlns:a="http://schemas.openxmlformats.org/drawingml/2006/main">
              <a:ext uri="{FF2B5EF4-FFF2-40B4-BE49-F238E27FC236}">
                <a16:creationId xmlns:a16="http://schemas.microsoft.com/office/drawing/2014/main" id="{787D1DFD-D987-422F-B1FF-ED2F6635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Geometry</a:t>
            </a:r>
          </a:p>
        </p:txBody>
      </p:sp>
      <p:sp>
        <p:nvSpPr>
          <p:cNvPr id="24" name="a-1-1-box">
            <a:extLst xmlns:a="http://schemas.openxmlformats.org/drawingml/2006/main">
              <a:ext uri="{FF2B5EF4-FFF2-40B4-BE49-F238E27FC236}">
                <a16:creationId xmlns:a16="http://schemas.microsoft.com/office/drawing/2014/main" id="{F249A79D-1BD8-4F25-B351-7CCAC936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7182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a-1-1-text">
            <a:extLst xmlns:a="http://schemas.openxmlformats.org/drawingml/2006/main">
              <a:ext uri="{FF2B5EF4-FFF2-40B4-BE49-F238E27FC236}">
                <a16:creationId xmlns:a16="http://schemas.microsoft.com/office/drawing/2014/main" id="{4FA7D12A-FE2C-4396-84DE-7179ED5A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48025"/>
            <a:ext cx="3390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Preset span/BPR plus estimated high-lift and strut fields</a:t>
            </a:r>
          </a:p>
        </p:txBody>
      </p:sp>
      <p:sp>
        <p:nvSpPr>
          <p:cNvPr id="26" name="a-1-2-box">
            <a:extLst xmlns:a="http://schemas.openxmlformats.org/drawingml/2006/main">
              <a:ext uri="{FF2B5EF4-FFF2-40B4-BE49-F238E27FC236}">
                <a16:creationId xmlns:a16="http://schemas.microsoft.com/office/drawing/2014/main" id="{229745E7-5FA8-4E3E-99F4-714DCFAF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7182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a-1-2-text">
            <a:extLst xmlns:a="http://schemas.openxmlformats.org/drawingml/2006/main">
              <a:ext uri="{FF2B5EF4-FFF2-40B4-BE49-F238E27FC236}">
                <a16:creationId xmlns:a16="http://schemas.microsoft.com/office/drawing/2014/main" id="{DE79CD21-07EA-4F1F-BC5D-9768650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48025"/>
            <a:ext cx="3438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Mechanism fidelity varies by aircraft</a:t>
            </a:r>
          </a:p>
        </p:txBody>
      </p:sp>
      <p:sp>
        <p:nvSpPr>
          <p:cNvPr id="28" name="a-1-3-box">
            <a:extLst xmlns:a="http://schemas.openxmlformats.org/drawingml/2006/main">
              <a:ext uri="{FF2B5EF4-FFF2-40B4-BE49-F238E27FC236}">
                <a16:creationId xmlns:a16="http://schemas.microsoft.com/office/drawing/2014/main" id="{E5B14030-BF86-42E2-BC90-C27B94A7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71825"/>
            <a:ext cx="1971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a-1-3-text">
            <a:extLst xmlns:a="http://schemas.openxmlformats.org/drawingml/2006/main">
              <a:ext uri="{FF2B5EF4-FFF2-40B4-BE49-F238E27FC236}">
                <a16:creationId xmlns:a16="http://schemas.microsoft.com/office/drawing/2014/main" id="{B4D403A6-D037-4FEE-B98B-767A4AC7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248025"/>
            <a:ext cx="174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ESTIMATED</a:t>
            </a:r>
          </a:p>
        </p:txBody>
      </p:sp>
      <p:sp>
        <p:nvSpPr>
          <p:cNvPr id="30" name="a-2-0-box">
            <a:extLst xmlns:a="http://schemas.openxmlformats.org/drawingml/2006/main">
              <a:ext uri="{FF2B5EF4-FFF2-40B4-BE49-F238E27FC236}">
                <a16:creationId xmlns:a16="http://schemas.microsoft.com/office/drawing/2014/main" id="{D98B434F-5CA8-46D4-A447-144887E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828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a-2-0-text">
            <a:extLst xmlns:a="http://schemas.openxmlformats.org/drawingml/2006/main">
              <a:ext uri="{FF2B5EF4-FFF2-40B4-BE49-F238E27FC236}">
                <a16:creationId xmlns:a16="http://schemas.microsoft.com/office/drawing/2014/main" id="{6247D6D4-A6B6-4EE3-B50D-010E71D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Trajectory</a:t>
            </a:r>
          </a:p>
        </p:txBody>
      </p:sp>
      <p:sp>
        <p:nvSpPr>
          <p:cNvPr id="32" name="a-2-1-box">
            <a:extLst xmlns:a="http://schemas.openxmlformats.org/drawingml/2006/main">
              <a:ext uri="{FF2B5EF4-FFF2-40B4-BE49-F238E27FC236}">
                <a16:creationId xmlns:a16="http://schemas.microsoft.com/office/drawing/2014/main" id="{D4BBAA62-EB84-4CA8-B5B3-499D296D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9095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a-2-1-text">
            <a:extLst xmlns:a="http://schemas.openxmlformats.org/drawingml/2006/main">
              <a:ext uri="{FF2B5EF4-FFF2-40B4-BE49-F238E27FC236}">
                <a16:creationId xmlns:a16="http://schemas.microsoft.com/office/drawing/2014/main" id="{FF95CF79-EFF1-4806-86F5-3F25EF4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67150"/>
            <a:ext cx="3390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160 kt straight-level reference event</a:t>
            </a:r>
          </a:p>
        </p:txBody>
      </p:sp>
      <p:sp>
        <p:nvSpPr>
          <p:cNvPr id="34" name="a-2-2-box">
            <a:extLst xmlns:a="http://schemas.openxmlformats.org/drawingml/2006/main">
              <a:ext uri="{FF2B5EF4-FFF2-40B4-BE49-F238E27FC236}">
                <a16:creationId xmlns:a16="http://schemas.microsoft.com/office/drawing/2014/main" id="{322AD09F-3634-4892-88B5-0F5839DE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a-2-2-text">
            <a:extLst xmlns:a="http://schemas.openxmlformats.org/drawingml/2006/main">
              <a:ext uri="{FF2B5EF4-FFF2-40B4-BE49-F238E27FC236}">
                <a16:creationId xmlns:a16="http://schemas.microsoft.com/office/drawing/2014/main" id="{7C112759-C3BE-4BCB-BAB8-D9352421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67150"/>
            <a:ext cx="3438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segmented or operational-profile claim</a:t>
            </a:r>
          </a:p>
        </p:txBody>
      </p:sp>
      <p:sp>
        <p:nvSpPr>
          <p:cNvPr id="36" name="a-2-3-box">
            <a:extLst xmlns:a="http://schemas.openxmlformats.org/drawingml/2006/main">
              <a:ext uri="{FF2B5EF4-FFF2-40B4-BE49-F238E27FC236}">
                <a16:creationId xmlns:a16="http://schemas.microsoft.com/office/drawing/2014/main" id="{125AC165-BDAD-44DA-ADC8-56E97C8F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790950"/>
            <a:ext cx="1971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a-2-3-text">
            <a:extLst xmlns:a="http://schemas.openxmlformats.org/drawingml/2006/main">
              <a:ext uri="{FF2B5EF4-FFF2-40B4-BE49-F238E27FC236}">
                <a16:creationId xmlns:a16="http://schemas.microsoft.com/office/drawing/2014/main" id="{DE4B5A98-F094-486D-AB30-5A23B099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867150"/>
            <a:ext cx="174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CONDITIONAL</a:t>
            </a:r>
          </a:p>
        </p:txBody>
      </p:sp>
      <p:sp>
        <p:nvSpPr>
          <p:cNvPr id="38" name="a-3-0-box">
            <a:extLst xmlns:a="http://schemas.openxmlformats.org/drawingml/2006/main">
              <a:ext uri="{FF2B5EF4-FFF2-40B4-BE49-F238E27FC236}">
                <a16:creationId xmlns:a16="http://schemas.microsoft.com/office/drawing/2014/main" id="{ACB9DE59-7C02-4D89-959E-E3ACCF0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1828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a-3-0-text">
            <a:extLst xmlns:a="http://schemas.openxmlformats.org/drawingml/2006/main">
              <a:ext uri="{FF2B5EF4-FFF2-40B4-BE49-F238E27FC236}">
                <a16:creationId xmlns:a16="http://schemas.microsoft.com/office/drawing/2014/main" id="{31112615-79F5-4FEA-B4EA-5F0AB9E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Propagation</a:t>
            </a:r>
          </a:p>
        </p:txBody>
      </p:sp>
      <p:sp>
        <p:nvSpPr>
          <p:cNvPr id="40" name="a-3-1-box">
            <a:extLst xmlns:a="http://schemas.openxmlformats.org/drawingml/2006/main">
              <a:ext uri="{FF2B5EF4-FFF2-40B4-BE49-F238E27FC236}">
                <a16:creationId xmlns:a16="http://schemas.microsoft.com/office/drawing/2014/main" id="{0464E8B7-799F-4259-BE08-F5453D70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0075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a-3-1-text">
            <a:extLst xmlns:a="http://schemas.openxmlformats.org/drawingml/2006/main">
              <a:ext uri="{FF2B5EF4-FFF2-40B4-BE49-F238E27FC236}">
                <a16:creationId xmlns:a16="http://schemas.microsoft.com/office/drawing/2014/main" id="{76B35478-3ED6-415E-B9DC-5AC30A84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86275"/>
            <a:ext cx="3390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Free-field spreading + molecular absorption</a:t>
            </a:r>
          </a:p>
        </p:txBody>
      </p:sp>
      <p:sp>
        <p:nvSpPr>
          <p:cNvPr id="42" name="a-3-2-box">
            <a:extLst xmlns:a="http://schemas.openxmlformats.org/drawingml/2006/main">
              <a:ext uri="{FF2B5EF4-FFF2-40B4-BE49-F238E27FC236}">
                <a16:creationId xmlns:a16="http://schemas.microsoft.com/office/drawing/2014/main" id="{5E2C9C89-24AA-47A8-A4B6-355556E8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10075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a-3-2-text">
            <a:extLst xmlns:a="http://schemas.openxmlformats.org/drawingml/2006/main">
              <a:ext uri="{FF2B5EF4-FFF2-40B4-BE49-F238E27FC236}">
                <a16:creationId xmlns:a16="http://schemas.microsoft.com/office/drawing/2014/main" id="{C5C57F90-3B29-48D5-B089-A69F96B4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86275"/>
            <a:ext cx="3438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Installation, shielding, ground, terrain and lateral effects excluded</a:t>
            </a:r>
          </a:p>
        </p:txBody>
      </p:sp>
      <p:sp>
        <p:nvSpPr>
          <p:cNvPr id="44" name="a-3-3-box">
            <a:extLst xmlns:a="http://schemas.openxmlformats.org/drawingml/2006/main">
              <a:ext uri="{FF2B5EF4-FFF2-40B4-BE49-F238E27FC236}">
                <a16:creationId xmlns:a16="http://schemas.microsoft.com/office/drawing/2014/main" id="{21DB810D-466D-4432-B765-31E45FB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10075"/>
            <a:ext cx="1971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a-3-3-text">
            <a:extLst xmlns:a="http://schemas.openxmlformats.org/drawingml/2006/main">
              <a:ext uri="{FF2B5EF4-FFF2-40B4-BE49-F238E27FC236}">
                <a16:creationId xmlns:a16="http://schemas.microsoft.com/office/drawing/2014/main" id="{BDF4239C-0777-4EBE-BC64-73679477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86275"/>
            <a:ext cx="174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EXCLUDED</a:t>
            </a:r>
          </a:p>
        </p:txBody>
      </p:sp>
      <p:sp>
        <p:nvSpPr>
          <p:cNvPr id="46" name="a-4-0-box">
            <a:extLst xmlns:a="http://schemas.openxmlformats.org/drawingml/2006/main">
              <a:ext uri="{FF2B5EF4-FFF2-40B4-BE49-F238E27FC236}">
                <a16:creationId xmlns:a16="http://schemas.microsoft.com/office/drawing/2014/main" id="{3D87708A-5222-4040-AEA7-BAAC31B4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828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a-4-0-text">
            <a:extLst xmlns:a="http://schemas.openxmlformats.org/drawingml/2006/main">
              <a:ext uri="{FF2B5EF4-FFF2-40B4-BE49-F238E27FC236}">
                <a16:creationId xmlns:a16="http://schemas.microsoft.com/office/drawing/2014/main" id="{FBEEB5D7-F5B0-4C7B-A24E-4C278F89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6002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48" name="a-4-1-box">
            <a:extLst xmlns:a="http://schemas.openxmlformats.org/drawingml/2006/main">
              <a:ext uri="{FF2B5EF4-FFF2-40B4-BE49-F238E27FC236}">
                <a16:creationId xmlns:a16="http://schemas.microsoft.com/office/drawing/2014/main" id="{6AC91A6E-3B0F-4617-9B3C-C2959854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29200"/>
            <a:ext cx="3619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a-4-1-text">
            <a:extLst xmlns:a="http://schemas.openxmlformats.org/drawingml/2006/main">
              <a:ext uri="{FF2B5EF4-FFF2-40B4-BE49-F238E27FC236}">
                <a16:creationId xmlns:a16="http://schemas.microsoft.com/office/drawing/2014/main" id="{A4702FFF-5F0E-4B33-8474-BBE528BD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105400"/>
            <a:ext cx="3390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 and LAmax</a:t>
            </a:r>
          </a:p>
        </p:txBody>
      </p:sp>
      <p:sp>
        <p:nvSpPr>
          <p:cNvPr id="50" name="a-4-2-box">
            <a:extLst xmlns:a="http://schemas.openxmlformats.org/drawingml/2006/main">
              <a:ext uri="{FF2B5EF4-FFF2-40B4-BE49-F238E27FC236}">
                <a16:creationId xmlns:a16="http://schemas.microsoft.com/office/drawing/2014/main" id="{2AC18D9D-67DB-43F1-A647-2675172F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29200"/>
            <a:ext cx="3667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a-4-2-text">
            <a:extLst xmlns:a="http://schemas.openxmlformats.org/drawingml/2006/main">
              <a:ext uri="{FF2B5EF4-FFF2-40B4-BE49-F238E27FC236}">
                <a16:creationId xmlns:a16="http://schemas.microsoft.com/office/drawing/2014/main" id="{66AAE360-658F-461A-8A8B-4F3973D8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34385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EPNL/PNLTM tone corrections are outside physics route</a:t>
            </a:r>
          </a:p>
        </p:txBody>
      </p:sp>
      <p:sp>
        <p:nvSpPr>
          <p:cNvPr id="52" name="a-4-3-box">
            <a:extLst xmlns:a="http://schemas.openxmlformats.org/drawingml/2006/main">
              <a:ext uri="{FF2B5EF4-FFF2-40B4-BE49-F238E27FC236}">
                <a16:creationId xmlns:a16="http://schemas.microsoft.com/office/drawing/2014/main" id="{521C69F6-1E86-4A6F-9D5F-E6473ED0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29200"/>
            <a:ext cx="19716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a-4-3-text">
            <a:extLst xmlns:a="http://schemas.openxmlformats.org/drawingml/2006/main">
              <a:ext uri="{FF2B5EF4-FFF2-40B4-BE49-F238E27FC236}">
                <a16:creationId xmlns:a16="http://schemas.microsoft.com/office/drawing/2014/main" id="{F0FA0F5C-6E9E-41FD-841B-1C68AE34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05400"/>
            <a:ext cx="174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BOUNDED</a:t>
            </a:r>
          </a:p>
        </p:txBody>
      </p:sp>
      <p:sp>
        <p:nvSpPr>
          <p:cNvPr id="54" name="a-bottom">
            <a:extLst xmlns:a="http://schemas.openxmlformats.org/drawingml/2006/main">
              <a:ext uri="{FF2B5EF4-FFF2-40B4-BE49-F238E27FC236}">
                <a16:creationId xmlns:a16="http://schemas.microsoft.com/office/drawing/2014/main" id="{1DE98B42-45CA-4CDA-BA2A-D9BAE2DA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10553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55" name="a-bottom-text">
            <a:extLst xmlns:a="http://schemas.openxmlformats.org/drawingml/2006/main">
              <a:ext uri="{FF2B5EF4-FFF2-40B4-BE49-F238E27FC236}">
                <a16:creationId xmlns:a16="http://schemas.microsoft.com/office/drawing/2014/main" id="{4014D20D-9B24-43E3-B9AC-D83608F4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57875"/>
            <a:ext cx="1013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068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Explicit exclusions: installation/shielding, nacelle treatment, ground reflection, lateral attenuation, terrain, and non-uniform atmosphere.</a:t>
            </a:r>
          </a:p>
        </p:txBody>
      </p:sp>
    </p:spTree>
    <p:extLst>
      <p:ext uri="{BB962C8B-B14F-4D97-AF65-F5344CB8AC3E}">
        <p14:creationId xmlns:p14="http://schemas.microsoft.com/office/powerpoint/2010/main" val="17981823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3">
            <a:extLst xmlns:a="http://schemas.openxmlformats.org/drawingml/2006/main">
              <a:ext uri="{FF2B5EF4-FFF2-40B4-BE49-F238E27FC236}">
                <a16:creationId xmlns:a16="http://schemas.microsoft.com/office/drawing/2014/main" id="{F269EC85-C6FD-45BE-866A-E5F1F69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12  /  IMPROVEMENT CAMPAIGN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8F937AE-DDFF-4A54-BFAD-CBB7A3B4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should proceed from components to systems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375376A0-5303-49F5-9849-4C72D4B6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C7C8CFAF-91BE-4BE0-B825-8F649951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13</a:t>
            </a:r>
          </a:p>
        </p:txBody>
      </p:sp>
      <p:sp>
        <p:nvSpPr>
          <p:cNvPr id="5" name="auto-text-15">
            <a:extLst xmlns:a="http://schemas.openxmlformats.org/drawingml/2006/main">
              <a:ext uri="{FF2B5EF4-FFF2-40B4-BE49-F238E27FC236}">
                <a16:creationId xmlns:a16="http://schemas.microsoft.com/office/drawing/2014/main" id="{B75361EF-B660-465E-9776-3B2A9F02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Do not jump directly from one calibrated reference curve to a universal accuracy claim.</a:t>
            </a:r>
          </a:p>
        </p:txBody>
      </p:sp>
      <p:sp>
        <p:nvSpPr>
          <p:cNvPr id="6" name="vc-box-0">
            <a:extLst xmlns:a="http://schemas.openxmlformats.org/drawingml/2006/main">
              <a:ext uri="{FF2B5EF4-FFF2-40B4-BE49-F238E27FC236}">
                <a16:creationId xmlns:a16="http://schemas.microsoft.com/office/drawing/2014/main" id="{28195E96-B5EB-41D4-9EA9-0FD290FC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7" name="vc-head-0">
            <a:extLst xmlns:a="http://schemas.openxmlformats.org/drawingml/2006/main">
              <a:ext uri="{FF2B5EF4-FFF2-40B4-BE49-F238E27FC236}">
                <a16:creationId xmlns:a16="http://schemas.microsoft.com/office/drawing/2014/main" id="{D08AAC1B-3689-4C6C-ACE9-BF6C465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  COMPONENT</a:t>
            </a:r>
          </a:p>
        </p:txBody>
      </p:sp>
      <p:sp>
        <p:nvSpPr>
          <p:cNvPr id="8" name="vc-main-0">
            <a:extLst xmlns:a="http://schemas.openxmlformats.org/drawingml/2006/main">
              <a:ext uri="{FF2B5EF4-FFF2-40B4-BE49-F238E27FC236}">
                <a16:creationId xmlns:a16="http://schemas.microsoft.com/office/drawing/2014/main" id="{06153ECF-0EF4-4770-8897-287A9164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Spectra + directivity</a:t>
            </a:r>
          </a:p>
        </p:txBody>
      </p:sp>
      <p:sp>
        <p:nvSpPr>
          <p:cNvPr id="9" name="vc-detail-0">
            <a:extLst xmlns:a="http://schemas.openxmlformats.org/drawingml/2006/main">
              <a:ext uri="{FF2B5EF4-FFF2-40B4-BE49-F238E27FC236}">
                <a16:creationId xmlns:a16="http://schemas.microsoft.com/office/drawing/2014/main" id="{D6CBA72D-B08C-4545-96F3-91AB0EB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Jet, fan, airframe</a:t>
            </a:r>
          </a:p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measured by state</a:t>
            </a:r>
          </a:p>
        </p:txBody>
      </p:sp>
      <p:sp>
        <p:nvSpPr>
          <p:cNvPr id="10" name="vc-box-1">
            <a:extLst xmlns:a="http://schemas.openxmlformats.org/drawingml/2006/main">
              <a:ext uri="{FF2B5EF4-FFF2-40B4-BE49-F238E27FC236}">
                <a16:creationId xmlns:a16="http://schemas.microsoft.com/office/drawing/2014/main" id="{9247EB72-0361-48EF-ABE2-FE8484C5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vc-head-1">
            <a:extLst xmlns:a="http://schemas.openxmlformats.org/drawingml/2006/main">
              <a:ext uri="{FF2B5EF4-FFF2-40B4-BE49-F238E27FC236}">
                <a16:creationId xmlns:a16="http://schemas.microsoft.com/office/drawing/2014/main" id="{84590D5E-2626-4168-A51D-1ACF68BB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09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  SYSTEM EVENT</a:t>
            </a:r>
          </a:p>
        </p:txBody>
      </p:sp>
      <p:sp>
        <p:nvSpPr>
          <p:cNvPr id="12" name="vc-main-1">
            <a:extLst xmlns:a="http://schemas.openxmlformats.org/drawingml/2006/main">
              <a:ext uri="{FF2B5EF4-FFF2-40B4-BE49-F238E27FC236}">
                <a16:creationId xmlns:a16="http://schemas.microsoft.com/office/drawing/2014/main" id="{7EBFADB1-2FC9-47BE-8FE9-D40CD36C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Held-out SEL/LAmax</a:t>
            </a:r>
          </a:p>
        </p:txBody>
      </p:sp>
      <p:sp>
        <p:nvSpPr>
          <p:cNvPr id="13" name="vc-detail-1">
            <a:extLst xmlns:a="http://schemas.openxmlformats.org/drawingml/2006/main">
              <a:ext uri="{FF2B5EF4-FFF2-40B4-BE49-F238E27FC236}">
                <a16:creationId xmlns:a16="http://schemas.microsoft.com/office/drawing/2014/main" id="{FBF33BB1-BBE2-4E0B-A2E6-6EE4080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671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Propagated history</a:t>
            </a:r>
          </a:p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and total metric</a:t>
            </a:r>
          </a:p>
        </p:txBody>
      </p:sp>
      <p:sp>
        <p:nvSpPr>
          <p:cNvPr id="14" name="vc-box-2">
            <a:extLst xmlns:a="http://schemas.openxmlformats.org/drawingml/2006/main">
              <a:ext uri="{FF2B5EF4-FFF2-40B4-BE49-F238E27FC236}">
                <a16:creationId xmlns:a16="http://schemas.microsoft.com/office/drawing/2014/main" id="{DA9F5853-EA69-4630-A997-2C1236B6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857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5" name="vc-head-2">
            <a:extLst xmlns:a="http://schemas.openxmlformats.org/drawingml/2006/main">
              <a:ext uri="{FF2B5EF4-FFF2-40B4-BE49-F238E27FC236}">
                <a16:creationId xmlns:a16="http://schemas.microsoft.com/office/drawing/2014/main" id="{332009BE-79E1-455D-A7FA-BB2F8DDC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3  TRANSFER</a:t>
            </a:r>
          </a:p>
        </p:txBody>
      </p:sp>
      <p:sp>
        <p:nvSpPr>
          <p:cNvPr id="16" name="vc-main-2">
            <a:extLst xmlns:a="http://schemas.openxmlformats.org/drawingml/2006/main">
              <a:ext uri="{FF2B5EF4-FFF2-40B4-BE49-F238E27FC236}">
                <a16:creationId xmlns:a16="http://schemas.microsoft.com/office/drawing/2014/main" id="{1ECD1FE5-3CD4-46B7-8132-62FC164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Aircraft/configuration</a:t>
            </a:r>
          </a:p>
        </p:txBody>
      </p:sp>
      <p:sp>
        <p:nvSpPr>
          <p:cNvPr id="17" name="vc-detail-2">
            <a:extLst xmlns:a="http://schemas.openxmlformats.org/drawingml/2006/main">
              <a:ext uri="{FF2B5EF4-FFF2-40B4-BE49-F238E27FC236}">
                <a16:creationId xmlns:a16="http://schemas.microsoft.com/office/drawing/2014/main" id="{11AF9AB1-BB73-47E8-B879-DF599EC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67100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New family, state,</a:t>
            </a:r>
          </a:p>
          <a:p xmlns:a="http://schemas.openxmlformats.org/drawingml/2006/main">
            <a:pPr algn="ctr">
              <a:defRPr sz="135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or installation bound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19500" y="32004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cxnSp>
        <p:nvCxnSpPr>
          <p:cNvPr id="4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334250" y="32004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arrow" w="sm" len="sm"/>
          </a:ln>
        </p:spPr>
      </p:cxnSp>
      <p:sp>
        <p:nvSpPr>
          <p:cNvPr id="20" name="record-box">
            <a:extLst xmlns:a="http://schemas.openxmlformats.org/drawingml/2006/main">
              <a:ext uri="{FF2B5EF4-FFF2-40B4-BE49-F238E27FC236}">
                <a16:creationId xmlns:a16="http://schemas.microsoft.com/office/drawing/2014/main" id="{50DB8B4E-3861-4B00-83AC-A36ED236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10401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record-title">
            <a:extLst xmlns:a="http://schemas.openxmlformats.org/drawingml/2006/main">
              <a:ext uri="{FF2B5EF4-FFF2-40B4-BE49-F238E27FC236}">
                <a16:creationId xmlns:a16="http://schemas.microsoft.com/office/drawing/2014/main" id="{26AD5588-0E6B-4990-BE19-91A79498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Validation record  |  dataset/version/hash  |  aircraft/engine state  |  geometry/configuration  |  observer  |  corrections + uncertainty  |  residual  |  calibration/holdout tag</a:t>
            </a:r>
          </a:p>
        </p:txBody>
      </p:sp>
      <p:sp>
        <p:nvSpPr>
          <p:cNvPr id="22" name="auto-text-16">
            <a:extLst xmlns:a="http://schemas.openxmlformats.org/drawingml/2006/main">
              <a:ext uri="{FF2B5EF4-FFF2-40B4-BE49-F238E27FC236}">
                <a16:creationId xmlns:a16="http://schemas.microsoft.com/office/drawing/2014/main" id="{6C3814A1-CE14-4ECD-A682-C2C27F0A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43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ledger makes evidence portable, reviewable, and separable from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88469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4">
            <a:extLst xmlns:a="http://schemas.openxmlformats.org/drawingml/2006/main">
              <a:ext uri="{FF2B5EF4-FFF2-40B4-BE49-F238E27FC236}">
                <a16:creationId xmlns:a16="http://schemas.microsoft.com/office/drawing/2014/main" id="{386D71EB-ED64-49C9-8695-B388EAAC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13  /  ACCEPTANCE BAR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FB0DB30-2057-41C4-907A-30F5E9E6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Stronger claims require explicit evidence gates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847D1099-8C5F-4EAB-89DA-471EEC7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27CB2E4B-176E-4517-9779-CACB1DB6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14</a:t>
            </a:r>
          </a:p>
        </p:txBody>
      </p:sp>
      <p:sp>
        <p:nvSpPr>
          <p:cNvPr id="5" name="auto-text-17">
            <a:extLst xmlns:a="http://schemas.openxmlformats.org/drawingml/2006/main">
              <a:ext uri="{FF2B5EF4-FFF2-40B4-BE49-F238E27FC236}">
                <a16:creationId xmlns:a16="http://schemas.microsoft.com/office/drawing/2014/main" id="{F33B9FF8-2A32-4C6A-B40D-FFB53E2D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The gate is about evidence quality and reproducibility, not a target accuracy number.</a:t>
            </a:r>
          </a:p>
        </p:txBody>
      </p:sp>
      <p:sp>
        <p:nvSpPr>
          <p:cNvPr id="6" name="gate-bar-0">
            <a:extLst xmlns:a="http://schemas.openxmlformats.org/drawingml/2006/main">
              <a:ext uri="{FF2B5EF4-FFF2-40B4-BE49-F238E27FC236}">
                <a16:creationId xmlns:a16="http://schemas.microsoft.com/office/drawing/2014/main" id="{56E97E4C-0F28-48AF-8E54-657E1522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gate-num-0">
            <a:extLst xmlns:a="http://schemas.openxmlformats.org/drawingml/2006/main">
              <a:ext uri="{FF2B5EF4-FFF2-40B4-BE49-F238E27FC236}">
                <a16:creationId xmlns:a16="http://schemas.microsoft.com/office/drawing/2014/main" id="{F1606DFC-F5B8-4915-BA55-8ED71E3F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gate-text-0">
            <a:extLst xmlns:a="http://schemas.openxmlformats.org/drawingml/2006/main">
              <a:ext uri="{FF2B5EF4-FFF2-40B4-BE49-F238E27FC236}">
                <a16:creationId xmlns:a16="http://schemas.microsoft.com/office/drawing/2014/main" id="{7D73DE5D-E7C7-4127-A373-85AF533C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002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Predeclare metrics, tolerances, and comparison protocol</a:t>
            </a:r>
          </a:p>
        </p:txBody>
      </p:sp>
      <p:sp>
        <p:nvSpPr>
          <p:cNvPr id="9" name="gate-bar-1">
            <a:extLst xmlns:a="http://schemas.openxmlformats.org/drawingml/2006/main">
              <a:ext uri="{FF2B5EF4-FFF2-40B4-BE49-F238E27FC236}">
                <a16:creationId xmlns:a16="http://schemas.microsoft.com/office/drawing/2014/main" id="{710D2B8E-5EE7-4BA6-814F-72B75FA2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gate-num-1">
            <a:extLst xmlns:a="http://schemas.openxmlformats.org/drawingml/2006/main">
              <a:ext uri="{FF2B5EF4-FFF2-40B4-BE49-F238E27FC236}">
                <a16:creationId xmlns:a16="http://schemas.microsoft.com/office/drawing/2014/main" id="{CCABE2F2-001E-4530-8E92-FA7E356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gate-text-1">
            <a:extLst xmlns:a="http://schemas.openxmlformats.org/drawingml/2006/main">
              <a:ext uri="{FF2B5EF4-FFF2-40B4-BE49-F238E27FC236}">
                <a16:creationId xmlns:a16="http://schemas.microsoft.com/office/drawing/2014/main" id="{2A55FE0A-7106-4F70-A863-49F56930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574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Compare component spectra/directivity against measurements</a:t>
            </a:r>
          </a:p>
        </p:txBody>
      </p:sp>
      <p:sp>
        <p:nvSpPr>
          <p:cNvPr id="12" name="gate-bar-2">
            <a:extLst xmlns:a="http://schemas.openxmlformats.org/drawingml/2006/main">
              <a:ext uri="{FF2B5EF4-FFF2-40B4-BE49-F238E27FC236}">
                <a16:creationId xmlns:a16="http://schemas.microsoft.com/office/drawing/2014/main" id="{C135F1D9-24D0-4A00-884E-B4457A11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gate-num-2">
            <a:extLst xmlns:a="http://schemas.openxmlformats.org/drawingml/2006/main">
              <a:ext uri="{FF2B5EF4-FFF2-40B4-BE49-F238E27FC236}">
                <a16:creationId xmlns:a16="http://schemas.microsoft.com/office/drawing/2014/main" id="{021F2785-CA8F-4BA5-81C1-9430A9C1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gate-text-2">
            <a:extLst xmlns:a="http://schemas.openxmlformats.org/drawingml/2006/main">
              <a:ext uri="{FF2B5EF4-FFF2-40B4-BE49-F238E27FC236}">
                <a16:creationId xmlns:a16="http://schemas.microsoft.com/office/drawing/2014/main" id="{D13D0C4F-90DE-4186-A116-171C9226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146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held-out system-event SEL/LAmax</a:t>
            </a:r>
          </a:p>
        </p:txBody>
      </p:sp>
      <p:sp>
        <p:nvSpPr>
          <p:cNvPr id="15" name="gate-bar-3">
            <a:extLst xmlns:a="http://schemas.openxmlformats.org/drawingml/2006/main">
              <a:ext uri="{FF2B5EF4-FFF2-40B4-BE49-F238E27FC236}">
                <a16:creationId xmlns:a16="http://schemas.microsoft.com/office/drawing/2014/main" id="{59EE5B7B-FEC2-49A4-B1FA-6A641858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gate-num-3">
            <a:extLst xmlns:a="http://schemas.openxmlformats.org/drawingml/2006/main">
              <a:ext uri="{FF2B5EF4-FFF2-40B4-BE49-F238E27FC236}">
                <a16:creationId xmlns:a16="http://schemas.microsoft.com/office/drawing/2014/main" id="{2056232C-331B-4F8B-8385-13F289DF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gate-text-3">
            <a:extLst xmlns:a="http://schemas.openxmlformats.org/drawingml/2006/main">
              <a:ext uri="{FF2B5EF4-FFF2-40B4-BE49-F238E27FC236}">
                <a16:creationId xmlns:a16="http://schemas.microsoft.com/office/drawing/2014/main" id="{2CFFD074-D54A-4CBB-8B9E-DAEB112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Separate measurement, input, and model-form uncertainty</a:t>
            </a:r>
          </a:p>
        </p:txBody>
      </p:sp>
      <p:sp>
        <p:nvSpPr>
          <p:cNvPr id="18" name="gate-bar-4">
            <a:extLst xmlns:a="http://schemas.openxmlformats.org/drawingml/2006/main">
              <a:ext uri="{FF2B5EF4-FFF2-40B4-BE49-F238E27FC236}">
                <a16:creationId xmlns:a16="http://schemas.microsoft.com/office/drawing/2014/main" id="{7228B3FB-996B-42C2-8281-D252EC48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gate-num-4">
            <a:extLst xmlns:a="http://schemas.openxmlformats.org/drawingml/2006/main">
              <a:ext uri="{FF2B5EF4-FFF2-40B4-BE49-F238E27FC236}">
                <a16:creationId xmlns:a16="http://schemas.microsoft.com/office/drawing/2014/main" id="{66BB1505-18BD-4CD3-8861-1581945F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gate-text-4">
            <a:extLst xmlns:a="http://schemas.openxmlformats.org/drawingml/2006/main">
              <a:ext uri="{FF2B5EF4-FFF2-40B4-BE49-F238E27FC236}">
                <a16:creationId xmlns:a16="http://schemas.microsoft.com/office/drawing/2014/main" id="{E38881A6-D887-469A-975A-4DA22A8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290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Load a versioned calibration artifact without silent refit</a:t>
            </a:r>
          </a:p>
        </p:txBody>
      </p:sp>
      <p:sp>
        <p:nvSpPr>
          <p:cNvPr id="21" name="gate-bar-5">
            <a:extLst xmlns:a="http://schemas.openxmlformats.org/drawingml/2006/main">
              <a:ext uri="{FF2B5EF4-FFF2-40B4-BE49-F238E27FC236}">
                <a16:creationId xmlns:a16="http://schemas.microsoft.com/office/drawing/2014/main" id="{EBDE48BF-DFA7-4A6C-BCE3-E7DE6F9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gate-num-5">
            <a:extLst xmlns:a="http://schemas.openxmlformats.org/drawingml/2006/main">
              <a:ext uri="{FF2B5EF4-FFF2-40B4-BE49-F238E27FC236}">
                <a16:creationId xmlns:a16="http://schemas.microsoft.com/office/drawing/2014/main" id="{114094AD-A97A-4CDA-8A9D-FF0AA336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053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gate-text-5">
            <a:extLst xmlns:a="http://schemas.openxmlformats.org/drawingml/2006/main">
              <a:ext uri="{FF2B5EF4-FFF2-40B4-BE49-F238E27FC236}">
                <a16:creationId xmlns:a16="http://schemas.microsoft.com/office/drawing/2014/main" id="{3CECAC42-118E-4177-8FCF-4F495B57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862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Tie applicability labels to actual evidence coverage</a:t>
            </a:r>
          </a:p>
        </p:txBody>
      </p:sp>
      <p:sp>
        <p:nvSpPr>
          <p:cNvPr id="24" name="gate-bar-6">
            <a:extLst xmlns:a="http://schemas.openxmlformats.org/drawingml/2006/main">
              <a:ext uri="{FF2B5EF4-FFF2-40B4-BE49-F238E27FC236}">
                <a16:creationId xmlns:a16="http://schemas.microsoft.com/office/drawing/2014/main" id="{F65FC03C-1979-45D7-9307-FEEB32A3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5" name="gate-num-6">
            <a:extLst xmlns:a="http://schemas.openxmlformats.org/drawingml/2006/main">
              <a:ext uri="{FF2B5EF4-FFF2-40B4-BE49-F238E27FC236}">
                <a16:creationId xmlns:a16="http://schemas.microsoft.com/office/drawing/2014/main" id="{1343DDBD-B3A5-4F4D-9155-696B55F8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25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6" name="gate-text-6">
            <a:extLst xmlns:a="http://schemas.openxmlformats.org/drawingml/2006/main">
              <a:ext uri="{FF2B5EF4-FFF2-40B4-BE49-F238E27FC236}">
                <a16:creationId xmlns:a16="http://schemas.microsoft.com/office/drawing/2014/main" id="{F07EA733-10AA-4707-A158-7A1A116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Keep excluded physics and unquantified uncertainty visible</a:t>
            </a:r>
          </a:p>
        </p:txBody>
      </p:sp>
      <p:sp>
        <p:nvSpPr>
          <p:cNvPr id="27" name="status-box">
            <a:extLst xmlns:a="http://schemas.openxmlformats.org/drawingml/2006/main">
              <a:ext uri="{FF2B5EF4-FFF2-40B4-BE49-F238E27FC236}">
                <a16:creationId xmlns:a16="http://schemas.microsoft.com/office/drawing/2014/main" id="{FD69CF25-1F7C-4D09-82AF-288B8031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2762250" cy="327660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28" name="status-title">
            <a:extLst xmlns:a="http://schemas.openxmlformats.org/drawingml/2006/main">
              <a:ext uri="{FF2B5EF4-FFF2-40B4-BE49-F238E27FC236}">
                <a16:creationId xmlns:a16="http://schemas.microsoft.com/office/drawing/2014/main" id="{DAC37B3F-9DF9-48AB-8122-A6963FA8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Claim upgrade</a:t>
            </a:r>
          </a:p>
        </p:txBody>
      </p:sp>
      <p:sp>
        <p:nvSpPr>
          <p:cNvPr id="29" name="status-flow">
            <a:extLst xmlns:a="http://schemas.openxmlformats.org/drawingml/2006/main">
              <a:ext uri="{FF2B5EF4-FFF2-40B4-BE49-F238E27FC236}">
                <a16:creationId xmlns:a16="http://schemas.microsoft.com/office/drawing/2014/main" id="{25F2C34E-C762-46A8-B18B-CC03D42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076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45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NOT DEMONSTRATED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component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held-out transfer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SUPPORTED FOR A BOUND</a:t>
            </a:r>
          </a:p>
        </p:txBody>
      </p:sp>
      <p:sp>
        <p:nvSpPr>
          <p:cNvPr id="30" name="auto-text-18">
            <a:extLst xmlns:a="http://schemas.openxmlformats.org/drawingml/2006/main">
              <a:ext uri="{FF2B5EF4-FFF2-40B4-BE49-F238E27FC236}">
                <a16:creationId xmlns:a16="http://schemas.microsoft.com/office/drawing/2014/main" id="{35B78297-81BC-4CDC-A1DA-BE68DF6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No invented intervals. No universal claim outside the evidence range.</a:t>
            </a:r>
          </a:p>
        </p:txBody>
      </p:sp>
    </p:spTree>
    <p:extLst>
      <p:ext uri="{BB962C8B-B14F-4D97-AF65-F5344CB8AC3E}">
        <p14:creationId xmlns:p14="http://schemas.microsoft.com/office/powerpoint/2010/main" val="13043282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15">
            <a:extLst xmlns:a="http://schemas.openxmlformats.org/drawingml/2006/main">
              <a:ext uri="{FF2B5EF4-FFF2-40B4-BE49-F238E27FC236}">
                <a16:creationId xmlns:a16="http://schemas.microsoft.com/office/drawing/2014/main" id="{A7AFB8D7-63D8-4CCA-92C8-DCFF796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14  /  CONCLUSION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737D2868-6259-4114-8A97-EE1C8710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Current verdict: bounded validity, not predictive proof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B8DAFB82-B3CE-4E55-A55C-4CF2D9E2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5A2B93AF-9FA8-43EB-B0DF-7DDF30D9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PNMF  |  physical-model validity  |  15</a:t>
            </a:r>
          </a:p>
        </p:txBody>
      </p:sp>
      <p:sp>
        <p:nvSpPr>
          <p:cNvPr id="5" name="auto-text-19">
            <a:extLst xmlns:a="http://schemas.openxmlformats.org/drawingml/2006/main">
              <a:ext uri="{FF2B5EF4-FFF2-40B4-BE49-F238E27FC236}">
                <a16:creationId xmlns:a16="http://schemas.microsoft.com/office/drawing/2014/main" id="{850D1770-1819-46FE-AEF4-18FB097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98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PNMF's physical route is ready for disciplined conceptual screening.</a:t>
            </a:r>
          </a:p>
        </p:txBody>
      </p:sp>
      <p:sp>
        <p:nvSpPr>
          <p:cNvPr id="6" name="auto-text-20">
            <a:extLst xmlns:a="http://schemas.openxmlformats.org/drawingml/2006/main">
              <a:ext uri="{FF2B5EF4-FFF2-40B4-BE49-F238E27FC236}">
                <a16:creationId xmlns:a16="http://schemas.microsoft.com/office/drawing/2014/main" id="{81D3ADDD-91D7-48F9-A78F-2CAD0AD5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676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Its strongest claims today are physical coherence, software auditability, and explicit scope. Its weakest claims are component accuracy, cross-aircraft transfer, and quantitative uncertainty.</a:t>
            </a:r>
          </a:p>
        </p:txBody>
      </p:sp>
      <p:sp>
        <p:nvSpPr>
          <p:cNvPr id="7" name="now-box">
            <a:extLst xmlns:a="http://schemas.openxmlformats.org/drawingml/2006/main">
              <a:ext uri="{FF2B5EF4-FFF2-40B4-BE49-F238E27FC236}">
                <a16:creationId xmlns:a16="http://schemas.microsoft.com/office/drawing/2014/main" id="{13F7B662-A03B-4189-8FF2-5A3984F4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8F1FF"/>
          </a:solidFill>
          <a:ln xmlns:a="http://schemas.openxmlformats.org/drawingml/2006/main" w="9525">
            <a:solidFill>
              <a:srgbClr val="D8F1FF"/>
            </a:solidFill>
            <a:prstDash val="solid"/>
          </a:ln>
        </p:spPr>
      </p:sp>
      <p:sp>
        <p:nvSpPr>
          <p:cNvPr id="8" name="now-title">
            <a:extLst xmlns:a="http://schemas.openxmlformats.org/drawingml/2006/main">
              <a:ext uri="{FF2B5EF4-FFF2-40B4-BE49-F238E27FC236}">
                <a16:creationId xmlns:a16="http://schemas.microsoft.com/office/drawing/2014/main" id="{F3220C25-5738-4B6E-8F34-6F4342B5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SUPPORTED NOW</a:t>
            </a:r>
          </a:p>
        </p:txBody>
      </p:sp>
      <p:sp>
        <p:nvSpPr>
          <p:cNvPr id="9" name="now-text">
            <a:extLst xmlns:a="http://schemas.openxmlformats.org/drawingml/2006/main">
              <a:ext uri="{FF2B5EF4-FFF2-40B4-BE49-F238E27FC236}">
                <a16:creationId xmlns:a16="http://schemas.microsoft.com/office/drawing/2014/main" id="{95807AD2-BA86-45CF-8277-2A168DBD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32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coherence  |  provenance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checks  |  bounded metrics</a:t>
            </a:r>
          </a:p>
        </p:txBody>
      </p:sp>
      <p:sp>
        <p:nvSpPr>
          <p:cNvPr id="10" name="next-box">
            <a:extLst xmlns:a="http://schemas.openxmlformats.org/drawingml/2006/main">
              <a:ext uri="{FF2B5EF4-FFF2-40B4-BE49-F238E27FC236}">
                <a16:creationId xmlns:a16="http://schemas.microsoft.com/office/drawing/2014/main" id="{BC7BCF5C-5856-47B2-A9C0-BCAE0BCA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34290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next-title">
            <a:extLst xmlns:a="http://schemas.openxmlformats.org/drawingml/2006/main">
              <a:ext uri="{FF2B5EF4-FFF2-40B4-BE49-F238E27FC236}">
                <a16:creationId xmlns:a16="http://schemas.microsoft.com/office/drawing/2014/main" id="{85D00B38-EEAF-429F-BBE2-8B304BD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81450"/>
            <a:ext cx="281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EARNED NEXT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EEC5B05D-A8EC-42FF-A2EF-6EB10B95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96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337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component evidence  |  held-out events</a:t>
            </a:r>
          </a:p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transfer bounds  |  calibrated uncertainty</a:t>
            </a:r>
          </a:p>
        </p:txBody>
      </p:sp>
      <p:sp>
        <p:nvSpPr>
          <p:cNvPr id="13" name="auto-text-21">
            <a:extLst xmlns:a="http://schemas.openxmlformats.org/drawingml/2006/main">
              <a:ext uri="{FF2B5EF4-FFF2-40B4-BE49-F238E27FC236}">
                <a16:creationId xmlns:a16="http://schemas.microsoft.com/office/drawing/2014/main" id="{03D7DF2A-DEE2-42BF-A6FC-DA512399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531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Future physics work starts after the evidence gate, not before it.</a:t>
            </a:r>
          </a:p>
        </p:txBody>
      </p:sp>
    </p:spTree>
    <p:extLst>
      <p:ext uri="{BB962C8B-B14F-4D97-AF65-F5344CB8AC3E}">
        <p14:creationId xmlns:p14="http://schemas.microsoft.com/office/powerpoint/2010/main" val="1278017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2026-08-03T21:02:56.6830000Z</dcterms:created>
  <dcterms:modified xsi:type="dcterms:W3CDTF">2026-08-03T21:02:56.6830000Z</dcterms:modified>
</coreProperties>
</file>